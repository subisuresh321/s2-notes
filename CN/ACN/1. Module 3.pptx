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4" r:id="rId6"/>
    <p:sldMasterId id="2147483660" r:id="rId7"/>
    <p:sldMasterId id="2147483666"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36" roundtripDataSignature="AMtx7mjB9ZcEDB14ZSW4UbcDF5KLpr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2E355C-DBFC-4D74-83BD-ED6A477D55ED}">
  <a:tblStyle styleId="{0E2E355C-DBFC-4D74-83BD-ED6A477D55ED}"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07" Type="http://schemas.openxmlformats.org/officeDocument/2006/relationships/slide" Target="slides/slide98.xml"/><Relationship Id="rId106" Type="http://schemas.openxmlformats.org/officeDocument/2006/relationships/slide" Target="slides/slide97.xml"/><Relationship Id="rId105" Type="http://schemas.openxmlformats.org/officeDocument/2006/relationships/slide" Target="slides/slide96.xml"/><Relationship Id="rId104" Type="http://schemas.openxmlformats.org/officeDocument/2006/relationships/slide" Target="slides/slide95.xml"/><Relationship Id="rId109" Type="http://schemas.openxmlformats.org/officeDocument/2006/relationships/slide" Target="slides/slide100.xml"/><Relationship Id="rId108" Type="http://schemas.openxmlformats.org/officeDocument/2006/relationships/slide" Target="slides/slide99.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3" Type="http://schemas.openxmlformats.org/officeDocument/2006/relationships/slide" Target="slides/slide94.xml"/><Relationship Id="rId102" Type="http://schemas.openxmlformats.org/officeDocument/2006/relationships/slide" Target="slides/slide93.xml"/><Relationship Id="rId101" Type="http://schemas.openxmlformats.org/officeDocument/2006/relationships/slide" Target="slides/slide92.xml"/><Relationship Id="rId100" Type="http://schemas.openxmlformats.org/officeDocument/2006/relationships/slide" Target="slides/slide91.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29" Type="http://schemas.openxmlformats.org/officeDocument/2006/relationships/slide" Target="slides/slide120.xml"/><Relationship Id="rId128" Type="http://schemas.openxmlformats.org/officeDocument/2006/relationships/slide" Target="slides/slide119.xml"/><Relationship Id="rId127" Type="http://schemas.openxmlformats.org/officeDocument/2006/relationships/slide" Target="slides/slide118.xml"/><Relationship Id="rId126" Type="http://schemas.openxmlformats.org/officeDocument/2006/relationships/slide" Target="slides/slide117.xml"/><Relationship Id="rId26" Type="http://schemas.openxmlformats.org/officeDocument/2006/relationships/slide" Target="slides/slide17.xml"/><Relationship Id="rId121" Type="http://schemas.openxmlformats.org/officeDocument/2006/relationships/slide" Target="slides/slide112.xml"/><Relationship Id="rId25" Type="http://schemas.openxmlformats.org/officeDocument/2006/relationships/slide" Target="slides/slide16.xml"/><Relationship Id="rId120" Type="http://schemas.openxmlformats.org/officeDocument/2006/relationships/slide" Target="slides/slide111.xml"/><Relationship Id="rId28" Type="http://schemas.openxmlformats.org/officeDocument/2006/relationships/slide" Target="slides/slide19.xml"/><Relationship Id="rId27" Type="http://schemas.openxmlformats.org/officeDocument/2006/relationships/slide" Target="slides/slide18.xml"/><Relationship Id="rId125" Type="http://schemas.openxmlformats.org/officeDocument/2006/relationships/slide" Target="slides/slide116.xml"/><Relationship Id="rId29" Type="http://schemas.openxmlformats.org/officeDocument/2006/relationships/slide" Target="slides/slide20.xml"/><Relationship Id="rId124" Type="http://schemas.openxmlformats.org/officeDocument/2006/relationships/slide" Target="slides/slide115.xml"/><Relationship Id="rId123" Type="http://schemas.openxmlformats.org/officeDocument/2006/relationships/slide" Target="slides/slide114.xml"/><Relationship Id="rId122" Type="http://schemas.openxmlformats.org/officeDocument/2006/relationships/slide" Target="slides/slide113.xml"/><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slide" Target="slides/slide88.xml"/><Relationship Id="rId96" Type="http://schemas.openxmlformats.org/officeDocument/2006/relationships/slide" Target="slides/slide87.xml"/><Relationship Id="rId11" Type="http://schemas.openxmlformats.org/officeDocument/2006/relationships/slide" Target="slides/slide2.xml"/><Relationship Id="rId99" Type="http://schemas.openxmlformats.org/officeDocument/2006/relationships/slide" Target="slides/slide90.xml"/><Relationship Id="rId10" Type="http://schemas.openxmlformats.org/officeDocument/2006/relationships/slide" Target="slides/slide1.xml"/><Relationship Id="rId98" Type="http://schemas.openxmlformats.org/officeDocument/2006/relationships/slide" Target="slides/slide89.xml"/><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18" Type="http://schemas.openxmlformats.org/officeDocument/2006/relationships/slide" Target="slides/slide109.xml"/><Relationship Id="rId117" Type="http://schemas.openxmlformats.org/officeDocument/2006/relationships/slide" Target="slides/slide108.xml"/><Relationship Id="rId116" Type="http://schemas.openxmlformats.org/officeDocument/2006/relationships/slide" Target="slides/slide107.xml"/><Relationship Id="rId115" Type="http://schemas.openxmlformats.org/officeDocument/2006/relationships/slide" Target="slides/slide106.xml"/><Relationship Id="rId119" Type="http://schemas.openxmlformats.org/officeDocument/2006/relationships/slide" Target="slides/slide110.xml"/><Relationship Id="rId15" Type="http://schemas.openxmlformats.org/officeDocument/2006/relationships/slide" Target="slides/slide6.xml"/><Relationship Id="rId110" Type="http://schemas.openxmlformats.org/officeDocument/2006/relationships/slide" Target="slides/slide101.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14" Type="http://schemas.openxmlformats.org/officeDocument/2006/relationships/slide" Target="slides/slide105.xml"/><Relationship Id="rId18" Type="http://schemas.openxmlformats.org/officeDocument/2006/relationships/slide" Target="slides/slide9.xml"/><Relationship Id="rId113" Type="http://schemas.openxmlformats.org/officeDocument/2006/relationships/slide" Target="slides/slide104.xml"/><Relationship Id="rId112" Type="http://schemas.openxmlformats.org/officeDocument/2006/relationships/slide" Target="slides/slide103.xml"/><Relationship Id="rId111" Type="http://schemas.openxmlformats.org/officeDocument/2006/relationships/slide" Target="slides/slide102.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132" Type="http://schemas.openxmlformats.org/officeDocument/2006/relationships/slide" Target="slides/slide123.xml"/><Relationship Id="rId131" Type="http://schemas.openxmlformats.org/officeDocument/2006/relationships/slide" Target="slides/slide122.xml"/><Relationship Id="rId130" Type="http://schemas.openxmlformats.org/officeDocument/2006/relationships/slide" Target="slides/slide121.xml"/><Relationship Id="rId136" Type="http://customschemas.google.com/relationships/presentationmetadata" Target="metadata"/><Relationship Id="rId135" Type="http://schemas.openxmlformats.org/officeDocument/2006/relationships/slide" Target="slides/slide126.xml"/><Relationship Id="rId134" Type="http://schemas.openxmlformats.org/officeDocument/2006/relationships/slide" Target="slides/slide125.xml"/><Relationship Id="rId133" Type="http://schemas.openxmlformats.org/officeDocument/2006/relationships/slide" Target="slides/slide124.xml"/><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1778bc9ab_0_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1778bc9ab_0_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4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4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6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6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6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6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6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6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6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6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6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6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7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7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7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7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7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7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7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7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7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8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8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8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8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8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8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8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8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8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8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8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8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8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8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8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9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9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9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9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9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9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9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9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9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9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9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9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9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9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9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9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9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10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0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10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0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10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0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0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0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0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0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0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0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10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0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10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0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0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0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0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0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1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1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1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1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1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1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1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1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1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1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1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1" name="Shape 11"/>
        <p:cNvGrpSpPr/>
        <p:nvPr/>
      </p:nvGrpSpPr>
      <p:grpSpPr>
        <a:xfrm>
          <a:off x="0" y="0"/>
          <a:ext cx="0" cy="0"/>
          <a:chOff x="0" y="0"/>
          <a:chExt cx="0" cy="0"/>
        </a:xfrm>
      </p:grpSpPr>
      <p:sp>
        <p:nvSpPr>
          <p:cNvPr id="12" name="Google Shape;12;p127"/>
          <p:cNvSpPr txBox="1"/>
          <p:nvPr>
            <p:ph type="title"/>
          </p:nvPr>
        </p:nvSpPr>
        <p:spPr>
          <a:xfrm>
            <a:off x="3868673" y="2049335"/>
            <a:ext cx="4454652" cy="19215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28"/>
          <p:cNvSpPr txBox="1"/>
          <p:nvPr>
            <p:ph type="title"/>
          </p:nvPr>
        </p:nvSpPr>
        <p:spPr>
          <a:xfrm>
            <a:off x="3868673" y="2049335"/>
            <a:ext cx="4454652" cy="19215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28"/>
          <p:cNvSpPr txBox="1"/>
          <p:nvPr>
            <p:ph idx="1" type="body"/>
          </p:nvPr>
        </p:nvSpPr>
        <p:spPr>
          <a:xfrm>
            <a:off x="1980310" y="1531014"/>
            <a:ext cx="8231378" cy="380047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8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 name="Google Shape;19;p1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 name="Shape 22"/>
        <p:cNvGrpSpPr/>
        <p:nvPr/>
      </p:nvGrpSpPr>
      <p:grpSpPr>
        <a:xfrm>
          <a:off x="0" y="0"/>
          <a:ext cx="0" cy="0"/>
          <a:chOff x="0" y="0"/>
          <a:chExt cx="0" cy="0"/>
        </a:xfrm>
      </p:grpSpPr>
      <p:sp>
        <p:nvSpPr>
          <p:cNvPr id="23" name="Google Shape;23;p12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130"/>
          <p:cNvSpPr txBox="1"/>
          <p:nvPr>
            <p:ph type="title"/>
          </p:nvPr>
        </p:nvSpPr>
        <p:spPr>
          <a:xfrm>
            <a:off x="3868673" y="2049335"/>
            <a:ext cx="4454652" cy="19215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30"/>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130"/>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1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 name="Shape 33"/>
        <p:cNvGrpSpPr/>
        <p:nvPr/>
      </p:nvGrpSpPr>
      <p:grpSpPr>
        <a:xfrm>
          <a:off x="0" y="0"/>
          <a:ext cx="0" cy="0"/>
          <a:chOff x="0" y="0"/>
          <a:chExt cx="0" cy="0"/>
        </a:xfrm>
      </p:grpSpPr>
      <p:sp>
        <p:nvSpPr>
          <p:cNvPr id="34" name="Google Shape;34;p14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132"/>
          <p:cNvSpPr txBox="1"/>
          <p:nvPr>
            <p:ph type="title"/>
          </p:nvPr>
        </p:nvSpPr>
        <p:spPr>
          <a:xfrm>
            <a:off x="916939" y="574675"/>
            <a:ext cx="5577840"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2"/>
          <p:cNvSpPr txBox="1"/>
          <p:nvPr>
            <p:ph idx="1" type="body"/>
          </p:nvPr>
        </p:nvSpPr>
        <p:spPr>
          <a:xfrm>
            <a:off x="904239" y="1279347"/>
            <a:ext cx="10383520" cy="450215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1" name="Shape 51"/>
        <p:cNvGrpSpPr/>
        <p:nvPr/>
      </p:nvGrpSpPr>
      <p:grpSpPr>
        <a:xfrm>
          <a:off x="0" y="0"/>
          <a:ext cx="0" cy="0"/>
          <a:chOff x="0" y="0"/>
          <a:chExt cx="0" cy="0"/>
        </a:xfrm>
      </p:grpSpPr>
      <p:sp>
        <p:nvSpPr>
          <p:cNvPr id="52" name="Google Shape;52;p133"/>
          <p:cNvSpPr txBox="1"/>
          <p:nvPr>
            <p:ph type="title"/>
          </p:nvPr>
        </p:nvSpPr>
        <p:spPr>
          <a:xfrm>
            <a:off x="916939" y="574675"/>
            <a:ext cx="5577840"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6" name="Shape 56"/>
        <p:cNvGrpSpPr/>
        <p:nvPr/>
      </p:nvGrpSpPr>
      <p:grpSpPr>
        <a:xfrm>
          <a:off x="0" y="0"/>
          <a:ext cx="0" cy="0"/>
          <a:chOff x="0" y="0"/>
          <a:chExt cx="0" cy="0"/>
        </a:xfrm>
      </p:grpSpPr>
      <p:sp>
        <p:nvSpPr>
          <p:cNvPr id="57" name="Google Shape;57;p1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 name="Shape 60"/>
        <p:cNvGrpSpPr/>
        <p:nvPr/>
      </p:nvGrpSpPr>
      <p:grpSpPr>
        <a:xfrm>
          <a:off x="0" y="0"/>
          <a:ext cx="0" cy="0"/>
          <a:chOff x="0" y="0"/>
          <a:chExt cx="0" cy="0"/>
        </a:xfrm>
      </p:grpSpPr>
      <p:sp>
        <p:nvSpPr>
          <p:cNvPr id="61" name="Google Shape;61;p143"/>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4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4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4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6" name="Shape 66"/>
        <p:cNvGrpSpPr/>
        <p:nvPr/>
      </p:nvGrpSpPr>
      <p:grpSpPr>
        <a:xfrm>
          <a:off x="0" y="0"/>
          <a:ext cx="0" cy="0"/>
          <a:chOff x="0" y="0"/>
          <a:chExt cx="0" cy="0"/>
        </a:xfrm>
      </p:grpSpPr>
      <p:sp>
        <p:nvSpPr>
          <p:cNvPr id="67" name="Google Shape;67;p144"/>
          <p:cNvSpPr txBox="1"/>
          <p:nvPr>
            <p:ph type="title"/>
          </p:nvPr>
        </p:nvSpPr>
        <p:spPr>
          <a:xfrm>
            <a:off x="916939" y="574675"/>
            <a:ext cx="5577840"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4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9" name="Google Shape;69;p14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0" name="Google Shape;70;p1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9" name="Shape 79"/>
        <p:cNvGrpSpPr/>
        <p:nvPr/>
      </p:nvGrpSpPr>
      <p:grpSpPr>
        <a:xfrm>
          <a:off x="0" y="0"/>
          <a:ext cx="0" cy="0"/>
          <a:chOff x="0" y="0"/>
          <a:chExt cx="0" cy="0"/>
        </a:xfrm>
      </p:grpSpPr>
      <p:sp>
        <p:nvSpPr>
          <p:cNvPr id="80" name="Google Shape;80;p136"/>
          <p:cNvSpPr txBox="1"/>
          <p:nvPr>
            <p:ph type="title"/>
          </p:nvPr>
        </p:nvSpPr>
        <p:spPr>
          <a:xfrm>
            <a:off x="3815334" y="461899"/>
            <a:ext cx="4561331"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6"/>
          <p:cNvSpPr txBox="1"/>
          <p:nvPr>
            <p:ph idx="1" type="body"/>
          </p:nvPr>
        </p:nvSpPr>
        <p:spPr>
          <a:xfrm>
            <a:off x="2060194" y="1156461"/>
            <a:ext cx="8071611" cy="200088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4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13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5" name="Shape 85"/>
        <p:cNvGrpSpPr/>
        <p:nvPr/>
      </p:nvGrpSpPr>
      <p:grpSpPr>
        <a:xfrm>
          <a:off x="0" y="0"/>
          <a:ext cx="0" cy="0"/>
          <a:chOff x="0" y="0"/>
          <a:chExt cx="0" cy="0"/>
        </a:xfrm>
      </p:grpSpPr>
      <p:sp>
        <p:nvSpPr>
          <p:cNvPr id="86" name="Google Shape;86;p137"/>
          <p:cNvSpPr txBox="1"/>
          <p:nvPr>
            <p:ph type="title"/>
          </p:nvPr>
        </p:nvSpPr>
        <p:spPr>
          <a:xfrm>
            <a:off x="3815334" y="461899"/>
            <a:ext cx="4561331"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3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0" name="Shape 90"/>
        <p:cNvGrpSpPr/>
        <p:nvPr/>
      </p:nvGrpSpPr>
      <p:grpSpPr>
        <a:xfrm>
          <a:off x="0" y="0"/>
          <a:ext cx="0" cy="0"/>
          <a:chOff x="0" y="0"/>
          <a:chExt cx="0" cy="0"/>
        </a:xfrm>
      </p:grpSpPr>
      <p:sp>
        <p:nvSpPr>
          <p:cNvPr id="91" name="Google Shape;91;p14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6" name="Shape 96"/>
        <p:cNvGrpSpPr/>
        <p:nvPr/>
      </p:nvGrpSpPr>
      <p:grpSpPr>
        <a:xfrm>
          <a:off x="0" y="0"/>
          <a:ext cx="0" cy="0"/>
          <a:chOff x="0" y="0"/>
          <a:chExt cx="0" cy="0"/>
        </a:xfrm>
      </p:grpSpPr>
      <p:sp>
        <p:nvSpPr>
          <p:cNvPr id="97" name="Google Shape;97;p146"/>
          <p:cNvSpPr txBox="1"/>
          <p:nvPr>
            <p:ph type="title"/>
          </p:nvPr>
        </p:nvSpPr>
        <p:spPr>
          <a:xfrm>
            <a:off x="3815334" y="461899"/>
            <a:ext cx="4561331" cy="6965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4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14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1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3" name="Shape 103"/>
        <p:cNvGrpSpPr/>
        <p:nvPr/>
      </p:nvGrpSpPr>
      <p:grpSpPr>
        <a:xfrm>
          <a:off x="0" y="0"/>
          <a:ext cx="0" cy="0"/>
          <a:chOff x="0" y="0"/>
          <a:chExt cx="0" cy="0"/>
        </a:xfrm>
      </p:grpSpPr>
      <p:sp>
        <p:nvSpPr>
          <p:cNvPr id="104" name="Google Shape;104;p1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p139"/>
          <p:cNvSpPr txBox="1"/>
          <p:nvPr>
            <p:ph type="title"/>
          </p:nvPr>
        </p:nvSpPr>
        <p:spPr>
          <a:xfrm>
            <a:off x="916939" y="308228"/>
            <a:ext cx="10358120" cy="13004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39"/>
          <p:cNvSpPr txBox="1"/>
          <p:nvPr>
            <p:ph idx="1" type="body"/>
          </p:nvPr>
        </p:nvSpPr>
        <p:spPr>
          <a:xfrm>
            <a:off x="916939" y="1602105"/>
            <a:ext cx="10139680" cy="453707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6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13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3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3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9" name="Shape 119"/>
        <p:cNvGrpSpPr/>
        <p:nvPr/>
      </p:nvGrpSpPr>
      <p:grpSpPr>
        <a:xfrm>
          <a:off x="0" y="0"/>
          <a:ext cx="0" cy="0"/>
          <a:chOff x="0" y="0"/>
          <a:chExt cx="0" cy="0"/>
        </a:xfrm>
      </p:grpSpPr>
      <p:sp>
        <p:nvSpPr>
          <p:cNvPr id="120" name="Google Shape;120;p14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4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3" name="Shape 123"/>
        <p:cNvGrpSpPr/>
        <p:nvPr/>
      </p:nvGrpSpPr>
      <p:grpSpPr>
        <a:xfrm>
          <a:off x="0" y="0"/>
          <a:ext cx="0" cy="0"/>
          <a:chOff x="0" y="0"/>
          <a:chExt cx="0" cy="0"/>
        </a:xfrm>
      </p:grpSpPr>
      <p:sp>
        <p:nvSpPr>
          <p:cNvPr id="124" name="Google Shape;124;p141"/>
          <p:cNvSpPr txBox="1"/>
          <p:nvPr>
            <p:ph type="title"/>
          </p:nvPr>
        </p:nvSpPr>
        <p:spPr>
          <a:xfrm>
            <a:off x="916939" y="308228"/>
            <a:ext cx="10358120" cy="13004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4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4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4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8" name="Shape 128"/>
        <p:cNvGrpSpPr/>
        <p:nvPr/>
      </p:nvGrpSpPr>
      <p:grpSpPr>
        <a:xfrm>
          <a:off x="0" y="0"/>
          <a:ext cx="0" cy="0"/>
          <a:chOff x="0" y="0"/>
          <a:chExt cx="0" cy="0"/>
        </a:xfrm>
      </p:grpSpPr>
      <p:sp>
        <p:nvSpPr>
          <p:cNvPr id="129" name="Google Shape;129;p148"/>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48"/>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34" name="Shape 134"/>
        <p:cNvGrpSpPr/>
        <p:nvPr/>
      </p:nvGrpSpPr>
      <p:grpSpPr>
        <a:xfrm>
          <a:off x="0" y="0"/>
          <a:ext cx="0" cy="0"/>
          <a:chOff x="0" y="0"/>
          <a:chExt cx="0" cy="0"/>
        </a:xfrm>
      </p:grpSpPr>
      <p:sp>
        <p:nvSpPr>
          <p:cNvPr id="135" name="Google Shape;135;p149"/>
          <p:cNvSpPr txBox="1"/>
          <p:nvPr>
            <p:ph type="title"/>
          </p:nvPr>
        </p:nvSpPr>
        <p:spPr>
          <a:xfrm>
            <a:off x="916939" y="308228"/>
            <a:ext cx="10358120" cy="13004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49"/>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7" name="Google Shape;137;p149"/>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8" name="Google Shape;138;p1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6"/>
          <p:cNvSpPr txBox="1"/>
          <p:nvPr>
            <p:ph type="title"/>
          </p:nvPr>
        </p:nvSpPr>
        <p:spPr>
          <a:xfrm>
            <a:off x="3868673" y="2049335"/>
            <a:ext cx="4454652" cy="192151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0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6"/>
          <p:cNvSpPr txBox="1"/>
          <p:nvPr>
            <p:ph idx="1" type="body"/>
          </p:nvPr>
        </p:nvSpPr>
        <p:spPr>
          <a:xfrm>
            <a:off x="1980310" y="1531014"/>
            <a:ext cx="8231378" cy="380047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8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2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131"/>
          <p:cNvSpPr txBox="1"/>
          <p:nvPr>
            <p:ph type="title"/>
          </p:nvPr>
        </p:nvSpPr>
        <p:spPr>
          <a:xfrm>
            <a:off x="916939" y="574675"/>
            <a:ext cx="5577840" cy="69659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131"/>
          <p:cNvSpPr txBox="1"/>
          <p:nvPr>
            <p:ph idx="1" type="body"/>
          </p:nvPr>
        </p:nvSpPr>
        <p:spPr>
          <a:xfrm>
            <a:off x="904239" y="1279347"/>
            <a:ext cx="10383520" cy="450215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42" name="Google Shape;42;p1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1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1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35"/>
          <p:cNvSpPr txBox="1"/>
          <p:nvPr>
            <p:ph type="title"/>
          </p:nvPr>
        </p:nvSpPr>
        <p:spPr>
          <a:xfrm>
            <a:off x="3815334" y="461899"/>
            <a:ext cx="4561331" cy="69659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135"/>
          <p:cNvSpPr txBox="1"/>
          <p:nvPr>
            <p:ph idx="1" type="body"/>
          </p:nvPr>
        </p:nvSpPr>
        <p:spPr>
          <a:xfrm>
            <a:off x="2060194" y="1156461"/>
            <a:ext cx="8071611" cy="200088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4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76" name="Google Shape;76;p1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38"/>
          <p:cNvSpPr txBox="1"/>
          <p:nvPr>
            <p:ph type="title"/>
          </p:nvPr>
        </p:nvSpPr>
        <p:spPr>
          <a:xfrm>
            <a:off x="916939" y="308228"/>
            <a:ext cx="10358120" cy="130048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138"/>
          <p:cNvSpPr txBox="1"/>
          <p:nvPr>
            <p:ph idx="1" type="body"/>
          </p:nvPr>
        </p:nvSpPr>
        <p:spPr>
          <a:xfrm>
            <a:off x="916939" y="1602105"/>
            <a:ext cx="10139680" cy="453707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6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10" name="Google Shape;110;p13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13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13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800"/>
              <a:buFont typeface="Calibri"/>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2.png"/><Relationship Id="rId13" Type="http://schemas.openxmlformats.org/officeDocument/2006/relationships/image" Target="../media/image30.png"/><Relationship Id="rId12"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image" Target="../media/image16.png"/><Relationship Id="rId5" Type="http://schemas.openxmlformats.org/officeDocument/2006/relationships/image" Target="../media/image36.png"/><Relationship Id="rId6" Type="http://schemas.openxmlformats.org/officeDocument/2006/relationships/image" Target="../media/image3.png"/><Relationship Id="rId7" Type="http://schemas.openxmlformats.org/officeDocument/2006/relationships/image" Target="../media/image11.png"/><Relationship Id="rId8"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50.png"/><Relationship Id="rId21" Type="http://schemas.openxmlformats.org/officeDocument/2006/relationships/image" Target="../media/image58.png"/><Relationship Id="rId24" Type="http://schemas.openxmlformats.org/officeDocument/2006/relationships/image" Target="../media/image43.png"/><Relationship Id="rId23" Type="http://schemas.openxmlformats.org/officeDocument/2006/relationships/image" Target="../media/image52.pn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image" Target="../media/image20.png"/><Relationship Id="rId25" Type="http://schemas.openxmlformats.org/officeDocument/2006/relationships/image" Target="../media/image49.png"/><Relationship Id="rId5" Type="http://schemas.openxmlformats.org/officeDocument/2006/relationships/image" Target="../media/image22.png"/><Relationship Id="rId6" Type="http://schemas.openxmlformats.org/officeDocument/2006/relationships/image" Target="../media/image12.png"/><Relationship Id="rId7" Type="http://schemas.openxmlformats.org/officeDocument/2006/relationships/image" Target="../media/image10.png"/><Relationship Id="rId8" Type="http://schemas.openxmlformats.org/officeDocument/2006/relationships/image" Target="../media/image32.png"/><Relationship Id="rId11" Type="http://schemas.openxmlformats.org/officeDocument/2006/relationships/image" Target="../media/image47.png"/><Relationship Id="rId10" Type="http://schemas.openxmlformats.org/officeDocument/2006/relationships/image" Target="../media/image34.png"/><Relationship Id="rId13" Type="http://schemas.openxmlformats.org/officeDocument/2006/relationships/image" Target="../media/image37.png"/><Relationship Id="rId12" Type="http://schemas.openxmlformats.org/officeDocument/2006/relationships/image" Target="../media/image33.png"/><Relationship Id="rId15" Type="http://schemas.openxmlformats.org/officeDocument/2006/relationships/image" Target="../media/image38.png"/><Relationship Id="rId14" Type="http://schemas.openxmlformats.org/officeDocument/2006/relationships/image" Target="../media/image39.png"/><Relationship Id="rId17" Type="http://schemas.openxmlformats.org/officeDocument/2006/relationships/image" Target="../media/image42.png"/><Relationship Id="rId16" Type="http://schemas.openxmlformats.org/officeDocument/2006/relationships/image" Target="../media/image31.png"/><Relationship Id="rId19" Type="http://schemas.openxmlformats.org/officeDocument/2006/relationships/image" Target="../media/image27.png"/><Relationship Id="rId18" Type="http://schemas.openxmlformats.org/officeDocument/2006/relationships/image" Target="../media/image26.png"/></Relationships>
</file>

<file path=ppt/slides/_rels/slide29.xml.rels><?xml version="1.0" encoding="UTF-8" standalone="yes"?><Relationships xmlns="http://schemas.openxmlformats.org/package/2006/relationships"><Relationship Id="rId20"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53.png"/><Relationship Id="rId9" Type="http://schemas.openxmlformats.org/officeDocument/2006/relationships/image" Target="../media/image41.png"/><Relationship Id="rId5" Type="http://schemas.openxmlformats.org/officeDocument/2006/relationships/image" Target="../media/image55.png"/><Relationship Id="rId6" Type="http://schemas.openxmlformats.org/officeDocument/2006/relationships/image" Target="../media/image46.png"/><Relationship Id="rId7" Type="http://schemas.openxmlformats.org/officeDocument/2006/relationships/image" Target="../media/image54.png"/><Relationship Id="rId8" Type="http://schemas.openxmlformats.org/officeDocument/2006/relationships/image" Target="../media/image20.png"/><Relationship Id="rId11" Type="http://schemas.openxmlformats.org/officeDocument/2006/relationships/image" Target="../media/image64.png"/><Relationship Id="rId10" Type="http://schemas.openxmlformats.org/officeDocument/2006/relationships/image" Target="../media/image30.png"/><Relationship Id="rId13" Type="http://schemas.openxmlformats.org/officeDocument/2006/relationships/image" Target="../media/image60.png"/><Relationship Id="rId12" Type="http://schemas.openxmlformats.org/officeDocument/2006/relationships/image" Target="../media/image56.png"/><Relationship Id="rId15" Type="http://schemas.openxmlformats.org/officeDocument/2006/relationships/image" Target="../media/image1.png"/><Relationship Id="rId14" Type="http://schemas.openxmlformats.org/officeDocument/2006/relationships/image" Target="../media/image59.png"/><Relationship Id="rId17" Type="http://schemas.openxmlformats.org/officeDocument/2006/relationships/image" Target="../media/image51.png"/><Relationship Id="rId16" Type="http://schemas.openxmlformats.org/officeDocument/2006/relationships/image" Target="../media/image61.png"/><Relationship Id="rId19" Type="http://schemas.openxmlformats.org/officeDocument/2006/relationships/image" Target="../media/image69.png"/><Relationship Id="rId18"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8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 Id="rId3" Type="http://schemas.openxmlformats.org/officeDocument/2006/relationships/image" Target="../media/image6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 Id="rId3" Type="http://schemas.openxmlformats.org/officeDocument/2006/relationships/image" Target="../media/image79.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image" Target="../media/image7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 Id="rId3" Type="http://schemas.openxmlformats.org/officeDocument/2006/relationships/image" Target="../media/image79.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8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10.png"/><Relationship Id="rId4" Type="http://schemas.openxmlformats.org/officeDocument/2006/relationships/image" Target="../media/image8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7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77.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79.png"/><Relationship Id="rId4" Type="http://schemas.openxmlformats.org/officeDocument/2006/relationships/image" Target="../media/image82.png"/><Relationship Id="rId9" Type="http://schemas.openxmlformats.org/officeDocument/2006/relationships/image" Target="../media/image99.png"/><Relationship Id="rId5" Type="http://schemas.openxmlformats.org/officeDocument/2006/relationships/image" Target="../media/image73.png"/><Relationship Id="rId6" Type="http://schemas.openxmlformats.org/officeDocument/2006/relationships/image" Target="../media/image88.png"/><Relationship Id="rId7" Type="http://schemas.openxmlformats.org/officeDocument/2006/relationships/image" Target="../media/image91.png"/><Relationship Id="rId8" Type="http://schemas.openxmlformats.org/officeDocument/2006/relationships/image" Target="../media/image103.png"/><Relationship Id="rId11" Type="http://schemas.openxmlformats.org/officeDocument/2006/relationships/image" Target="../media/image84.png"/><Relationship Id="rId10" Type="http://schemas.openxmlformats.org/officeDocument/2006/relationships/image" Target="../media/image76.png"/><Relationship Id="rId12" Type="http://schemas.openxmlformats.org/officeDocument/2006/relationships/image" Target="../media/image9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79.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102.png"/><Relationship Id="rId7" Type="http://schemas.openxmlformats.org/officeDocument/2006/relationships/image" Target="../media/image9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79.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8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image" Target="../media/image79.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95.png"/><Relationship Id="rId7" Type="http://schemas.openxmlformats.org/officeDocument/2006/relationships/image" Target="../media/image112.png"/><Relationship Id="rId8" Type="http://schemas.openxmlformats.org/officeDocument/2006/relationships/image" Target="../media/image9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8.xml"/><Relationship Id="rId3" Type="http://schemas.openxmlformats.org/officeDocument/2006/relationships/image" Target="../media/image10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 Id="rId3" Type="http://schemas.openxmlformats.org/officeDocument/2006/relationships/image" Target="../media/image9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 Id="rId3" Type="http://schemas.openxmlformats.org/officeDocument/2006/relationships/image" Target="../media/image9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2.xml"/><Relationship Id="rId3" Type="http://schemas.openxmlformats.org/officeDocument/2006/relationships/image" Target="../media/image89.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3.xml"/><Relationship Id="rId3" Type="http://schemas.openxmlformats.org/officeDocument/2006/relationships/image" Target="../media/image105.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8.xml"/><Relationship Id="rId3" Type="http://schemas.openxmlformats.org/officeDocument/2006/relationships/image" Target="../media/image96.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4.xml"/><Relationship Id="rId3" Type="http://schemas.openxmlformats.org/officeDocument/2006/relationships/image" Target="../media/image115.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5.xml"/><Relationship Id="rId3" Type="http://schemas.openxmlformats.org/officeDocument/2006/relationships/image" Target="../media/image114.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0.xml"/><Relationship Id="rId3" Type="http://schemas.openxmlformats.org/officeDocument/2006/relationships/image" Target="../media/image113.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9.xml"/><Relationship Id="rId3" Type="http://schemas.openxmlformats.org/officeDocument/2006/relationships/image" Target="../media/image109.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1.xml"/><Relationship Id="rId3" Type="http://schemas.openxmlformats.org/officeDocument/2006/relationships/image" Target="../media/image106.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5.xml"/><Relationship Id="rId3" Type="http://schemas.openxmlformats.org/officeDocument/2006/relationships/image" Target="../media/image100.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6.xml"/><Relationship Id="rId3" Type="http://schemas.openxmlformats.org/officeDocument/2006/relationships/image" Target="../media/image107.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7.xml"/><Relationship Id="rId3" Type="http://schemas.openxmlformats.org/officeDocument/2006/relationships/image" Target="../media/image10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1.xml"/><Relationship Id="rId3" Type="http://schemas.openxmlformats.org/officeDocument/2006/relationships/image" Target="../media/image97.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4.xml"/><Relationship Id="rId3" Type="http://schemas.openxmlformats.org/officeDocument/2006/relationships/image" Target="../media/image108.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4" name="Shape 144"/>
        <p:cNvGrpSpPr/>
        <p:nvPr/>
      </p:nvGrpSpPr>
      <p:grpSpPr>
        <a:xfrm>
          <a:off x="0" y="0"/>
          <a:ext cx="0" cy="0"/>
          <a:chOff x="0" y="0"/>
          <a:chExt cx="0" cy="0"/>
        </a:xfrm>
      </p:grpSpPr>
      <p:sp>
        <p:nvSpPr>
          <p:cNvPr id="145" name="Google Shape;145;p1"/>
          <p:cNvSpPr txBox="1"/>
          <p:nvPr>
            <p:ph type="title"/>
          </p:nvPr>
        </p:nvSpPr>
        <p:spPr>
          <a:xfrm>
            <a:off x="3868673" y="2049335"/>
            <a:ext cx="4454652" cy="1921510"/>
          </a:xfrm>
          <a:prstGeom prst="rect">
            <a:avLst/>
          </a:prstGeom>
          <a:noFill/>
          <a:ln>
            <a:noFill/>
          </a:ln>
        </p:spPr>
        <p:txBody>
          <a:bodyPr anchorCtr="0" anchor="t" bIns="0" lIns="0" spcFirstLastPara="1" rIns="0" wrap="square" tIns="452100">
            <a:spAutoFit/>
          </a:bodyPr>
          <a:lstStyle/>
          <a:p>
            <a:pPr indent="0" lvl="0" marL="0" rtl="0" algn="ctr">
              <a:lnSpc>
                <a:spcPct val="100000"/>
              </a:lnSpc>
              <a:spcBef>
                <a:spcPts val="0"/>
              </a:spcBef>
              <a:spcAft>
                <a:spcPts val="0"/>
              </a:spcAft>
              <a:buNone/>
            </a:pPr>
            <a:r>
              <a:rPr lang="en-US"/>
              <a:t>Network Layer</a:t>
            </a:r>
            <a:endParaRPr/>
          </a:p>
          <a:p>
            <a:pPr indent="0" lvl="0" marL="0" rtl="0" algn="ctr">
              <a:lnSpc>
                <a:spcPct val="100000"/>
              </a:lnSpc>
              <a:spcBef>
                <a:spcPts val="1385"/>
              </a:spcBef>
              <a:spcAft>
                <a:spcPts val="0"/>
              </a:spcAft>
              <a:buNone/>
            </a:pPr>
            <a:r>
              <a:rPr lang="en-US" sz="2400">
                <a:latin typeface="Arial"/>
                <a:ea typeface="Arial"/>
                <a:cs typeface="Arial"/>
                <a:sym typeface="Arial"/>
              </a:rPr>
              <a:t>Module 3</a:t>
            </a:r>
            <a:endParaRPr sz="24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2"/>
          <p:cNvSpPr txBox="1"/>
          <p:nvPr>
            <p:ph type="title"/>
          </p:nvPr>
        </p:nvSpPr>
        <p:spPr>
          <a:xfrm>
            <a:off x="916966" y="609675"/>
            <a:ext cx="8133900" cy="690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Network Layer</a:t>
            </a:r>
            <a:endParaRPr sz="4400"/>
          </a:p>
        </p:txBody>
      </p:sp>
      <p:sp>
        <p:nvSpPr>
          <p:cNvPr id="151" name="Google Shape;151;p2"/>
          <p:cNvSpPr txBox="1"/>
          <p:nvPr/>
        </p:nvSpPr>
        <p:spPr>
          <a:xfrm>
            <a:off x="916939" y="1397279"/>
            <a:ext cx="10154285" cy="4902624"/>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Network layer provides </a:t>
            </a:r>
            <a:r>
              <a:rPr b="0" i="0" lang="en-US" sz="2800" u="none" cap="none" strike="noStrike">
                <a:solidFill>
                  <a:srgbClr val="4471C4"/>
                </a:solidFill>
                <a:latin typeface="Arial"/>
                <a:ea typeface="Arial"/>
                <a:cs typeface="Arial"/>
                <a:sym typeface="Arial"/>
              </a:rPr>
              <a:t>host-to-host communication </a:t>
            </a:r>
            <a:r>
              <a:rPr b="0" i="0" lang="en-US" sz="2800" u="none" cap="none" strike="noStrike">
                <a:solidFill>
                  <a:schemeClr val="dk1"/>
                </a:solidFill>
                <a:latin typeface="Arial"/>
                <a:ea typeface="Arial"/>
                <a:cs typeface="Arial"/>
                <a:sym typeface="Arial"/>
              </a:rPr>
              <a:t>service.</a:t>
            </a:r>
            <a:endParaRPr b="0" i="0" sz="2800" u="none" cap="none" strike="noStrike">
              <a:solidFill>
                <a:schemeClr val="dk1"/>
              </a:solidFill>
              <a:latin typeface="Arial"/>
              <a:ea typeface="Arial"/>
              <a:cs typeface="Arial"/>
              <a:sym typeface="Arial"/>
            </a:endParaRPr>
          </a:p>
          <a:p>
            <a:pPr indent="-228600" lvl="0" marL="241300" marR="497205" rtl="0" algn="l">
              <a:lnSpc>
                <a:spcPct val="107857"/>
              </a:lnSpc>
              <a:spcBef>
                <a:spcPts val="1055"/>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Unlike the transport and application layers, there is a piece of the  network layer </a:t>
            </a:r>
            <a:r>
              <a:rPr b="0" i="0" lang="en-US" sz="2800" u="none" cap="none" strike="noStrike">
                <a:solidFill>
                  <a:srgbClr val="4471C4"/>
                </a:solidFill>
                <a:latin typeface="Arial"/>
                <a:ea typeface="Arial"/>
                <a:cs typeface="Arial"/>
                <a:sym typeface="Arial"/>
              </a:rPr>
              <a:t>in each and every host and router </a:t>
            </a:r>
            <a:r>
              <a:rPr b="0" i="0" lang="en-US" sz="2800" u="none" cap="none" strike="noStrike">
                <a:solidFill>
                  <a:schemeClr val="dk1"/>
                </a:solidFill>
                <a:latin typeface="Arial"/>
                <a:ea typeface="Arial"/>
                <a:cs typeface="Arial"/>
                <a:sym typeface="Arial"/>
              </a:rPr>
              <a:t>in the network.</a:t>
            </a:r>
            <a:endParaRPr b="0" i="0" sz="2800" u="none" cap="none" strike="noStrike">
              <a:solidFill>
                <a:schemeClr val="dk1"/>
              </a:solidFill>
              <a:latin typeface="Arial"/>
              <a:ea typeface="Arial"/>
              <a:cs typeface="Arial"/>
              <a:sym typeface="Arial"/>
            </a:endParaRPr>
          </a:p>
          <a:p>
            <a:pPr indent="-228600" lvl="0" marL="241300" marR="0" rtl="0" algn="l">
              <a:lnSpc>
                <a:spcPct val="113928"/>
              </a:lnSpc>
              <a:spcBef>
                <a:spcPts val="625"/>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Two important functions of the network layer are f</a:t>
            </a:r>
            <a:r>
              <a:rPr b="1" i="0" lang="en-US" sz="2800" u="none" cap="none" strike="noStrike">
                <a:solidFill>
                  <a:schemeClr val="dk1"/>
                </a:solidFill>
                <a:latin typeface="Arial"/>
                <a:ea typeface="Arial"/>
                <a:cs typeface="Arial"/>
                <a:sym typeface="Arial"/>
              </a:rPr>
              <a:t>orwarding </a:t>
            </a:r>
            <a:r>
              <a:rPr b="0" i="0" lang="en-US" sz="2800" u="none" cap="none" strike="noStrike">
                <a:solidFill>
                  <a:schemeClr val="dk1"/>
                </a:solidFill>
                <a:latin typeface="Arial"/>
                <a:ea typeface="Arial"/>
                <a:cs typeface="Arial"/>
                <a:sym typeface="Arial"/>
              </a:rPr>
              <a:t>and </a:t>
            </a:r>
            <a:r>
              <a:rPr b="1" i="0" lang="en-US" sz="2800" u="none" cap="none" strike="noStrike">
                <a:solidFill>
                  <a:schemeClr val="dk1"/>
                </a:solidFill>
                <a:latin typeface="Arial"/>
                <a:ea typeface="Arial"/>
                <a:cs typeface="Arial"/>
                <a:sym typeface="Arial"/>
              </a:rPr>
              <a:t>routing.</a:t>
            </a:r>
            <a:endParaRPr b="0" i="0" sz="2800" u="none" cap="none" strike="noStrike">
              <a:solidFill>
                <a:schemeClr val="dk1"/>
              </a:solidFill>
              <a:latin typeface="Arial"/>
              <a:ea typeface="Arial"/>
              <a:cs typeface="Arial"/>
              <a:sym typeface="Arial"/>
            </a:endParaRPr>
          </a:p>
          <a:p>
            <a:pPr indent="-228600" lvl="0" marL="241300" marR="5080" rtl="0" algn="l">
              <a:lnSpc>
                <a:spcPct val="107857"/>
              </a:lnSpc>
              <a:spcBef>
                <a:spcPts val="1045"/>
              </a:spcBef>
              <a:spcAft>
                <a:spcPts val="0"/>
              </a:spcAft>
              <a:buClr>
                <a:srgbClr val="4471C4"/>
              </a:buClr>
              <a:buSzPts val="2800"/>
              <a:buFont typeface="Arial"/>
              <a:buChar char="•"/>
            </a:pPr>
            <a:r>
              <a:rPr b="0" i="0" lang="en-US" sz="2800" u="none" cap="none" strike="noStrike">
                <a:solidFill>
                  <a:srgbClr val="4471C4"/>
                </a:solidFill>
                <a:latin typeface="Arial"/>
                <a:ea typeface="Arial"/>
                <a:cs typeface="Arial"/>
                <a:sym typeface="Arial"/>
              </a:rPr>
              <a:t>Forwarding </a:t>
            </a:r>
            <a:r>
              <a:rPr b="0" i="0" lang="en-US" sz="2800" u="none" cap="none" strike="noStrike">
                <a:solidFill>
                  <a:schemeClr val="dk1"/>
                </a:solidFill>
                <a:latin typeface="Arial"/>
                <a:ea typeface="Arial"/>
                <a:cs typeface="Arial"/>
                <a:sym typeface="Arial"/>
              </a:rPr>
              <a:t>involves the transfer of a packet from an incoming link to  an outgoing link within a </a:t>
            </a:r>
            <a:r>
              <a:rPr b="0" i="1" lang="en-US" sz="2800" u="none" cap="none" strike="noStrike">
                <a:solidFill>
                  <a:schemeClr val="dk1"/>
                </a:solidFill>
                <a:latin typeface="Arial"/>
                <a:ea typeface="Arial"/>
                <a:cs typeface="Arial"/>
                <a:sym typeface="Arial"/>
              </a:rPr>
              <a:t>single </a:t>
            </a:r>
            <a:r>
              <a:rPr b="0" i="0" lang="en-US" sz="2800" u="none" cap="none" strike="noStrike">
                <a:solidFill>
                  <a:schemeClr val="dk1"/>
                </a:solidFill>
                <a:latin typeface="Arial"/>
                <a:ea typeface="Arial"/>
                <a:cs typeface="Arial"/>
                <a:sym typeface="Arial"/>
              </a:rPr>
              <a:t>router.</a:t>
            </a:r>
            <a:endParaRPr b="0" i="0" sz="2800" u="none" cap="none" strike="noStrike">
              <a:solidFill>
                <a:schemeClr val="dk1"/>
              </a:solidFill>
              <a:latin typeface="Arial"/>
              <a:ea typeface="Arial"/>
              <a:cs typeface="Arial"/>
              <a:sym typeface="Arial"/>
            </a:endParaRPr>
          </a:p>
          <a:p>
            <a:pPr indent="-228600" lvl="0" marL="241300" marR="267970" rtl="0" algn="l">
              <a:lnSpc>
                <a:spcPct val="107857"/>
              </a:lnSpc>
              <a:spcBef>
                <a:spcPts val="1015"/>
              </a:spcBef>
              <a:spcAft>
                <a:spcPts val="0"/>
              </a:spcAft>
              <a:buClr>
                <a:srgbClr val="4471C4"/>
              </a:buClr>
              <a:buSzPts val="2800"/>
              <a:buFont typeface="Arial"/>
              <a:buChar char="•"/>
            </a:pPr>
            <a:r>
              <a:rPr b="0" i="0" lang="en-US" sz="2800" u="none" cap="none" strike="noStrike">
                <a:solidFill>
                  <a:srgbClr val="4471C4"/>
                </a:solidFill>
                <a:latin typeface="Arial"/>
                <a:ea typeface="Arial"/>
                <a:cs typeface="Arial"/>
                <a:sym typeface="Arial"/>
              </a:rPr>
              <a:t>Routing </a:t>
            </a:r>
            <a:r>
              <a:rPr b="0" i="0" lang="en-US" sz="2800" u="none" cap="none" strike="noStrike">
                <a:solidFill>
                  <a:schemeClr val="dk1"/>
                </a:solidFill>
                <a:latin typeface="Arial"/>
                <a:ea typeface="Arial"/>
                <a:cs typeface="Arial"/>
                <a:sym typeface="Arial"/>
              </a:rPr>
              <a:t>involves </a:t>
            </a:r>
            <a:r>
              <a:rPr b="0" i="1" lang="en-US" sz="2800" u="none" cap="none" strike="noStrike">
                <a:solidFill>
                  <a:schemeClr val="dk1"/>
                </a:solidFill>
                <a:latin typeface="Arial"/>
                <a:ea typeface="Arial"/>
                <a:cs typeface="Arial"/>
                <a:sym typeface="Arial"/>
              </a:rPr>
              <a:t>all </a:t>
            </a:r>
            <a:r>
              <a:rPr b="0" i="0" lang="en-US" sz="2800" u="none" cap="none" strike="noStrike">
                <a:solidFill>
                  <a:schemeClr val="dk1"/>
                </a:solidFill>
                <a:latin typeface="Arial"/>
                <a:ea typeface="Arial"/>
                <a:cs typeface="Arial"/>
                <a:sym typeface="Arial"/>
              </a:rPr>
              <a:t>of a network’s routers, whose collective  interactions via routing protocols </a:t>
            </a:r>
            <a:r>
              <a:rPr b="0" i="0" lang="en-US" sz="2800" u="none" cap="none" strike="noStrike">
                <a:solidFill>
                  <a:srgbClr val="4471C4"/>
                </a:solidFill>
                <a:latin typeface="Arial"/>
                <a:ea typeface="Arial"/>
                <a:cs typeface="Arial"/>
                <a:sym typeface="Arial"/>
              </a:rPr>
              <a:t>determine the paths </a:t>
            </a:r>
            <a:r>
              <a:rPr b="0" i="0" lang="en-US" sz="2800" u="none" cap="none" strike="noStrike">
                <a:solidFill>
                  <a:schemeClr val="dk1"/>
                </a:solidFill>
                <a:latin typeface="Arial"/>
                <a:ea typeface="Arial"/>
                <a:cs typeface="Arial"/>
                <a:sym typeface="Arial"/>
              </a:rPr>
              <a:t>that packets  take on their trips from source to destination node.</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3"/>
          <p:cNvSpPr/>
          <p:nvPr/>
        </p:nvSpPr>
        <p:spPr>
          <a:xfrm>
            <a:off x="1244998" y="385687"/>
            <a:ext cx="9702000" cy="6321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sp>
        <p:nvSpPr>
          <p:cNvPr id="161" name="Google Shape;161;p4"/>
          <p:cNvSpPr txBox="1"/>
          <p:nvPr/>
        </p:nvSpPr>
        <p:spPr>
          <a:xfrm>
            <a:off x="838200" y="152400"/>
            <a:ext cx="10264140" cy="5695315"/>
          </a:xfrm>
          <a:prstGeom prst="rect">
            <a:avLst/>
          </a:prstGeom>
          <a:noFill/>
          <a:ln>
            <a:noFill/>
          </a:ln>
        </p:spPr>
        <p:txBody>
          <a:bodyPr anchorCtr="0" anchor="t" bIns="0" lIns="0" spcFirstLastPara="1" rIns="0" wrap="square" tIns="57775">
            <a:spAutoFit/>
          </a:bodyPr>
          <a:lstStyle/>
          <a:p>
            <a:pPr indent="-228600" lvl="0" marL="241300" marR="594360" rtl="0" algn="l">
              <a:lnSpc>
                <a:spcPct val="108076"/>
              </a:lnSpc>
              <a:spcBef>
                <a:spcPts val="0"/>
              </a:spcBef>
              <a:spcAft>
                <a:spcPts val="0"/>
              </a:spcAft>
              <a:buClr>
                <a:schemeClr val="dk1"/>
              </a:buClr>
              <a:buSzPts val="2600"/>
              <a:buFont typeface="Arial"/>
              <a:buChar char="•"/>
            </a:pPr>
            <a:r>
              <a:rPr lang="en-US" sz="2600">
                <a:solidFill>
                  <a:schemeClr val="dk1"/>
                </a:solidFill>
                <a:latin typeface="Times New Roman"/>
                <a:ea typeface="Times New Roman"/>
                <a:cs typeface="Times New Roman"/>
                <a:sym typeface="Times New Roman"/>
              </a:rPr>
              <a:t>Figure shows a simple network with two hosts, H1 and H2, and several  routers on the path between H1 and H2.</a:t>
            </a:r>
            <a:endParaRPr sz="2600">
              <a:solidFill>
                <a:schemeClr val="dk1"/>
              </a:solidFill>
              <a:latin typeface="Times New Roman"/>
              <a:ea typeface="Times New Roman"/>
              <a:cs typeface="Times New Roman"/>
              <a:sym typeface="Times New Roman"/>
            </a:endParaRPr>
          </a:p>
          <a:p>
            <a:pPr indent="-228600" lvl="0" marL="241300" marR="0" rtl="0" algn="l">
              <a:lnSpc>
                <a:spcPct val="100000"/>
              </a:lnSpc>
              <a:spcBef>
                <a:spcPts val="640"/>
              </a:spcBef>
              <a:spcAft>
                <a:spcPts val="0"/>
              </a:spcAft>
              <a:buClr>
                <a:schemeClr val="dk1"/>
              </a:buClr>
              <a:buSzPts val="2600"/>
              <a:buFont typeface="Arial"/>
              <a:buChar char="•"/>
            </a:pPr>
            <a:r>
              <a:rPr lang="en-US" sz="2600">
                <a:solidFill>
                  <a:schemeClr val="dk1"/>
                </a:solidFill>
                <a:latin typeface="Times New Roman"/>
                <a:ea typeface="Times New Roman"/>
                <a:cs typeface="Times New Roman"/>
                <a:sym typeface="Times New Roman"/>
              </a:rPr>
              <a:t>Suppose that H1 is sending information to H2.</a:t>
            </a:r>
            <a:endParaRPr sz="2600">
              <a:solidFill>
                <a:schemeClr val="dk1"/>
              </a:solidFill>
              <a:latin typeface="Times New Roman"/>
              <a:ea typeface="Times New Roman"/>
              <a:cs typeface="Times New Roman"/>
              <a:sym typeface="Times New Roman"/>
            </a:endParaRPr>
          </a:p>
          <a:p>
            <a:pPr indent="-228600" lvl="0" marL="241300" marR="518794" rtl="0" algn="l">
              <a:lnSpc>
                <a:spcPct val="90000"/>
              </a:lnSpc>
              <a:spcBef>
                <a:spcPts val="1005"/>
              </a:spcBef>
              <a:spcAft>
                <a:spcPts val="0"/>
              </a:spcAft>
              <a:buClr>
                <a:schemeClr val="dk1"/>
              </a:buClr>
              <a:buSzPts val="2600"/>
              <a:buFont typeface="Arial"/>
              <a:buChar char="•"/>
            </a:pPr>
            <a:r>
              <a:rPr lang="en-US" sz="2600">
                <a:solidFill>
                  <a:schemeClr val="dk1"/>
                </a:solidFill>
                <a:latin typeface="Times New Roman"/>
                <a:ea typeface="Times New Roman"/>
                <a:cs typeface="Times New Roman"/>
                <a:sym typeface="Times New Roman"/>
              </a:rPr>
              <a:t>The network layer in H1 takes segments from the transport layer in H1,  encapsulates each segment into a </a:t>
            </a:r>
            <a:r>
              <a:rPr lang="en-US" sz="2600">
                <a:solidFill>
                  <a:srgbClr val="4471C4"/>
                </a:solidFill>
                <a:latin typeface="Times New Roman"/>
                <a:ea typeface="Times New Roman"/>
                <a:cs typeface="Times New Roman"/>
                <a:sym typeface="Times New Roman"/>
              </a:rPr>
              <a:t>datagram </a:t>
            </a:r>
            <a:r>
              <a:rPr lang="en-US" sz="2600">
                <a:solidFill>
                  <a:schemeClr val="dk1"/>
                </a:solidFill>
                <a:latin typeface="Times New Roman"/>
                <a:ea typeface="Times New Roman"/>
                <a:cs typeface="Times New Roman"/>
                <a:sym typeface="Times New Roman"/>
              </a:rPr>
              <a:t>(that is, a network-layer  packet), and then sends the datagrams to its nearby router, R1.</a:t>
            </a:r>
            <a:endParaRPr/>
          </a:p>
          <a:p>
            <a:pPr indent="-228600" lvl="0" marL="241300" marR="299720" rtl="0" algn="just">
              <a:lnSpc>
                <a:spcPct val="108076"/>
              </a:lnSpc>
              <a:spcBef>
                <a:spcPts val="1040"/>
              </a:spcBef>
              <a:spcAft>
                <a:spcPts val="0"/>
              </a:spcAft>
              <a:buClr>
                <a:schemeClr val="dk1"/>
              </a:buClr>
              <a:buSzPts val="2600"/>
              <a:buFont typeface="Arial"/>
              <a:buChar char="•"/>
            </a:pPr>
            <a:r>
              <a:rPr lang="en-US" sz="2600">
                <a:solidFill>
                  <a:schemeClr val="dk1"/>
                </a:solidFill>
                <a:latin typeface="Times New Roman"/>
                <a:ea typeface="Times New Roman"/>
                <a:cs typeface="Times New Roman"/>
                <a:sym typeface="Times New Roman"/>
              </a:rPr>
              <a:t>At the receiving host, H2, the network layer receives the datagrams from  its nearby router R2, extracts the transport-layer segments, and delivers  the segments up to the transport layer at H2.</a:t>
            </a:r>
            <a:endParaRPr sz="2600">
              <a:solidFill>
                <a:schemeClr val="dk1"/>
              </a:solidFill>
              <a:latin typeface="Times New Roman"/>
              <a:ea typeface="Times New Roman"/>
              <a:cs typeface="Times New Roman"/>
              <a:sym typeface="Times New Roman"/>
            </a:endParaRPr>
          </a:p>
          <a:p>
            <a:pPr indent="-228600" lvl="0" marL="241300" marR="5080" rtl="0" algn="l">
              <a:lnSpc>
                <a:spcPct val="108076"/>
              </a:lnSpc>
              <a:spcBef>
                <a:spcPts val="99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a:t>
            </a:r>
            <a:r>
              <a:rPr lang="en-US" sz="2600">
                <a:solidFill>
                  <a:schemeClr val="dk1"/>
                </a:solidFill>
                <a:latin typeface="Times New Roman"/>
                <a:ea typeface="Times New Roman"/>
                <a:cs typeface="Times New Roman"/>
                <a:sym typeface="Times New Roman"/>
              </a:rPr>
              <a:t>The primary role of the routers is to forward datagrams from input links to  output links.</a:t>
            </a:r>
            <a:endParaRPr sz="2600">
              <a:solidFill>
                <a:schemeClr val="dk1"/>
              </a:solidFill>
              <a:latin typeface="Times New Roman"/>
              <a:ea typeface="Times New Roman"/>
              <a:cs typeface="Times New Roman"/>
              <a:sym typeface="Times New Roman"/>
            </a:endParaRPr>
          </a:p>
          <a:p>
            <a:pPr indent="-228600" lvl="0" marL="241300" marR="405765" rtl="0" algn="l">
              <a:lnSpc>
                <a:spcPct val="108076"/>
              </a:lnSpc>
              <a:spcBef>
                <a:spcPts val="1005"/>
              </a:spcBef>
              <a:spcAft>
                <a:spcPts val="0"/>
              </a:spcAft>
              <a:buClr>
                <a:schemeClr val="dk1"/>
              </a:buClr>
              <a:buSzPts val="2600"/>
              <a:buFont typeface="Arial"/>
              <a:buChar char="•"/>
            </a:pPr>
            <a:r>
              <a:rPr lang="en-US" sz="2600">
                <a:solidFill>
                  <a:schemeClr val="dk1"/>
                </a:solidFill>
                <a:latin typeface="Times New Roman"/>
                <a:ea typeface="Times New Roman"/>
                <a:cs typeface="Times New Roman"/>
                <a:sym typeface="Times New Roman"/>
              </a:rPr>
              <a:t>The routers are shown with a </a:t>
            </a:r>
            <a:r>
              <a:rPr lang="en-US" sz="2600">
                <a:solidFill>
                  <a:srgbClr val="4471C4"/>
                </a:solidFill>
                <a:latin typeface="Times New Roman"/>
                <a:ea typeface="Times New Roman"/>
                <a:cs typeface="Times New Roman"/>
                <a:sym typeface="Times New Roman"/>
              </a:rPr>
              <a:t>truncated protocol stack</a:t>
            </a:r>
            <a:r>
              <a:rPr lang="en-US" sz="2600">
                <a:solidFill>
                  <a:schemeClr val="dk1"/>
                </a:solidFill>
                <a:latin typeface="Times New Roman"/>
                <a:ea typeface="Times New Roman"/>
                <a:cs typeface="Times New Roman"/>
                <a:sym typeface="Times New Roman"/>
              </a:rPr>
              <a:t>, that is, with no  upper layers above the network layer, because (except for control  purposes) routers do not run application- and transport-layer protocols.</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5"/>
          <p:cNvSpPr txBox="1"/>
          <p:nvPr>
            <p:ph type="title"/>
          </p:nvPr>
        </p:nvSpPr>
        <p:spPr>
          <a:xfrm>
            <a:off x="916939" y="483234"/>
            <a:ext cx="5284470"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Forwarding and Routing</a:t>
            </a:r>
            <a:endParaRPr sz="4400"/>
          </a:p>
        </p:txBody>
      </p:sp>
      <p:sp>
        <p:nvSpPr>
          <p:cNvPr id="167" name="Google Shape;167;p5"/>
          <p:cNvSpPr txBox="1"/>
          <p:nvPr/>
        </p:nvSpPr>
        <p:spPr>
          <a:xfrm>
            <a:off x="916939" y="1514983"/>
            <a:ext cx="10187305" cy="4715510"/>
          </a:xfrm>
          <a:prstGeom prst="rect">
            <a:avLst/>
          </a:prstGeom>
          <a:noFill/>
          <a:ln>
            <a:noFill/>
          </a:ln>
        </p:spPr>
        <p:txBody>
          <a:bodyPr anchorCtr="0" anchor="t" bIns="0" lIns="0" spcFirstLastPara="1" rIns="0" wrap="square" tIns="93975">
            <a:spAutoFit/>
          </a:bodyPr>
          <a:lstStyle/>
          <a:p>
            <a:pPr indent="-228600" lvl="0" marL="241300" marR="64135" rtl="0" algn="l">
              <a:lnSpc>
                <a:spcPct val="96071"/>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role of the network layer is to move packets from a sending host  to a receiving host.</a:t>
            </a:r>
            <a:endParaRPr sz="2800">
              <a:solidFill>
                <a:schemeClr val="dk1"/>
              </a:solidFill>
              <a:latin typeface="Times New Roman"/>
              <a:ea typeface="Times New Roman"/>
              <a:cs typeface="Times New Roman"/>
              <a:sym typeface="Times New Roman"/>
            </a:endParaRPr>
          </a:p>
          <a:p>
            <a:pPr indent="-309880" lvl="0" marL="321945" marR="0" rtl="0" algn="l">
              <a:lnSpc>
                <a:spcPct val="100000"/>
              </a:lnSpc>
              <a:spcBef>
                <a:spcPts val="34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To do so, two important network-layer functions can be identified:</a:t>
            </a:r>
            <a:endParaRPr sz="2800">
              <a:solidFill>
                <a:schemeClr val="dk1"/>
              </a:solidFill>
              <a:latin typeface="Times New Roman"/>
              <a:ea typeface="Times New Roman"/>
              <a:cs typeface="Times New Roman"/>
              <a:sym typeface="Times New Roman"/>
            </a:endParaRPr>
          </a:p>
          <a:p>
            <a:pPr indent="-228600" lvl="0" marL="241300" marR="5080" rtl="0" algn="l">
              <a:lnSpc>
                <a:spcPct val="80000"/>
              </a:lnSpc>
              <a:spcBef>
                <a:spcPts val="1010"/>
              </a:spcBef>
              <a:spcAft>
                <a:spcPts val="0"/>
              </a:spcAft>
              <a:buClr>
                <a:srgbClr val="4471C4"/>
              </a:buClr>
              <a:buSzPts val="2800"/>
              <a:buFont typeface="Arial"/>
              <a:buChar char="•"/>
            </a:pPr>
            <a:r>
              <a:rPr i="1" lang="en-US" sz="2800">
                <a:solidFill>
                  <a:srgbClr val="4471C4"/>
                </a:solidFill>
                <a:latin typeface="Times New Roman"/>
                <a:ea typeface="Times New Roman"/>
                <a:cs typeface="Times New Roman"/>
                <a:sym typeface="Times New Roman"/>
              </a:rPr>
              <a:t>Forwarding</a:t>
            </a:r>
            <a:r>
              <a:rPr i="1" lang="en-US" sz="2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When a packet arrives at a router’s input link, the router  must move the packet to the appropriate output link. For example, a  packet arriving from Host H1 to Router R1 must be forwarded to the  next router on a path to H2.</a:t>
            </a:r>
            <a:endParaRPr sz="2800">
              <a:solidFill>
                <a:schemeClr val="dk1"/>
              </a:solidFill>
              <a:latin typeface="Times New Roman"/>
              <a:ea typeface="Times New Roman"/>
              <a:cs typeface="Times New Roman"/>
              <a:sym typeface="Times New Roman"/>
            </a:endParaRPr>
          </a:p>
          <a:p>
            <a:pPr indent="-228600" lvl="0" marL="241300" marR="126364" rtl="0" algn="l">
              <a:lnSpc>
                <a:spcPct val="80000"/>
              </a:lnSpc>
              <a:spcBef>
                <a:spcPts val="1000"/>
              </a:spcBef>
              <a:spcAft>
                <a:spcPts val="0"/>
              </a:spcAft>
              <a:buClr>
                <a:srgbClr val="4471C4"/>
              </a:buClr>
              <a:buSzPts val="2800"/>
              <a:buFont typeface="Arial"/>
              <a:buChar char="•"/>
            </a:pPr>
            <a:r>
              <a:rPr i="1" lang="en-US" sz="2800">
                <a:solidFill>
                  <a:srgbClr val="4471C4"/>
                </a:solidFill>
                <a:latin typeface="Times New Roman"/>
                <a:ea typeface="Times New Roman"/>
                <a:cs typeface="Times New Roman"/>
                <a:sym typeface="Times New Roman"/>
              </a:rPr>
              <a:t>Routing </a:t>
            </a:r>
            <a:r>
              <a:rPr i="1" lang="en-US" sz="2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The network layer must determine the route or path taken  by packets as they flow from a sender to a receiver.</a:t>
            </a:r>
            <a:endParaRPr sz="2800">
              <a:solidFill>
                <a:schemeClr val="dk1"/>
              </a:solidFill>
              <a:latin typeface="Times New Roman"/>
              <a:ea typeface="Times New Roman"/>
              <a:cs typeface="Times New Roman"/>
              <a:sym typeface="Times New Roman"/>
            </a:endParaRPr>
          </a:p>
          <a:p>
            <a:pPr indent="-228600" lvl="0" marL="241300" marR="262255" rtl="0" algn="just">
              <a:lnSpc>
                <a:spcPct val="80000"/>
              </a:lnSpc>
              <a:spcBef>
                <a:spcPts val="994"/>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algorithms that calculate these paths are referred to as </a:t>
            </a:r>
            <a:r>
              <a:rPr b="1" lang="en-US" sz="2800">
                <a:solidFill>
                  <a:schemeClr val="dk1"/>
                </a:solidFill>
                <a:latin typeface="Times New Roman"/>
                <a:ea typeface="Times New Roman"/>
                <a:cs typeface="Times New Roman"/>
                <a:sym typeface="Times New Roman"/>
              </a:rPr>
              <a:t>routing  algorithms</a:t>
            </a:r>
            <a:r>
              <a:rPr lang="en-US" sz="2800">
                <a:solidFill>
                  <a:schemeClr val="dk1"/>
                </a:solidFill>
                <a:latin typeface="Times New Roman"/>
                <a:ea typeface="Times New Roman"/>
                <a:cs typeface="Times New Roman"/>
                <a:sym typeface="Times New Roman"/>
              </a:rPr>
              <a:t>. A routing algorithm would determine, for example, the  path along which packets flow from H1 to H2.</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p6"/>
          <p:cNvSpPr txBox="1"/>
          <p:nvPr/>
        </p:nvSpPr>
        <p:spPr>
          <a:xfrm>
            <a:off x="916939" y="842898"/>
            <a:ext cx="10200005" cy="2497607"/>
          </a:xfrm>
          <a:prstGeom prst="rect">
            <a:avLst/>
          </a:prstGeom>
          <a:noFill/>
          <a:ln>
            <a:noFill/>
          </a:ln>
        </p:spPr>
        <p:txBody>
          <a:bodyPr anchorCtr="0" anchor="t" bIns="0" lIns="0" spcFirstLastPara="1" rIns="0" wrap="square" tIns="60950">
            <a:spAutoFit/>
          </a:bodyPr>
          <a:lstStyle/>
          <a:p>
            <a:pPr indent="-228600" lvl="0" marL="241300" marR="1072515" rtl="0" algn="l">
              <a:lnSpc>
                <a:spcPct val="108214"/>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Forwarding is like a car enters the junction from one road and  determines which road it should take to leave the junction.</a:t>
            </a:r>
            <a:endParaRPr sz="2800">
              <a:solidFill>
                <a:schemeClr val="dk1"/>
              </a:solidFill>
              <a:latin typeface="Times New Roman"/>
              <a:ea typeface="Times New Roman"/>
              <a:cs typeface="Times New Roman"/>
              <a:sym typeface="Times New Roman"/>
            </a:endParaRPr>
          </a:p>
          <a:p>
            <a:pPr indent="-228600" lvl="0" marL="241300" marR="187325" rtl="0" algn="l">
              <a:lnSpc>
                <a:spcPct val="90000"/>
              </a:lnSpc>
              <a:spcBef>
                <a:spcPts val="944"/>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Routing is like the process of planning the trip from </a:t>
            </a:r>
            <a:r>
              <a:rPr lang="en-US" sz="2800">
                <a:solidFill>
                  <a:srgbClr val="4471C4"/>
                </a:solidFill>
                <a:latin typeface="Times New Roman"/>
                <a:ea typeface="Times New Roman"/>
                <a:cs typeface="Times New Roman"/>
                <a:sym typeface="Times New Roman"/>
              </a:rPr>
              <a:t>Pala to Munnar</a:t>
            </a:r>
            <a:r>
              <a:rPr lang="en-US" sz="2800">
                <a:solidFill>
                  <a:schemeClr val="dk1"/>
                </a:solidFill>
                <a:latin typeface="Times New Roman"/>
                <a:ea typeface="Times New Roman"/>
                <a:cs typeface="Times New Roman"/>
                <a:sym typeface="Times New Roman"/>
              </a:rPr>
              <a:t>:  Before embarking on the trip, the driver has consulted a map and  chosen one of many paths possible, with each path consisting of a  series of road segments connected at junctions.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6" name="Shape 176"/>
        <p:cNvGrpSpPr/>
        <p:nvPr/>
      </p:nvGrpSpPr>
      <p:grpSpPr>
        <a:xfrm>
          <a:off x="0" y="0"/>
          <a:ext cx="0" cy="0"/>
          <a:chOff x="0" y="0"/>
          <a:chExt cx="0" cy="0"/>
        </a:xfrm>
      </p:grpSpPr>
      <p:sp>
        <p:nvSpPr>
          <p:cNvPr id="177" name="Google Shape;177;p7"/>
          <p:cNvSpPr txBox="1"/>
          <p:nvPr/>
        </p:nvSpPr>
        <p:spPr>
          <a:xfrm>
            <a:off x="916939" y="952652"/>
            <a:ext cx="10341610" cy="4376420"/>
          </a:xfrm>
          <a:prstGeom prst="rect">
            <a:avLst/>
          </a:prstGeom>
          <a:noFill/>
          <a:ln>
            <a:noFill/>
          </a:ln>
        </p:spPr>
        <p:txBody>
          <a:bodyPr anchorCtr="0" anchor="t" bIns="0" lIns="0" spcFirstLastPara="1" rIns="0" wrap="square" tIns="98425">
            <a:spAutoFit/>
          </a:bodyPr>
          <a:lstStyle/>
          <a:p>
            <a:pPr indent="-228600" lvl="0" marL="241300" marR="0" rtl="0" algn="just">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Every router has a </a:t>
            </a:r>
            <a:r>
              <a:rPr b="1" lang="en-US" sz="2800">
                <a:solidFill>
                  <a:schemeClr val="dk1"/>
                </a:solidFill>
                <a:latin typeface="Times New Roman"/>
                <a:ea typeface="Times New Roman"/>
                <a:cs typeface="Times New Roman"/>
                <a:sym typeface="Times New Roman"/>
              </a:rPr>
              <a:t>forwarding table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indent="-228600" lvl="0" marL="241300" marR="521334" rtl="0" algn="just">
              <a:lnSpc>
                <a:spcPct val="107857"/>
              </a:lnSpc>
              <a:spcBef>
                <a:spcPts val="105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A router forwards a packet by </a:t>
            </a:r>
            <a:r>
              <a:rPr lang="en-US" sz="2800">
                <a:solidFill>
                  <a:srgbClr val="4471C4"/>
                </a:solidFill>
                <a:latin typeface="Times New Roman"/>
                <a:ea typeface="Times New Roman"/>
                <a:cs typeface="Times New Roman"/>
                <a:sym typeface="Times New Roman"/>
              </a:rPr>
              <a:t>examining the value of a field in the  arriving packet’s header</a:t>
            </a:r>
            <a:r>
              <a:rPr lang="en-US" sz="2800">
                <a:solidFill>
                  <a:schemeClr val="dk1"/>
                </a:solidFill>
                <a:latin typeface="Times New Roman"/>
                <a:ea typeface="Times New Roman"/>
                <a:cs typeface="Times New Roman"/>
                <a:sym typeface="Times New Roman"/>
              </a:rPr>
              <a:t>, and then using this header value to index  into the router’s forwarding table.</a:t>
            </a:r>
            <a:endParaRPr sz="2800">
              <a:solidFill>
                <a:schemeClr val="dk1"/>
              </a:solidFill>
              <a:latin typeface="Times New Roman"/>
              <a:ea typeface="Times New Roman"/>
              <a:cs typeface="Times New Roman"/>
              <a:sym typeface="Times New Roman"/>
            </a:endParaRPr>
          </a:p>
          <a:p>
            <a:pPr indent="-228600" lvl="0" marL="241300" marR="0" rtl="0" algn="just">
              <a:lnSpc>
                <a:spcPct val="114107"/>
              </a:lnSpc>
              <a:spcBef>
                <a:spcPts val="62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value stored in the forwarding table entry for that header</a:t>
            </a:r>
            <a:endParaRPr sz="2800">
              <a:solidFill>
                <a:schemeClr val="dk1"/>
              </a:solidFill>
              <a:latin typeface="Times New Roman"/>
              <a:ea typeface="Times New Roman"/>
              <a:cs typeface="Times New Roman"/>
              <a:sym typeface="Times New Roman"/>
            </a:endParaRPr>
          </a:p>
          <a:p>
            <a:pPr indent="0" lvl="0" marL="241300" marR="5080" rtl="0" algn="just">
              <a:lnSpc>
                <a:spcPct val="107857"/>
              </a:lnSpc>
              <a:spcBef>
                <a:spcPts val="219"/>
              </a:spcBef>
              <a:spcAft>
                <a:spcPts val="0"/>
              </a:spcAft>
              <a:buNone/>
            </a:pPr>
            <a:r>
              <a:rPr lang="en-US" sz="2800">
                <a:solidFill>
                  <a:schemeClr val="dk1"/>
                </a:solidFill>
                <a:latin typeface="Times New Roman"/>
                <a:ea typeface="Times New Roman"/>
                <a:cs typeface="Times New Roman"/>
                <a:sym typeface="Times New Roman"/>
              </a:rPr>
              <a:t>indicates the router’s outgoing link interface to which that packet is to  be forwarded.</a:t>
            </a:r>
            <a:endParaRPr sz="2800">
              <a:solidFill>
                <a:schemeClr val="dk1"/>
              </a:solidFill>
              <a:latin typeface="Times New Roman"/>
              <a:ea typeface="Times New Roman"/>
              <a:cs typeface="Times New Roman"/>
              <a:sym typeface="Times New Roman"/>
            </a:endParaRPr>
          </a:p>
          <a:p>
            <a:pPr indent="-228600" lvl="0" marL="241300" marR="199390" rtl="0" algn="l">
              <a:lnSpc>
                <a:spcPct val="90000"/>
              </a:lnSpc>
              <a:spcBef>
                <a:spcPts val="95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Depending on the network-layer protocol, the header value could be  the destination address of the packet or an indication of the  connection to which the packet belongs</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1" name="Shape 181"/>
        <p:cNvGrpSpPr/>
        <p:nvPr/>
      </p:nvGrpSpPr>
      <p:grpSpPr>
        <a:xfrm>
          <a:off x="0" y="0"/>
          <a:ext cx="0" cy="0"/>
          <a:chOff x="0" y="0"/>
          <a:chExt cx="0" cy="0"/>
        </a:xfrm>
      </p:grpSpPr>
      <p:sp>
        <p:nvSpPr>
          <p:cNvPr id="182" name="Google Shape;182;p8"/>
          <p:cNvSpPr/>
          <p:nvPr/>
        </p:nvSpPr>
        <p:spPr>
          <a:xfrm>
            <a:off x="1868423" y="48924"/>
            <a:ext cx="7781871" cy="680907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9"/>
          <p:cNvSpPr txBox="1"/>
          <p:nvPr/>
        </p:nvSpPr>
        <p:spPr>
          <a:xfrm>
            <a:off x="916939" y="496085"/>
            <a:ext cx="10323195" cy="5398135"/>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 packet with a header field value of 0111 arrives to a router.</a:t>
            </a:r>
            <a:endParaRPr sz="2800">
              <a:solidFill>
                <a:schemeClr val="dk1"/>
              </a:solidFill>
              <a:latin typeface="Times New Roman"/>
              <a:ea typeface="Times New Roman"/>
              <a:cs typeface="Times New Roman"/>
              <a:sym typeface="Times New Roman"/>
            </a:endParaRPr>
          </a:p>
          <a:p>
            <a:pPr indent="-228600" lvl="0" marL="241300" marR="257809" rtl="0" algn="l">
              <a:lnSpc>
                <a:spcPct val="108214"/>
              </a:lnSpc>
              <a:spcBef>
                <a:spcPts val="104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router indexes into its forwarding table and determines that the  output link interface for this packet is interface 2.</a:t>
            </a:r>
            <a:endParaRPr sz="2800">
              <a:solidFill>
                <a:schemeClr val="dk1"/>
              </a:solidFill>
              <a:latin typeface="Times New Roman"/>
              <a:ea typeface="Times New Roman"/>
              <a:cs typeface="Times New Roman"/>
              <a:sym typeface="Times New Roman"/>
            </a:endParaRPr>
          </a:p>
          <a:p>
            <a:pPr indent="-228600" lvl="0" marL="241300" marR="0" rtl="0" algn="l">
              <a:lnSpc>
                <a:spcPct val="100000"/>
              </a:lnSpc>
              <a:spcBef>
                <a:spcPts val="61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router then internally forwards the packet to interface 2.</a:t>
            </a:r>
            <a:endParaRPr sz="2800">
              <a:solidFill>
                <a:schemeClr val="dk1"/>
              </a:solidFill>
              <a:latin typeface="Times New Roman"/>
              <a:ea typeface="Times New Roman"/>
              <a:cs typeface="Times New Roman"/>
              <a:sym typeface="Times New Roman"/>
            </a:endParaRPr>
          </a:p>
          <a:p>
            <a:pPr indent="-228600" lvl="0" marL="241300" marR="507365" rtl="0" algn="l">
              <a:lnSpc>
                <a:spcPct val="107857"/>
              </a:lnSpc>
              <a:spcBef>
                <a:spcPts val="104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routing algorithm determines the values that are inserted into  the routers’ forwarding tables.</a:t>
            </a:r>
            <a:endParaRPr sz="2800">
              <a:solidFill>
                <a:schemeClr val="dk1"/>
              </a:solidFill>
              <a:latin typeface="Times New Roman"/>
              <a:ea typeface="Times New Roman"/>
              <a:cs typeface="Times New Roman"/>
              <a:sym typeface="Times New Roman"/>
            </a:endParaRPr>
          </a:p>
          <a:p>
            <a:pPr indent="-228600" lvl="0" marL="241300" marR="434340" rtl="0" algn="l">
              <a:lnSpc>
                <a:spcPct val="107857"/>
              </a:lnSpc>
              <a:spcBef>
                <a:spcPts val="1019"/>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routing algorithm may be centralized (e.g., with an algorithm  executing on a central site and downloading routing information to  each of the routers) or decentralized (i.e., with a piece of the  distributed routing algorithm running in each router).</a:t>
            </a:r>
            <a:endParaRPr sz="2800">
              <a:solidFill>
                <a:schemeClr val="dk1"/>
              </a:solidFill>
              <a:latin typeface="Times New Roman"/>
              <a:ea typeface="Times New Roman"/>
              <a:cs typeface="Times New Roman"/>
              <a:sym typeface="Times New Roman"/>
            </a:endParaRPr>
          </a:p>
          <a:p>
            <a:pPr indent="-228600" lvl="0" marL="241300" marR="5080" rtl="0" algn="l">
              <a:lnSpc>
                <a:spcPct val="107857"/>
              </a:lnSpc>
              <a:spcBef>
                <a:spcPts val="101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In either case, a router receives routing protocol messages, which are  used to </a:t>
            </a:r>
            <a:r>
              <a:rPr lang="en-US" sz="2800">
                <a:solidFill>
                  <a:srgbClr val="4471C4"/>
                </a:solidFill>
                <a:latin typeface="Times New Roman"/>
                <a:ea typeface="Times New Roman"/>
                <a:cs typeface="Times New Roman"/>
                <a:sym typeface="Times New Roman"/>
              </a:rPr>
              <a:t>configure its forwarding table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p10"/>
          <p:cNvSpPr txBox="1"/>
          <p:nvPr>
            <p:ph type="title"/>
          </p:nvPr>
        </p:nvSpPr>
        <p:spPr>
          <a:xfrm>
            <a:off x="916939" y="609676"/>
            <a:ext cx="398526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Connection setup</a:t>
            </a:r>
            <a:endParaRPr sz="4400"/>
          </a:p>
        </p:txBody>
      </p:sp>
      <p:sp>
        <p:nvSpPr>
          <p:cNvPr id="193" name="Google Shape;193;p10"/>
          <p:cNvSpPr txBox="1"/>
          <p:nvPr/>
        </p:nvSpPr>
        <p:spPr>
          <a:xfrm>
            <a:off x="5631941"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194" name="Google Shape;194;p10"/>
          <p:cNvSpPr txBox="1"/>
          <p:nvPr/>
        </p:nvSpPr>
        <p:spPr>
          <a:xfrm>
            <a:off x="10968990"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4-10</a:t>
            </a:r>
            <a:endParaRPr sz="1200">
              <a:solidFill>
                <a:schemeClr val="dk1"/>
              </a:solidFill>
              <a:latin typeface="Arial"/>
              <a:ea typeface="Arial"/>
              <a:cs typeface="Arial"/>
              <a:sym typeface="Arial"/>
            </a:endParaRPr>
          </a:p>
        </p:txBody>
      </p:sp>
      <p:sp>
        <p:nvSpPr>
          <p:cNvPr id="195" name="Google Shape;195;p10"/>
          <p:cNvSpPr txBox="1"/>
          <p:nvPr>
            <p:ph idx="1" type="body"/>
          </p:nvPr>
        </p:nvSpPr>
        <p:spPr>
          <a:xfrm>
            <a:off x="1980310" y="1531014"/>
            <a:ext cx="8231378" cy="3800475"/>
          </a:xfrm>
          <a:prstGeom prst="rect">
            <a:avLst/>
          </a:prstGeom>
          <a:noFill/>
          <a:ln>
            <a:noFill/>
          </a:ln>
        </p:spPr>
        <p:txBody>
          <a:bodyPr anchorCtr="0" anchor="t" bIns="0" lIns="0" spcFirstLastPara="1" rIns="0" wrap="square" tIns="48875">
            <a:spAutoFit/>
          </a:bodyPr>
          <a:lstStyle/>
          <a:p>
            <a:pPr indent="-228600" lvl="0" marL="396875" rtl="0" algn="l">
              <a:lnSpc>
                <a:spcPct val="100000"/>
              </a:lnSpc>
              <a:spcBef>
                <a:spcPts val="0"/>
              </a:spcBef>
              <a:spcAft>
                <a:spcPts val="0"/>
              </a:spcAft>
              <a:buClr>
                <a:schemeClr val="dk1"/>
              </a:buClr>
              <a:buSzPts val="2800"/>
              <a:buFont typeface="Arial"/>
              <a:buChar char="•"/>
            </a:pPr>
            <a:r>
              <a:rPr lang="en-US"/>
              <a:t>3</a:t>
            </a:r>
            <a:r>
              <a:rPr baseline="30000" lang="en-US" sz="2775"/>
              <a:t>rd </a:t>
            </a:r>
            <a:r>
              <a:rPr lang="en-US" sz="2800"/>
              <a:t>important function in </a:t>
            </a:r>
            <a:r>
              <a:rPr i="1" lang="en-US" sz="2800">
                <a:latin typeface="Arial"/>
                <a:ea typeface="Arial"/>
                <a:cs typeface="Arial"/>
                <a:sym typeface="Arial"/>
              </a:rPr>
              <a:t>some </a:t>
            </a:r>
            <a:r>
              <a:rPr lang="en-US" sz="2800"/>
              <a:t>network architectures:</a:t>
            </a:r>
            <a:endParaRPr sz="2800">
              <a:latin typeface="Arial"/>
              <a:ea typeface="Arial"/>
              <a:cs typeface="Arial"/>
              <a:sym typeface="Arial"/>
            </a:endParaRPr>
          </a:p>
          <a:p>
            <a:pPr indent="-228600" lvl="1" marL="854075" rtl="0" algn="l">
              <a:lnSpc>
                <a:spcPct val="100000"/>
              </a:lnSpc>
              <a:spcBef>
                <a:spcPts val="245"/>
              </a:spcBef>
              <a:spcAft>
                <a:spcPts val="0"/>
              </a:spcAft>
              <a:buSzPts val="2400"/>
              <a:buFont typeface="Arial"/>
              <a:buChar char="•"/>
            </a:pPr>
            <a:r>
              <a:rPr lang="en-US" sz="2400">
                <a:latin typeface="Arial"/>
                <a:ea typeface="Arial"/>
                <a:cs typeface="Arial"/>
                <a:sym typeface="Arial"/>
              </a:rPr>
              <a:t>ATM, frame relay, X.25</a:t>
            </a:r>
            <a:endParaRPr sz="2400">
              <a:latin typeface="Arial"/>
              <a:ea typeface="Arial"/>
              <a:cs typeface="Arial"/>
              <a:sym typeface="Arial"/>
            </a:endParaRPr>
          </a:p>
          <a:p>
            <a:pPr indent="-228600" lvl="0" marL="396875" marR="19050" rtl="0" algn="l">
              <a:lnSpc>
                <a:spcPct val="107857"/>
              </a:lnSpc>
              <a:spcBef>
                <a:spcPts val="1020"/>
              </a:spcBef>
              <a:spcAft>
                <a:spcPts val="0"/>
              </a:spcAft>
              <a:buClr>
                <a:schemeClr val="dk1"/>
              </a:buClr>
              <a:buSzPts val="2800"/>
              <a:buFont typeface="Arial"/>
              <a:buChar char="•"/>
            </a:pPr>
            <a:r>
              <a:rPr lang="en-US"/>
              <a:t>Before datagrams flow, two end hosts </a:t>
            </a:r>
            <a:r>
              <a:rPr i="1" lang="en-US">
                <a:latin typeface="Arial"/>
                <a:ea typeface="Arial"/>
                <a:cs typeface="Arial"/>
                <a:sym typeface="Arial"/>
              </a:rPr>
              <a:t>and </a:t>
            </a:r>
            <a:r>
              <a:rPr lang="en-US"/>
              <a:t>intervening  routers establish virtual connection</a:t>
            </a:r>
            <a:endParaRPr/>
          </a:p>
          <a:p>
            <a:pPr indent="-228600" lvl="1" marL="854075" rtl="0" algn="l">
              <a:lnSpc>
                <a:spcPct val="100000"/>
              </a:lnSpc>
              <a:spcBef>
                <a:spcPts val="200"/>
              </a:spcBef>
              <a:spcAft>
                <a:spcPts val="0"/>
              </a:spcAft>
              <a:buSzPts val="2400"/>
              <a:buFont typeface="Arial"/>
              <a:buChar char="•"/>
            </a:pPr>
            <a:r>
              <a:rPr lang="en-US" sz="2400">
                <a:latin typeface="Arial"/>
                <a:ea typeface="Arial"/>
                <a:cs typeface="Arial"/>
                <a:sym typeface="Arial"/>
              </a:rPr>
              <a:t>routers get involved</a:t>
            </a:r>
            <a:endParaRPr sz="2400">
              <a:latin typeface="Arial"/>
              <a:ea typeface="Arial"/>
              <a:cs typeface="Arial"/>
              <a:sym typeface="Arial"/>
            </a:endParaRPr>
          </a:p>
          <a:p>
            <a:pPr indent="-228600" lvl="0" marL="396875" rtl="0" algn="l">
              <a:lnSpc>
                <a:spcPct val="100000"/>
              </a:lnSpc>
              <a:spcBef>
                <a:spcPts val="635"/>
              </a:spcBef>
              <a:spcAft>
                <a:spcPts val="0"/>
              </a:spcAft>
              <a:buClr>
                <a:schemeClr val="dk1"/>
              </a:buClr>
              <a:buSzPts val="2800"/>
              <a:buFont typeface="Arial"/>
              <a:buChar char="•"/>
            </a:pPr>
            <a:r>
              <a:rPr lang="en-US"/>
              <a:t>network vs transport layer connection service:</a:t>
            </a:r>
            <a:endParaRPr/>
          </a:p>
          <a:p>
            <a:pPr indent="-228600" lvl="1" marL="854075" marR="17780" rtl="0" algn="l">
              <a:lnSpc>
                <a:spcPct val="107916"/>
              </a:lnSpc>
              <a:spcBef>
                <a:spcPts val="575"/>
              </a:spcBef>
              <a:spcAft>
                <a:spcPts val="0"/>
              </a:spcAft>
              <a:buClr>
                <a:srgbClr val="CC0000"/>
              </a:buClr>
              <a:buSzPts val="2400"/>
              <a:buFont typeface="Arial"/>
              <a:buChar char="•"/>
            </a:pPr>
            <a:r>
              <a:rPr i="1" lang="en-US" sz="2400">
                <a:solidFill>
                  <a:srgbClr val="CC0000"/>
                </a:solidFill>
                <a:latin typeface="Arial"/>
                <a:ea typeface="Arial"/>
                <a:cs typeface="Arial"/>
                <a:sym typeface="Arial"/>
              </a:rPr>
              <a:t>network: </a:t>
            </a:r>
            <a:r>
              <a:rPr lang="en-US" sz="2400">
                <a:latin typeface="Arial"/>
                <a:ea typeface="Arial"/>
                <a:cs typeface="Arial"/>
                <a:sym typeface="Arial"/>
              </a:rPr>
              <a:t>between two hosts (may also involve intervening  routers in case of VCs)</a:t>
            </a:r>
            <a:endParaRPr sz="2400">
              <a:latin typeface="Arial"/>
              <a:ea typeface="Arial"/>
              <a:cs typeface="Arial"/>
              <a:sym typeface="Arial"/>
            </a:endParaRPr>
          </a:p>
          <a:p>
            <a:pPr indent="-228600" lvl="1" marL="854075" rtl="0" algn="l">
              <a:lnSpc>
                <a:spcPct val="100000"/>
              </a:lnSpc>
              <a:spcBef>
                <a:spcPts val="180"/>
              </a:spcBef>
              <a:spcAft>
                <a:spcPts val="0"/>
              </a:spcAft>
              <a:buClr>
                <a:srgbClr val="CC0000"/>
              </a:buClr>
              <a:buSzPts val="2400"/>
              <a:buFont typeface="Arial"/>
              <a:buChar char="•"/>
            </a:pPr>
            <a:r>
              <a:rPr i="1" lang="en-US" sz="2400">
                <a:solidFill>
                  <a:srgbClr val="CC0000"/>
                </a:solidFill>
                <a:latin typeface="Arial"/>
                <a:ea typeface="Arial"/>
                <a:cs typeface="Arial"/>
                <a:sym typeface="Arial"/>
              </a:rPr>
              <a:t>transport: </a:t>
            </a:r>
            <a:r>
              <a:rPr lang="en-US" sz="2400">
                <a:latin typeface="Arial"/>
                <a:ea typeface="Arial"/>
                <a:cs typeface="Arial"/>
                <a:sym typeface="Arial"/>
              </a:rPr>
              <a:t>between two processes</a:t>
            </a:r>
            <a:endParaRPr sz="2400">
              <a:latin typeface="Arial"/>
              <a:ea typeface="Arial"/>
              <a:cs typeface="Arial"/>
              <a:sym typeface="Arial"/>
            </a:endParaRPr>
          </a:p>
        </p:txBody>
      </p:sp>
      <p:sp>
        <p:nvSpPr>
          <p:cNvPr id="196" name="Google Shape;196;p10"/>
          <p:cNvSpPr/>
          <p:nvPr/>
        </p:nvSpPr>
        <p:spPr>
          <a:xfrm>
            <a:off x="3962400" y="1143000"/>
            <a:ext cx="4570476" cy="1737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916939" y="609676"/>
            <a:ext cx="539051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Network Service Models</a:t>
            </a:r>
            <a:endParaRPr sz="4400"/>
          </a:p>
        </p:txBody>
      </p:sp>
      <p:sp>
        <p:nvSpPr>
          <p:cNvPr id="202" name="Google Shape;202;p11"/>
          <p:cNvSpPr txBox="1"/>
          <p:nvPr/>
        </p:nvSpPr>
        <p:spPr>
          <a:xfrm>
            <a:off x="916939" y="1793493"/>
            <a:ext cx="10303510" cy="3905885"/>
          </a:xfrm>
          <a:prstGeom prst="rect">
            <a:avLst/>
          </a:prstGeom>
          <a:noFill/>
          <a:ln>
            <a:noFill/>
          </a:ln>
        </p:spPr>
        <p:txBody>
          <a:bodyPr anchorCtr="0" anchor="t" bIns="0" lIns="0" spcFirstLastPara="1" rIns="0" wrap="square" tIns="60950">
            <a:spAutoFit/>
          </a:bodyPr>
          <a:lstStyle/>
          <a:p>
            <a:pPr indent="-228600" lvl="0" marL="241300" marR="137160"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a:t>
            </a:r>
            <a:r>
              <a:rPr b="1" lang="en-US" sz="2800">
                <a:solidFill>
                  <a:schemeClr val="dk1"/>
                </a:solidFill>
                <a:latin typeface="Arial"/>
                <a:ea typeface="Arial"/>
                <a:cs typeface="Arial"/>
                <a:sym typeface="Arial"/>
              </a:rPr>
              <a:t>network service model </a:t>
            </a:r>
            <a:r>
              <a:rPr lang="en-US" sz="2800">
                <a:solidFill>
                  <a:schemeClr val="dk1"/>
                </a:solidFill>
                <a:latin typeface="Arial"/>
                <a:ea typeface="Arial"/>
                <a:cs typeface="Arial"/>
                <a:sym typeface="Arial"/>
              </a:rPr>
              <a:t>defines the characteristics of end-to-end  transport of packets between sending and receiving end systems.</a:t>
            </a:r>
            <a:endParaRPr sz="2800">
              <a:solidFill>
                <a:schemeClr val="dk1"/>
              </a:solidFill>
              <a:latin typeface="Arial"/>
              <a:ea typeface="Arial"/>
              <a:cs typeface="Arial"/>
              <a:sym typeface="Arial"/>
            </a:endParaRPr>
          </a:p>
          <a:p>
            <a:pPr indent="-228600" lvl="0" marL="241300" marR="762000" rtl="0" algn="l">
              <a:lnSpc>
                <a:spcPct val="107857"/>
              </a:lnSpc>
              <a:spcBef>
                <a:spcPts val="1015"/>
              </a:spcBef>
              <a:spcAft>
                <a:spcPts val="0"/>
              </a:spcAft>
              <a:buClr>
                <a:srgbClr val="4471C4"/>
              </a:buClr>
              <a:buSzPts val="2800"/>
              <a:buFont typeface="Arial"/>
              <a:buChar char="•"/>
            </a:pPr>
            <a:r>
              <a:rPr i="1" lang="en-US" sz="2800">
                <a:solidFill>
                  <a:srgbClr val="4471C4"/>
                </a:solidFill>
                <a:latin typeface="Arial"/>
                <a:ea typeface="Arial"/>
                <a:cs typeface="Arial"/>
                <a:sym typeface="Arial"/>
              </a:rPr>
              <a:t>Guaranteed delivery</a:t>
            </a:r>
            <a:r>
              <a:rPr lang="en-US" sz="2800">
                <a:solidFill>
                  <a:srgbClr val="4471C4"/>
                </a:solidFill>
                <a:latin typeface="Arial"/>
                <a:ea typeface="Arial"/>
                <a:cs typeface="Arial"/>
                <a:sym typeface="Arial"/>
              </a:rPr>
              <a:t>. </a:t>
            </a:r>
            <a:r>
              <a:rPr lang="en-US" sz="2800">
                <a:solidFill>
                  <a:schemeClr val="dk1"/>
                </a:solidFill>
                <a:latin typeface="Arial"/>
                <a:ea typeface="Arial"/>
                <a:cs typeface="Arial"/>
                <a:sym typeface="Arial"/>
              </a:rPr>
              <a:t>This service guarantees that the packet will  eventually arrive at its destination.</a:t>
            </a:r>
            <a:endParaRPr sz="2800">
              <a:solidFill>
                <a:schemeClr val="dk1"/>
              </a:solidFill>
              <a:latin typeface="Arial"/>
              <a:ea typeface="Arial"/>
              <a:cs typeface="Arial"/>
              <a:sym typeface="Arial"/>
            </a:endParaRPr>
          </a:p>
          <a:p>
            <a:pPr indent="-228600" lvl="0" marL="241300" marR="757555" rtl="0" algn="l">
              <a:lnSpc>
                <a:spcPct val="90000"/>
              </a:lnSpc>
              <a:spcBef>
                <a:spcPts val="960"/>
              </a:spcBef>
              <a:spcAft>
                <a:spcPts val="0"/>
              </a:spcAft>
              <a:buClr>
                <a:srgbClr val="4471C4"/>
              </a:buClr>
              <a:buSzPts val="1800"/>
              <a:buFont typeface="Arial"/>
              <a:buChar char="•"/>
            </a:pPr>
            <a:r>
              <a:rPr lang="en-US" sz="1800">
                <a:solidFill>
                  <a:schemeClr val="dk1"/>
                </a:solidFill>
                <a:latin typeface="Calibri"/>
                <a:ea typeface="Calibri"/>
                <a:cs typeface="Calibri"/>
                <a:sym typeface="Calibri"/>
              </a:rPr>
              <a:t>	</a:t>
            </a:r>
            <a:r>
              <a:rPr i="1" lang="en-US" sz="2800">
                <a:solidFill>
                  <a:srgbClr val="4471C4"/>
                </a:solidFill>
                <a:latin typeface="Arial"/>
                <a:ea typeface="Arial"/>
                <a:cs typeface="Arial"/>
                <a:sym typeface="Arial"/>
              </a:rPr>
              <a:t>Guaranteed delivery with bounded delay</a:t>
            </a:r>
            <a:r>
              <a:rPr lang="en-US" sz="2800">
                <a:solidFill>
                  <a:schemeClr val="dk1"/>
                </a:solidFill>
                <a:latin typeface="Arial"/>
                <a:ea typeface="Arial"/>
                <a:cs typeface="Arial"/>
                <a:sym typeface="Arial"/>
              </a:rPr>
              <a:t>. This service not only  guarantees delivery of the packet, but delivery within a specified  host-to-host delay bound (for example, within 100 msec).</a:t>
            </a:r>
            <a:endParaRPr sz="2800">
              <a:solidFill>
                <a:schemeClr val="dk1"/>
              </a:solidFill>
              <a:latin typeface="Arial"/>
              <a:ea typeface="Arial"/>
              <a:cs typeface="Arial"/>
              <a:sym typeface="Arial"/>
            </a:endParaRPr>
          </a:p>
          <a:p>
            <a:pPr indent="-228600" lvl="0" marL="241300" marR="5080" rtl="0" algn="l">
              <a:lnSpc>
                <a:spcPct val="107857"/>
              </a:lnSpc>
              <a:spcBef>
                <a:spcPts val="1045"/>
              </a:spcBef>
              <a:spcAft>
                <a:spcPts val="0"/>
              </a:spcAft>
              <a:buClr>
                <a:srgbClr val="4471C4"/>
              </a:buClr>
              <a:buSzPts val="2800"/>
              <a:buFont typeface="Arial"/>
              <a:buChar char="•"/>
            </a:pPr>
            <a:r>
              <a:rPr i="1" lang="en-US" sz="2800">
                <a:solidFill>
                  <a:srgbClr val="4471C4"/>
                </a:solidFill>
                <a:latin typeface="Arial"/>
                <a:ea typeface="Arial"/>
                <a:cs typeface="Arial"/>
                <a:sym typeface="Arial"/>
              </a:rPr>
              <a:t>In-order packet delivery</a:t>
            </a:r>
            <a:r>
              <a:rPr lang="en-US" sz="2800">
                <a:solidFill>
                  <a:srgbClr val="4471C4"/>
                </a:solidFill>
                <a:latin typeface="Arial"/>
                <a:ea typeface="Arial"/>
                <a:cs typeface="Arial"/>
                <a:sym typeface="Arial"/>
              </a:rPr>
              <a:t>. </a:t>
            </a:r>
            <a:r>
              <a:rPr lang="en-US" sz="2800">
                <a:solidFill>
                  <a:schemeClr val="dk1"/>
                </a:solidFill>
                <a:latin typeface="Arial"/>
                <a:ea typeface="Arial"/>
                <a:cs typeface="Arial"/>
                <a:sym typeface="Arial"/>
              </a:rPr>
              <a:t>This service guarantees that packets arrive at  the destination in the order that they were sent.</a:t>
            </a:r>
            <a:endParaRPr sz="2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sp>
        <p:nvSpPr>
          <p:cNvPr id="207" name="Google Shape;207;p12"/>
          <p:cNvSpPr txBox="1"/>
          <p:nvPr/>
        </p:nvSpPr>
        <p:spPr>
          <a:xfrm>
            <a:off x="916939" y="332308"/>
            <a:ext cx="10280015" cy="5443220"/>
          </a:xfrm>
          <a:prstGeom prst="rect">
            <a:avLst/>
          </a:prstGeom>
          <a:noFill/>
          <a:ln>
            <a:noFill/>
          </a:ln>
        </p:spPr>
        <p:txBody>
          <a:bodyPr anchorCtr="0" anchor="t" bIns="0" lIns="0" spcFirstLastPara="1" rIns="0" wrap="square" tIns="55225">
            <a:spAutoFit/>
          </a:bodyPr>
          <a:lstStyle/>
          <a:p>
            <a:pPr indent="-228600" lvl="0" marL="241300" marR="5080" rtl="0" algn="l">
              <a:lnSpc>
                <a:spcPct val="90000"/>
              </a:lnSpc>
              <a:spcBef>
                <a:spcPts val="0"/>
              </a:spcBef>
              <a:spcAft>
                <a:spcPts val="0"/>
              </a:spcAft>
              <a:buClr>
                <a:srgbClr val="4471C4"/>
              </a:buClr>
              <a:buSzPts val="2800"/>
              <a:buFont typeface="Arial"/>
              <a:buChar char="•"/>
            </a:pPr>
            <a:r>
              <a:rPr i="1" lang="en-US" sz="2800">
                <a:solidFill>
                  <a:srgbClr val="4471C4"/>
                </a:solidFill>
                <a:latin typeface="Arial"/>
                <a:ea typeface="Arial"/>
                <a:cs typeface="Arial"/>
                <a:sym typeface="Arial"/>
              </a:rPr>
              <a:t>Guaranteed minimal bandwidth </a:t>
            </a:r>
            <a:r>
              <a:rPr lang="en-US" sz="2800">
                <a:solidFill>
                  <a:schemeClr val="dk1"/>
                </a:solidFill>
                <a:latin typeface="Arial"/>
                <a:ea typeface="Arial"/>
                <a:cs typeface="Arial"/>
                <a:sym typeface="Arial"/>
              </a:rPr>
              <a:t>As long as the sending host transmits  bits (as part of packets) at a rate below the specified bit rate, then no  packet is lost and each packet arrives within a prespecified host-to-  host delay (for example, within 40 msec).</a:t>
            </a:r>
            <a:endParaRPr sz="2800">
              <a:solidFill>
                <a:schemeClr val="dk1"/>
              </a:solidFill>
              <a:latin typeface="Arial"/>
              <a:ea typeface="Arial"/>
              <a:cs typeface="Arial"/>
              <a:sym typeface="Arial"/>
            </a:endParaRPr>
          </a:p>
          <a:p>
            <a:pPr indent="0" lvl="0" marL="0" marR="0" rtl="0" algn="l">
              <a:lnSpc>
                <a:spcPct val="100000"/>
              </a:lnSpc>
              <a:spcBef>
                <a:spcPts val="20"/>
              </a:spcBef>
              <a:spcAft>
                <a:spcPts val="0"/>
              </a:spcAft>
              <a:buClr>
                <a:srgbClr val="4471C4"/>
              </a:buClr>
              <a:buSzPts val="4100"/>
              <a:buFont typeface="Arial"/>
              <a:buNone/>
            </a:pPr>
            <a:r>
              <a:t/>
            </a:r>
            <a:endParaRPr sz="4100">
              <a:solidFill>
                <a:schemeClr val="dk1"/>
              </a:solidFill>
              <a:latin typeface="Arial"/>
              <a:ea typeface="Arial"/>
              <a:cs typeface="Arial"/>
              <a:sym typeface="Arial"/>
            </a:endParaRPr>
          </a:p>
          <a:p>
            <a:pPr indent="-228600" lvl="0" marL="241300" marR="51435" rtl="0" algn="l">
              <a:lnSpc>
                <a:spcPct val="90000"/>
              </a:lnSpc>
              <a:spcBef>
                <a:spcPts val="5"/>
              </a:spcBef>
              <a:spcAft>
                <a:spcPts val="0"/>
              </a:spcAft>
              <a:buClr>
                <a:srgbClr val="4471C4"/>
              </a:buClr>
              <a:buSzPts val="2800"/>
              <a:buFont typeface="Arial"/>
              <a:buChar char="•"/>
            </a:pPr>
            <a:r>
              <a:rPr i="1" lang="en-US" sz="2800">
                <a:solidFill>
                  <a:srgbClr val="4471C4"/>
                </a:solidFill>
                <a:latin typeface="Arial"/>
                <a:ea typeface="Arial"/>
                <a:cs typeface="Arial"/>
                <a:sym typeface="Arial"/>
              </a:rPr>
              <a:t>Guaranteed maximum jitter</a:t>
            </a:r>
            <a:r>
              <a:rPr lang="en-US" sz="2800">
                <a:solidFill>
                  <a:schemeClr val="dk1"/>
                </a:solidFill>
                <a:latin typeface="Arial"/>
                <a:ea typeface="Arial"/>
                <a:cs typeface="Arial"/>
                <a:sym typeface="Arial"/>
              </a:rPr>
              <a:t>. This service guarantees that the amount  of time between the transmission of two successive packets at the  sender is equal to the amount of time between their receipt at the  destination.</a:t>
            </a:r>
            <a:endParaRPr sz="2800">
              <a:solidFill>
                <a:schemeClr val="dk1"/>
              </a:solidFill>
              <a:latin typeface="Arial"/>
              <a:ea typeface="Arial"/>
              <a:cs typeface="Arial"/>
              <a:sym typeface="Arial"/>
            </a:endParaRPr>
          </a:p>
          <a:p>
            <a:pPr indent="-228600" lvl="0" marL="241300" marR="328930" rtl="0" algn="l">
              <a:lnSpc>
                <a:spcPct val="90000"/>
              </a:lnSpc>
              <a:spcBef>
                <a:spcPts val="994"/>
              </a:spcBef>
              <a:spcAft>
                <a:spcPts val="0"/>
              </a:spcAft>
              <a:buClr>
                <a:srgbClr val="4471C4"/>
              </a:buClr>
              <a:buSzPts val="2800"/>
              <a:buFont typeface="Arial"/>
              <a:buChar char="•"/>
            </a:pPr>
            <a:r>
              <a:rPr i="1" lang="en-US" sz="2800">
                <a:solidFill>
                  <a:srgbClr val="4471C4"/>
                </a:solidFill>
                <a:latin typeface="Arial"/>
                <a:ea typeface="Arial"/>
                <a:cs typeface="Arial"/>
                <a:sym typeface="Arial"/>
              </a:rPr>
              <a:t>Security services</a:t>
            </a:r>
            <a:r>
              <a:rPr lang="en-US" sz="2800">
                <a:solidFill>
                  <a:schemeClr val="dk1"/>
                </a:solidFill>
                <a:latin typeface="Arial"/>
                <a:ea typeface="Arial"/>
                <a:cs typeface="Arial"/>
                <a:sym typeface="Arial"/>
              </a:rPr>
              <a:t>. Using a secret session key known only by a source  and destination host, the network layer in the source host could  encrypt the payloads of all datagrams being sent to the destination  host.</a:t>
            </a:r>
            <a:endParaRPr sz="2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 name="Shape 211"/>
        <p:cNvGrpSpPr/>
        <p:nvPr/>
      </p:nvGrpSpPr>
      <p:grpSpPr>
        <a:xfrm>
          <a:off x="0" y="0"/>
          <a:ext cx="0" cy="0"/>
          <a:chOff x="0" y="0"/>
          <a:chExt cx="0" cy="0"/>
        </a:xfrm>
      </p:grpSpPr>
      <p:sp>
        <p:nvSpPr>
          <p:cNvPr id="212" name="Google Shape;212;p13"/>
          <p:cNvSpPr/>
          <p:nvPr/>
        </p:nvSpPr>
        <p:spPr>
          <a:xfrm>
            <a:off x="359663" y="1357889"/>
            <a:ext cx="11579878" cy="393179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916939" y="609676"/>
            <a:ext cx="847153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Virtual Circuit and Datagram Networks</a:t>
            </a:r>
            <a:endParaRPr sz="4400"/>
          </a:p>
        </p:txBody>
      </p:sp>
      <p:sp>
        <p:nvSpPr>
          <p:cNvPr id="218" name="Google Shape;218;p14"/>
          <p:cNvSpPr txBox="1"/>
          <p:nvPr/>
        </p:nvSpPr>
        <p:spPr>
          <a:xfrm>
            <a:off x="916939" y="1766062"/>
            <a:ext cx="10253345" cy="4100829"/>
          </a:xfrm>
          <a:prstGeom prst="rect">
            <a:avLst/>
          </a:prstGeom>
          <a:noFill/>
          <a:ln>
            <a:noFill/>
          </a:ln>
        </p:spPr>
        <p:txBody>
          <a:bodyPr anchorCtr="0" anchor="t" bIns="0" lIns="0" spcFirstLastPara="1" rIns="0" wrap="square" tIns="92075">
            <a:spAutoFit/>
          </a:bodyPr>
          <a:lstStyle/>
          <a:p>
            <a:pPr indent="-228600" lvl="0" marL="241300" marR="448309" rtl="0" algn="l">
              <a:lnSpc>
                <a:spcPct val="80000"/>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Network layer can provide connectionless service or connection service  between two hosts.</a:t>
            </a:r>
            <a:endParaRPr sz="2600">
              <a:solidFill>
                <a:schemeClr val="dk1"/>
              </a:solidFill>
              <a:latin typeface="Arial"/>
              <a:ea typeface="Arial"/>
              <a:cs typeface="Arial"/>
              <a:sym typeface="Arial"/>
            </a:endParaRPr>
          </a:p>
          <a:p>
            <a:pPr indent="-228600" lvl="0" marL="241300" marR="42545" rtl="0" algn="l">
              <a:lnSpc>
                <a:spcPct val="80000"/>
              </a:lnSpc>
              <a:spcBef>
                <a:spcPts val="1000"/>
              </a:spcBef>
              <a:spcAft>
                <a:spcPts val="0"/>
              </a:spcAft>
              <a:buClr>
                <a:schemeClr val="dk1"/>
              </a:buClr>
              <a:buSzPts val="2600"/>
              <a:buFont typeface="Arial"/>
              <a:buChar char="•"/>
            </a:pPr>
            <a:r>
              <a:rPr lang="en-US" sz="2600">
                <a:solidFill>
                  <a:schemeClr val="dk1"/>
                </a:solidFill>
                <a:latin typeface="Arial"/>
                <a:ea typeface="Arial"/>
                <a:cs typeface="Arial"/>
                <a:sym typeface="Arial"/>
              </a:rPr>
              <a:t>A network- layer connection service begins with handshaking between the  source and destination hosts; and a network-layer connectionless service  does not have any handshaking preliminaries.</a:t>
            </a:r>
            <a:endParaRPr sz="2600">
              <a:solidFill>
                <a:schemeClr val="dk1"/>
              </a:solidFill>
              <a:latin typeface="Arial"/>
              <a:ea typeface="Arial"/>
              <a:cs typeface="Arial"/>
              <a:sym typeface="Arial"/>
            </a:endParaRPr>
          </a:p>
          <a:p>
            <a:pPr indent="-228600" lvl="0" marL="241300" marR="5080" rtl="0" algn="l">
              <a:lnSpc>
                <a:spcPct val="80000"/>
              </a:lnSpc>
              <a:spcBef>
                <a:spcPts val="1005"/>
              </a:spcBef>
              <a:spcAft>
                <a:spcPts val="0"/>
              </a:spcAft>
              <a:buClr>
                <a:schemeClr val="dk1"/>
              </a:buClr>
              <a:buSzPts val="2600"/>
              <a:buFont typeface="Arial"/>
              <a:buChar char="•"/>
            </a:pPr>
            <a:r>
              <a:rPr lang="en-US" sz="2600">
                <a:solidFill>
                  <a:schemeClr val="dk1"/>
                </a:solidFill>
                <a:latin typeface="Arial"/>
                <a:ea typeface="Arial"/>
                <a:cs typeface="Arial"/>
                <a:sym typeface="Arial"/>
              </a:rPr>
              <a:t>There are crucial differences from transport-layer connection-oriented and  connectionless services:</a:t>
            </a:r>
            <a:endParaRPr sz="2600">
              <a:solidFill>
                <a:schemeClr val="dk1"/>
              </a:solidFill>
              <a:latin typeface="Arial"/>
              <a:ea typeface="Arial"/>
              <a:cs typeface="Arial"/>
              <a:sym typeface="Arial"/>
            </a:endParaRPr>
          </a:p>
          <a:p>
            <a:pPr indent="-228600" lvl="0" marL="241300" marR="494030" rtl="0" algn="l">
              <a:lnSpc>
                <a:spcPct val="96153"/>
              </a:lnSpc>
              <a:spcBef>
                <a:spcPts val="975"/>
              </a:spcBef>
              <a:spcAft>
                <a:spcPts val="0"/>
              </a:spcAft>
              <a:buClr>
                <a:schemeClr val="dk1"/>
              </a:buClr>
              <a:buSzPts val="2600"/>
              <a:buFont typeface="Arial"/>
              <a:buChar char="•"/>
            </a:pPr>
            <a:r>
              <a:rPr lang="en-US" sz="2600">
                <a:solidFill>
                  <a:schemeClr val="dk1"/>
                </a:solidFill>
                <a:latin typeface="Arial"/>
                <a:ea typeface="Arial"/>
                <a:cs typeface="Arial"/>
                <a:sym typeface="Arial"/>
              </a:rPr>
              <a:t>In the network layer, these services are host-to-host services. transport  layer these services are process to- process services.</a:t>
            </a:r>
            <a:endParaRPr sz="2600">
              <a:solidFill>
                <a:schemeClr val="dk1"/>
              </a:solidFill>
              <a:latin typeface="Arial"/>
              <a:ea typeface="Arial"/>
              <a:cs typeface="Arial"/>
              <a:sym typeface="Arial"/>
            </a:endParaRPr>
          </a:p>
          <a:p>
            <a:pPr indent="-228600" lvl="0" marL="241300" marR="512444" rtl="0" algn="l">
              <a:lnSpc>
                <a:spcPct val="96153"/>
              </a:lnSpc>
              <a:spcBef>
                <a:spcPts val="990"/>
              </a:spcBef>
              <a:spcAft>
                <a:spcPts val="0"/>
              </a:spcAft>
              <a:buClr>
                <a:schemeClr val="dk1"/>
              </a:buClr>
              <a:buSzPts val="2600"/>
              <a:buFont typeface="Arial"/>
              <a:buChar char="•"/>
            </a:pPr>
            <a:r>
              <a:rPr lang="en-US" sz="2600">
                <a:solidFill>
                  <a:schemeClr val="dk1"/>
                </a:solidFill>
                <a:latin typeface="Arial"/>
                <a:ea typeface="Arial"/>
                <a:cs typeface="Arial"/>
                <a:sym typeface="Arial"/>
              </a:rPr>
              <a:t>Computer network architectures does not provide both connectionless  service or a host-to-host connection service at same time.</a:t>
            </a:r>
            <a:endParaRPr sz="26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2" name="Shape 222"/>
        <p:cNvGrpSpPr/>
        <p:nvPr/>
      </p:nvGrpSpPr>
      <p:grpSpPr>
        <a:xfrm>
          <a:off x="0" y="0"/>
          <a:ext cx="0" cy="0"/>
          <a:chOff x="0" y="0"/>
          <a:chExt cx="0" cy="0"/>
        </a:xfrm>
      </p:grpSpPr>
      <p:sp>
        <p:nvSpPr>
          <p:cNvPr id="223" name="Google Shape;223;p15"/>
          <p:cNvSpPr txBox="1"/>
          <p:nvPr/>
        </p:nvSpPr>
        <p:spPr>
          <a:xfrm>
            <a:off x="916939" y="764540"/>
            <a:ext cx="10217150" cy="3137535"/>
          </a:xfrm>
          <a:prstGeom prst="rect">
            <a:avLst/>
          </a:prstGeom>
          <a:noFill/>
          <a:ln>
            <a:noFill/>
          </a:ln>
        </p:spPr>
        <p:txBody>
          <a:bodyPr anchorCtr="0" anchor="t" bIns="0" lIns="0" spcFirstLastPara="1" rIns="0" wrap="square" tIns="60950">
            <a:spAutoFit/>
          </a:bodyPr>
          <a:lstStyle/>
          <a:p>
            <a:pPr indent="-228600" lvl="0" marL="241300" marR="586105"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Computer networks that provide only a connection service at the  network layer are called </a:t>
            </a:r>
            <a:r>
              <a:rPr b="1" lang="en-US" sz="2800">
                <a:solidFill>
                  <a:schemeClr val="dk1"/>
                </a:solidFill>
                <a:latin typeface="Arial"/>
                <a:ea typeface="Arial"/>
                <a:cs typeface="Arial"/>
                <a:sym typeface="Arial"/>
              </a:rPr>
              <a:t>virtual-circuit </a:t>
            </a:r>
            <a:r>
              <a:rPr lang="en-US" sz="2800">
                <a:solidFill>
                  <a:schemeClr val="dk1"/>
                </a:solidFill>
                <a:latin typeface="Arial"/>
                <a:ea typeface="Arial"/>
                <a:cs typeface="Arial"/>
                <a:sym typeface="Arial"/>
              </a:rPr>
              <a:t>(</a:t>
            </a:r>
            <a:r>
              <a:rPr b="1" lang="en-US" sz="2800">
                <a:solidFill>
                  <a:schemeClr val="dk1"/>
                </a:solidFill>
                <a:latin typeface="Arial"/>
                <a:ea typeface="Arial"/>
                <a:cs typeface="Arial"/>
                <a:sym typeface="Arial"/>
              </a:rPr>
              <a:t>VC</a:t>
            </a:r>
            <a:r>
              <a:rPr lang="en-US" sz="2800">
                <a:solidFill>
                  <a:schemeClr val="dk1"/>
                </a:solidFill>
                <a:latin typeface="Arial"/>
                <a:ea typeface="Arial"/>
                <a:cs typeface="Arial"/>
                <a:sym typeface="Arial"/>
              </a:rPr>
              <a:t>) </a:t>
            </a:r>
            <a:r>
              <a:rPr b="1" lang="en-US" sz="2800">
                <a:solidFill>
                  <a:schemeClr val="dk1"/>
                </a:solidFill>
                <a:latin typeface="Arial"/>
                <a:ea typeface="Arial"/>
                <a:cs typeface="Arial"/>
                <a:sym typeface="Arial"/>
              </a:rPr>
              <a:t>networks</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5080" rtl="0" algn="l">
              <a:lnSpc>
                <a:spcPct val="107857"/>
              </a:lnSpc>
              <a:spcBef>
                <a:spcPts val="101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computer networks that provide only a connectionless service at the  network layer are called </a:t>
            </a:r>
            <a:r>
              <a:rPr b="1" lang="en-US" sz="2800">
                <a:solidFill>
                  <a:schemeClr val="dk1"/>
                </a:solidFill>
                <a:latin typeface="Arial"/>
                <a:ea typeface="Arial"/>
                <a:cs typeface="Arial"/>
                <a:sym typeface="Arial"/>
              </a:rPr>
              <a:t>datagram networks</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0" lvl="0" marL="0" marR="0" rtl="0" algn="l">
              <a:lnSpc>
                <a:spcPct val="100000"/>
              </a:lnSpc>
              <a:spcBef>
                <a:spcPts val="25"/>
              </a:spcBef>
              <a:spcAft>
                <a:spcPts val="0"/>
              </a:spcAft>
              <a:buClr>
                <a:schemeClr val="dk1"/>
              </a:buClr>
              <a:buSzPts val="4100"/>
              <a:buFont typeface="Arial"/>
              <a:buNone/>
            </a:pPr>
            <a:r>
              <a:t/>
            </a:r>
            <a:endParaRPr sz="4100">
              <a:solidFill>
                <a:schemeClr val="dk1"/>
              </a:solidFill>
              <a:latin typeface="Arial"/>
              <a:ea typeface="Arial"/>
              <a:cs typeface="Arial"/>
              <a:sym typeface="Arial"/>
            </a:endParaRPr>
          </a:p>
          <a:p>
            <a:pPr indent="-228600" lvl="0" marL="241300" marR="202565"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network-layer connection service is implemented in the routers  in the network core as well as in the end systems.</a:t>
            </a:r>
            <a:endParaRPr sz="2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sp>
        <p:nvSpPr>
          <p:cNvPr id="228" name="Google Shape;228;p16"/>
          <p:cNvSpPr txBox="1"/>
          <p:nvPr>
            <p:ph type="title"/>
          </p:nvPr>
        </p:nvSpPr>
        <p:spPr>
          <a:xfrm>
            <a:off x="2025142" y="318338"/>
            <a:ext cx="323532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Virtual circuits</a:t>
            </a:r>
            <a:endParaRPr sz="4400"/>
          </a:p>
        </p:txBody>
      </p:sp>
      <p:sp>
        <p:nvSpPr>
          <p:cNvPr id="229" name="Google Shape;229;p16"/>
          <p:cNvSpPr txBox="1"/>
          <p:nvPr/>
        </p:nvSpPr>
        <p:spPr>
          <a:xfrm>
            <a:off x="5631941"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230" name="Google Shape;230;p16"/>
          <p:cNvSpPr txBox="1"/>
          <p:nvPr/>
        </p:nvSpPr>
        <p:spPr>
          <a:xfrm>
            <a:off x="10968990"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4-16</a:t>
            </a:r>
            <a:endParaRPr sz="1200">
              <a:solidFill>
                <a:schemeClr val="dk1"/>
              </a:solidFill>
              <a:latin typeface="Arial"/>
              <a:ea typeface="Arial"/>
              <a:cs typeface="Arial"/>
              <a:sym typeface="Arial"/>
            </a:endParaRPr>
          </a:p>
        </p:txBody>
      </p:sp>
      <p:sp>
        <p:nvSpPr>
          <p:cNvPr id="231" name="Google Shape;231;p16"/>
          <p:cNvSpPr txBox="1"/>
          <p:nvPr/>
        </p:nvSpPr>
        <p:spPr>
          <a:xfrm>
            <a:off x="2250694" y="1720037"/>
            <a:ext cx="8035925" cy="3906520"/>
          </a:xfrm>
          <a:prstGeom prst="rect">
            <a:avLst/>
          </a:prstGeom>
          <a:noFill/>
          <a:ln>
            <a:noFill/>
          </a:ln>
        </p:spPr>
        <p:txBody>
          <a:bodyPr anchorCtr="0" anchor="t" bIns="0" lIns="0" spcFirstLastPara="1" rIns="0" wrap="square" tIns="60325">
            <a:spAutoFit/>
          </a:bodyPr>
          <a:lstStyle/>
          <a:p>
            <a:pPr indent="-228600" lvl="0" marL="241300" marR="6985" rtl="0" algn="l">
              <a:lnSpc>
                <a:spcPct val="108214"/>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Call	setup,	teardown	for	each	call	</a:t>
            </a:r>
            <a:r>
              <a:rPr i="1" lang="en-US" sz="2800">
                <a:solidFill>
                  <a:schemeClr val="dk1"/>
                </a:solidFill>
                <a:latin typeface="Arial"/>
                <a:ea typeface="Arial"/>
                <a:cs typeface="Arial"/>
                <a:sym typeface="Arial"/>
              </a:rPr>
              <a:t>before	</a:t>
            </a:r>
            <a:r>
              <a:rPr lang="en-US" sz="2800">
                <a:solidFill>
                  <a:schemeClr val="dk1"/>
                </a:solidFill>
                <a:latin typeface="Arial"/>
                <a:ea typeface="Arial"/>
                <a:cs typeface="Arial"/>
                <a:sym typeface="Arial"/>
              </a:rPr>
              <a:t>data can  flow</a:t>
            </a:r>
            <a:endParaRPr sz="2800">
              <a:solidFill>
                <a:schemeClr val="dk1"/>
              </a:solidFill>
              <a:latin typeface="Arial"/>
              <a:ea typeface="Arial"/>
              <a:cs typeface="Arial"/>
              <a:sym typeface="Arial"/>
            </a:endParaRPr>
          </a:p>
          <a:p>
            <a:pPr indent="-228600" lvl="0" marL="241300" marR="8890" rtl="0" algn="l">
              <a:lnSpc>
                <a:spcPct val="107857"/>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Each packet carries VC identifier (not destination host  address)</a:t>
            </a:r>
            <a:endParaRPr sz="2800">
              <a:solidFill>
                <a:schemeClr val="dk1"/>
              </a:solidFill>
              <a:latin typeface="Arial"/>
              <a:ea typeface="Arial"/>
              <a:cs typeface="Arial"/>
              <a:sym typeface="Arial"/>
            </a:endParaRPr>
          </a:p>
          <a:p>
            <a:pPr indent="-228600" lvl="0" marL="241300" marR="0" rtl="0" algn="l">
              <a:lnSpc>
                <a:spcPct val="115000"/>
              </a:lnSpc>
              <a:spcBef>
                <a:spcPts val="620"/>
              </a:spcBef>
              <a:spcAft>
                <a:spcPts val="0"/>
              </a:spcAft>
              <a:buClr>
                <a:schemeClr val="dk1"/>
              </a:buClr>
              <a:buSzPts val="2800"/>
              <a:buFont typeface="Arial"/>
              <a:buChar char="•"/>
            </a:pPr>
            <a:r>
              <a:rPr i="1" lang="en-US" sz="2800">
                <a:solidFill>
                  <a:schemeClr val="dk1"/>
                </a:solidFill>
                <a:latin typeface="Arial"/>
                <a:ea typeface="Arial"/>
                <a:cs typeface="Arial"/>
                <a:sym typeface="Arial"/>
              </a:rPr>
              <a:t>Every	</a:t>
            </a:r>
            <a:r>
              <a:rPr lang="en-US" sz="2800">
                <a:solidFill>
                  <a:schemeClr val="dk1"/>
                </a:solidFill>
                <a:latin typeface="Arial"/>
                <a:ea typeface="Arial"/>
                <a:cs typeface="Arial"/>
                <a:sym typeface="Arial"/>
              </a:rPr>
              <a:t>router	on	source-destination path maintains “state” for each passing connection</a:t>
            </a:r>
            <a:endParaRPr sz="2800">
              <a:solidFill>
                <a:schemeClr val="dk1"/>
              </a:solidFill>
              <a:latin typeface="Arial"/>
              <a:ea typeface="Arial"/>
              <a:cs typeface="Arial"/>
              <a:sym typeface="Arial"/>
            </a:endParaRPr>
          </a:p>
          <a:p>
            <a:pPr indent="-228600" lvl="0" marL="241300" marR="5080" rtl="0" algn="just">
              <a:lnSpc>
                <a:spcPct val="90000"/>
              </a:lnSpc>
              <a:spcBef>
                <a:spcPts val="940"/>
              </a:spcBef>
              <a:spcAft>
                <a:spcPts val="0"/>
              </a:spcAft>
              <a:buClr>
                <a:schemeClr val="dk1"/>
              </a:buClr>
              <a:buSzPts val="2800"/>
              <a:buFont typeface="Arial"/>
              <a:buChar char="•"/>
            </a:pPr>
            <a:r>
              <a:rPr lang="en-US" sz="2800">
                <a:solidFill>
                  <a:schemeClr val="dk1"/>
                </a:solidFill>
                <a:latin typeface="Arial"/>
                <a:ea typeface="Arial"/>
                <a:cs typeface="Arial"/>
                <a:sym typeface="Arial"/>
              </a:rPr>
              <a:t>link, router resources (bandwidth, buffers) may be  </a:t>
            </a:r>
            <a:r>
              <a:rPr i="1" lang="en-US" sz="2800">
                <a:solidFill>
                  <a:schemeClr val="dk1"/>
                </a:solidFill>
                <a:latin typeface="Arial"/>
                <a:ea typeface="Arial"/>
                <a:cs typeface="Arial"/>
                <a:sym typeface="Arial"/>
              </a:rPr>
              <a:t>allocated </a:t>
            </a:r>
            <a:r>
              <a:rPr lang="en-US" sz="2800">
                <a:solidFill>
                  <a:schemeClr val="dk1"/>
                </a:solidFill>
                <a:latin typeface="Arial"/>
                <a:ea typeface="Arial"/>
                <a:cs typeface="Arial"/>
                <a:sym typeface="Arial"/>
              </a:rPr>
              <a:t>to VC (dedicated resources = predictable  service)</a:t>
            </a:r>
            <a:endParaRPr sz="2800">
              <a:solidFill>
                <a:schemeClr val="dk1"/>
              </a:solidFill>
              <a:latin typeface="Arial"/>
              <a:ea typeface="Arial"/>
              <a:cs typeface="Arial"/>
              <a:sym typeface="Arial"/>
            </a:endParaRPr>
          </a:p>
        </p:txBody>
      </p:sp>
      <p:sp>
        <p:nvSpPr>
          <p:cNvPr id="232" name="Google Shape;232;p16"/>
          <p:cNvSpPr/>
          <p:nvPr/>
        </p:nvSpPr>
        <p:spPr>
          <a:xfrm>
            <a:off x="4191000" y="990600"/>
            <a:ext cx="3656076" cy="1737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p17"/>
          <p:cNvSpPr txBox="1"/>
          <p:nvPr>
            <p:ph type="title"/>
          </p:nvPr>
        </p:nvSpPr>
        <p:spPr>
          <a:xfrm>
            <a:off x="916939" y="609676"/>
            <a:ext cx="434086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VC implementation</a:t>
            </a:r>
            <a:endParaRPr sz="4400"/>
          </a:p>
        </p:txBody>
      </p:sp>
      <p:sp>
        <p:nvSpPr>
          <p:cNvPr id="238" name="Google Shape;238;p17"/>
          <p:cNvSpPr txBox="1"/>
          <p:nvPr/>
        </p:nvSpPr>
        <p:spPr>
          <a:xfrm>
            <a:off x="5631941"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239" name="Google Shape;239;p17"/>
          <p:cNvSpPr txBox="1"/>
          <p:nvPr/>
        </p:nvSpPr>
        <p:spPr>
          <a:xfrm>
            <a:off x="10968990"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4-17</a:t>
            </a:r>
            <a:endParaRPr sz="1200">
              <a:solidFill>
                <a:schemeClr val="dk1"/>
              </a:solidFill>
              <a:latin typeface="Arial"/>
              <a:ea typeface="Arial"/>
              <a:cs typeface="Arial"/>
              <a:sym typeface="Arial"/>
            </a:endParaRPr>
          </a:p>
        </p:txBody>
      </p:sp>
      <p:sp>
        <p:nvSpPr>
          <p:cNvPr id="240" name="Google Shape;240;p17"/>
          <p:cNvSpPr txBox="1"/>
          <p:nvPr/>
        </p:nvSpPr>
        <p:spPr>
          <a:xfrm>
            <a:off x="916939" y="1757274"/>
            <a:ext cx="9125585" cy="3470275"/>
          </a:xfrm>
          <a:prstGeom prst="rect">
            <a:avLst/>
          </a:prstGeom>
          <a:noFill/>
          <a:ln>
            <a:noFill/>
          </a:ln>
        </p:spPr>
        <p:txBody>
          <a:bodyPr anchorCtr="0" anchor="t" bIns="0" lIns="0" spcFirstLastPara="1" rIns="0" wrap="square" tIns="48250">
            <a:spAutoFit/>
          </a:bodyPr>
          <a:lstStyle/>
          <a:p>
            <a:pPr indent="0" lvl="0" marL="12700" marR="0" rtl="0" algn="l">
              <a:lnSpc>
                <a:spcPct val="100000"/>
              </a:lnSpc>
              <a:spcBef>
                <a:spcPts val="0"/>
              </a:spcBef>
              <a:spcAft>
                <a:spcPts val="0"/>
              </a:spcAft>
              <a:buNone/>
            </a:pPr>
            <a:r>
              <a:rPr i="1" lang="en-US" sz="2800">
                <a:solidFill>
                  <a:srgbClr val="CC0000"/>
                </a:solidFill>
                <a:latin typeface="Arial"/>
                <a:ea typeface="Arial"/>
                <a:cs typeface="Arial"/>
                <a:sym typeface="Arial"/>
              </a:rPr>
              <a:t>A VC consists of:</a:t>
            </a:r>
            <a:endParaRPr sz="2800">
              <a:solidFill>
                <a:schemeClr val="dk1"/>
              </a:solidFill>
              <a:latin typeface="Arial"/>
              <a:ea typeface="Arial"/>
              <a:cs typeface="Arial"/>
              <a:sym typeface="Arial"/>
            </a:endParaRPr>
          </a:p>
          <a:p>
            <a:pPr indent="-457834" lvl="0" marL="927100" marR="0" rtl="0" algn="l">
              <a:lnSpc>
                <a:spcPct val="100000"/>
              </a:lnSpc>
              <a:spcBef>
                <a:spcPts val="245"/>
              </a:spcBef>
              <a:spcAft>
                <a:spcPts val="0"/>
              </a:spcAft>
              <a:buClr>
                <a:srgbClr val="000000"/>
              </a:buClr>
              <a:buSzPts val="2400"/>
              <a:buFont typeface="Arial"/>
              <a:buAutoNum type="arabicPeriod"/>
            </a:pPr>
            <a:r>
              <a:rPr i="1" lang="en-US" sz="2400">
                <a:solidFill>
                  <a:srgbClr val="CC0000"/>
                </a:solidFill>
                <a:latin typeface="Arial"/>
                <a:ea typeface="Arial"/>
                <a:cs typeface="Arial"/>
                <a:sym typeface="Arial"/>
              </a:rPr>
              <a:t>path </a:t>
            </a:r>
            <a:r>
              <a:rPr lang="en-US" sz="2400">
                <a:solidFill>
                  <a:schemeClr val="dk1"/>
                </a:solidFill>
                <a:latin typeface="Arial"/>
                <a:ea typeface="Arial"/>
                <a:cs typeface="Arial"/>
                <a:sym typeface="Arial"/>
              </a:rPr>
              <a:t>from source to destination</a:t>
            </a:r>
            <a:endParaRPr sz="2400">
              <a:solidFill>
                <a:schemeClr val="dk1"/>
              </a:solidFill>
              <a:latin typeface="Arial"/>
              <a:ea typeface="Arial"/>
              <a:cs typeface="Arial"/>
              <a:sym typeface="Arial"/>
            </a:endParaRPr>
          </a:p>
          <a:p>
            <a:pPr indent="-457834" lvl="0" marL="927100" marR="0" rtl="0" algn="l">
              <a:lnSpc>
                <a:spcPct val="100000"/>
              </a:lnSpc>
              <a:spcBef>
                <a:spcPts val="219"/>
              </a:spcBef>
              <a:spcAft>
                <a:spcPts val="0"/>
              </a:spcAft>
              <a:buClr>
                <a:srgbClr val="000000"/>
              </a:buClr>
              <a:buSzPts val="2400"/>
              <a:buFont typeface="Arial"/>
              <a:buAutoNum type="arabicPeriod"/>
            </a:pPr>
            <a:r>
              <a:rPr i="1" lang="en-US" sz="2400">
                <a:solidFill>
                  <a:srgbClr val="CC0000"/>
                </a:solidFill>
                <a:latin typeface="Arial"/>
                <a:ea typeface="Arial"/>
                <a:cs typeface="Arial"/>
                <a:sym typeface="Arial"/>
              </a:rPr>
              <a:t>VC numbers</a:t>
            </a:r>
            <a:r>
              <a:rPr lang="en-US" sz="2400">
                <a:solidFill>
                  <a:schemeClr val="dk1"/>
                </a:solidFill>
                <a:latin typeface="Arial"/>
                <a:ea typeface="Arial"/>
                <a:cs typeface="Arial"/>
                <a:sym typeface="Arial"/>
              </a:rPr>
              <a:t>, one number for each link along path</a:t>
            </a:r>
            <a:endParaRPr sz="2400">
              <a:solidFill>
                <a:schemeClr val="dk1"/>
              </a:solidFill>
              <a:latin typeface="Arial"/>
              <a:ea typeface="Arial"/>
              <a:cs typeface="Arial"/>
              <a:sym typeface="Arial"/>
            </a:endParaRPr>
          </a:p>
          <a:p>
            <a:pPr indent="-457834" lvl="0" marL="927100" marR="0" rtl="0" algn="l">
              <a:lnSpc>
                <a:spcPct val="100000"/>
              </a:lnSpc>
              <a:spcBef>
                <a:spcPts val="200"/>
              </a:spcBef>
              <a:spcAft>
                <a:spcPts val="0"/>
              </a:spcAft>
              <a:buClr>
                <a:srgbClr val="000000"/>
              </a:buClr>
              <a:buSzPts val="2400"/>
              <a:buFont typeface="Arial"/>
              <a:buAutoNum type="arabicPeriod"/>
            </a:pPr>
            <a:r>
              <a:rPr i="1" lang="en-US" sz="2400">
                <a:solidFill>
                  <a:srgbClr val="CC0000"/>
                </a:solidFill>
                <a:latin typeface="Arial"/>
                <a:ea typeface="Arial"/>
                <a:cs typeface="Arial"/>
                <a:sym typeface="Arial"/>
              </a:rPr>
              <a:t>entries in forwarding tables </a:t>
            </a:r>
            <a:r>
              <a:rPr lang="en-US" sz="2400">
                <a:solidFill>
                  <a:schemeClr val="dk1"/>
                </a:solidFill>
                <a:latin typeface="Arial"/>
                <a:ea typeface="Arial"/>
                <a:cs typeface="Arial"/>
                <a:sym typeface="Arial"/>
              </a:rPr>
              <a:t>in routers along path</a:t>
            </a:r>
            <a:endParaRPr sz="2400">
              <a:solidFill>
                <a:schemeClr val="dk1"/>
              </a:solidFill>
              <a:latin typeface="Arial"/>
              <a:ea typeface="Arial"/>
              <a:cs typeface="Arial"/>
              <a:sym typeface="Arial"/>
            </a:endParaRPr>
          </a:p>
          <a:p>
            <a:pPr indent="-534035" lvl="0" marL="546100" marR="5080" rtl="0" algn="l">
              <a:lnSpc>
                <a:spcPct val="107857"/>
              </a:lnSpc>
              <a:spcBef>
                <a:spcPts val="1030"/>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packet belonging to VC carries VC number (rather than dest  address)</a:t>
            </a:r>
            <a:endParaRPr sz="2800">
              <a:solidFill>
                <a:schemeClr val="dk1"/>
              </a:solidFill>
              <a:latin typeface="Arial"/>
              <a:ea typeface="Arial"/>
              <a:cs typeface="Arial"/>
              <a:sym typeface="Arial"/>
            </a:endParaRPr>
          </a:p>
          <a:p>
            <a:pPr indent="-534035" lvl="0" marL="546100" marR="0" rtl="0" algn="l">
              <a:lnSpc>
                <a:spcPct val="100000"/>
              </a:lnSpc>
              <a:spcBef>
                <a:spcPts val="620"/>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VC number can be changed on each link.</a:t>
            </a:r>
            <a:endParaRPr sz="2800">
              <a:solidFill>
                <a:schemeClr val="dk1"/>
              </a:solidFill>
              <a:latin typeface="Arial"/>
              <a:ea typeface="Arial"/>
              <a:cs typeface="Arial"/>
              <a:sym typeface="Arial"/>
            </a:endParaRPr>
          </a:p>
          <a:p>
            <a:pPr indent="-457834" lvl="1" marL="927100" marR="0" rtl="0" algn="l">
              <a:lnSpc>
                <a:spcPct val="100000"/>
              </a:lnSpc>
              <a:spcBef>
                <a:spcPts val="245"/>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new VC number comes from forwarding table</a:t>
            </a:r>
            <a:endParaRPr b="0" i="0" sz="2400" u="none" cap="none" strike="noStrike">
              <a:solidFill>
                <a:schemeClr val="dk1"/>
              </a:solidFill>
              <a:latin typeface="Arial"/>
              <a:ea typeface="Arial"/>
              <a:cs typeface="Arial"/>
              <a:sym typeface="Arial"/>
            </a:endParaRPr>
          </a:p>
        </p:txBody>
      </p:sp>
      <p:sp>
        <p:nvSpPr>
          <p:cNvPr id="241" name="Google Shape;241;p17"/>
          <p:cNvSpPr/>
          <p:nvPr/>
        </p:nvSpPr>
        <p:spPr>
          <a:xfrm>
            <a:off x="3962400" y="1143000"/>
            <a:ext cx="4570476" cy="1737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g351778bc9ab_0_7"/>
          <p:cNvPicPr preferRelativeResize="0"/>
          <p:nvPr/>
        </p:nvPicPr>
        <p:blipFill>
          <a:blip r:embed="rId3">
            <a:alphaModFix/>
          </a:blip>
          <a:stretch>
            <a:fillRect/>
          </a:stretch>
        </p:blipFill>
        <p:spPr>
          <a:xfrm>
            <a:off x="1699925" y="1249300"/>
            <a:ext cx="8801124" cy="4499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18"/>
          <p:cNvSpPr txBox="1"/>
          <p:nvPr>
            <p:ph type="title"/>
          </p:nvPr>
        </p:nvSpPr>
        <p:spPr>
          <a:xfrm>
            <a:off x="1972817" y="296926"/>
            <a:ext cx="445516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VC forwarding table</a:t>
            </a:r>
            <a:endParaRPr sz="4400"/>
          </a:p>
        </p:txBody>
      </p:sp>
      <p:sp>
        <p:nvSpPr>
          <p:cNvPr id="252" name="Google Shape;252;p18"/>
          <p:cNvSpPr txBox="1"/>
          <p:nvPr/>
        </p:nvSpPr>
        <p:spPr>
          <a:xfrm>
            <a:off x="5631941"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253" name="Google Shape;253;p18"/>
          <p:cNvSpPr txBox="1"/>
          <p:nvPr/>
        </p:nvSpPr>
        <p:spPr>
          <a:xfrm>
            <a:off x="10968990"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4-18</a:t>
            </a:r>
            <a:endParaRPr sz="1200">
              <a:solidFill>
                <a:schemeClr val="dk1"/>
              </a:solidFill>
              <a:latin typeface="Arial"/>
              <a:ea typeface="Arial"/>
              <a:cs typeface="Arial"/>
              <a:sym typeface="Arial"/>
            </a:endParaRPr>
          </a:p>
        </p:txBody>
      </p:sp>
      <p:grpSp>
        <p:nvGrpSpPr>
          <p:cNvPr id="254" name="Google Shape;254;p18"/>
          <p:cNvGrpSpPr/>
          <p:nvPr/>
        </p:nvGrpSpPr>
        <p:grpSpPr>
          <a:xfrm>
            <a:off x="6858000" y="1266542"/>
            <a:ext cx="3116580" cy="1438910"/>
            <a:chOff x="6858000" y="1266542"/>
            <a:chExt cx="3116580" cy="1438910"/>
          </a:xfrm>
        </p:grpSpPr>
        <p:sp>
          <p:nvSpPr>
            <p:cNvPr id="255" name="Google Shape;255;p18"/>
            <p:cNvSpPr/>
            <p:nvPr/>
          </p:nvSpPr>
          <p:spPr>
            <a:xfrm>
              <a:off x="7024416" y="1266542"/>
              <a:ext cx="2753360" cy="1438910"/>
            </a:xfrm>
            <a:custGeom>
              <a:rect b="b" l="l" r="r" t="t"/>
              <a:pathLst>
                <a:path extrusionOk="0" h="1438910" w="2753359">
                  <a:moveTo>
                    <a:pt x="1628452" y="0"/>
                  </a:moveTo>
                  <a:lnTo>
                    <a:pt x="1576535" y="2124"/>
                  </a:lnTo>
                  <a:lnTo>
                    <a:pt x="1524557" y="6388"/>
                  </a:lnTo>
                  <a:lnTo>
                    <a:pt x="1472598" y="12498"/>
                  </a:lnTo>
                  <a:lnTo>
                    <a:pt x="1420736" y="20156"/>
                  </a:lnTo>
                  <a:lnTo>
                    <a:pt x="1369052" y="29068"/>
                  </a:lnTo>
                  <a:lnTo>
                    <a:pt x="1317625" y="38938"/>
                  </a:lnTo>
                  <a:lnTo>
                    <a:pt x="1266536" y="49470"/>
                  </a:lnTo>
                  <a:lnTo>
                    <a:pt x="1116093" y="82080"/>
                  </a:lnTo>
                  <a:lnTo>
                    <a:pt x="1067152" y="92303"/>
                  </a:lnTo>
                  <a:lnTo>
                    <a:pt x="1018948" y="101710"/>
                  </a:lnTo>
                  <a:lnTo>
                    <a:pt x="971561" y="110005"/>
                  </a:lnTo>
                  <a:lnTo>
                    <a:pt x="925070" y="116892"/>
                  </a:lnTo>
                  <a:lnTo>
                    <a:pt x="879555" y="122075"/>
                  </a:lnTo>
                  <a:lnTo>
                    <a:pt x="825231" y="125743"/>
                  </a:lnTo>
                  <a:lnTo>
                    <a:pt x="770429" y="126942"/>
                  </a:lnTo>
                  <a:lnTo>
                    <a:pt x="715477" y="126209"/>
                  </a:lnTo>
                  <a:lnTo>
                    <a:pt x="660701" y="124081"/>
                  </a:lnTo>
                  <a:lnTo>
                    <a:pt x="606429" y="121092"/>
                  </a:lnTo>
                  <a:lnTo>
                    <a:pt x="500710" y="114679"/>
                  </a:lnTo>
                  <a:lnTo>
                    <a:pt x="449917" y="112327"/>
                  </a:lnTo>
                  <a:lnTo>
                    <a:pt x="400939" y="111258"/>
                  </a:lnTo>
                  <a:lnTo>
                    <a:pt x="354104" y="112009"/>
                  </a:lnTo>
                  <a:lnTo>
                    <a:pt x="309738" y="115117"/>
                  </a:lnTo>
                  <a:lnTo>
                    <a:pt x="268171" y="121116"/>
                  </a:lnTo>
                  <a:lnTo>
                    <a:pt x="229728" y="130544"/>
                  </a:lnTo>
                  <a:lnTo>
                    <a:pt x="163529" y="161826"/>
                  </a:lnTo>
                  <a:lnTo>
                    <a:pt x="131927" y="188306"/>
                  </a:lnTo>
                  <a:lnTo>
                    <a:pt x="104376" y="220361"/>
                  </a:lnTo>
                  <a:lnTo>
                    <a:pt x="80639" y="257254"/>
                  </a:lnTo>
                  <a:lnTo>
                    <a:pt x="60483" y="298249"/>
                  </a:lnTo>
                  <a:lnTo>
                    <a:pt x="43675" y="342608"/>
                  </a:lnTo>
                  <a:lnTo>
                    <a:pt x="29979" y="389594"/>
                  </a:lnTo>
                  <a:lnTo>
                    <a:pt x="19162" y="438470"/>
                  </a:lnTo>
                  <a:lnTo>
                    <a:pt x="10990" y="488500"/>
                  </a:lnTo>
                  <a:lnTo>
                    <a:pt x="5228" y="538946"/>
                  </a:lnTo>
                  <a:lnTo>
                    <a:pt x="1643" y="589071"/>
                  </a:lnTo>
                  <a:lnTo>
                    <a:pt x="0" y="638138"/>
                  </a:lnTo>
                  <a:lnTo>
                    <a:pt x="65" y="685411"/>
                  </a:lnTo>
                  <a:lnTo>
                    <a:pt x="1604" y="730151"/>
                  </a:lnTo>
                  <a:lnTo>
                    <a:pt x="3156" y="785937"/>
                  </a:lnTo>
                  <a:lnTo>
                    <a:pt x="9120" y="841116"/>
                  </a:lnTo>
                  <a:lnTo>
                    <a:pt x="19076" y="895347"/>
                  </a:lnTo>
                  <a:lnTo>
                    <a:pt x="32606" y="948286"/>
                  </a:lnTo>
                  <a:lnTo>
                    <a:pt x="49289" y="999591"/>
                  </a:lnTo>
                  <a:lnTo>
                    <a:pt x="68707" y="1048921"/>
                  </a:lnTo>
                  <a:lnTo>
                    <a:pt x="90440" y="1095934"/>
                  </a:lnTo>
                  <a:lnTo>
                    <a:pt x="114069" y="1140286"/>
                  </a:lnTo>
                  <a:lnTo>
                    <a:pt x="139174" y="1181636"/>
                  </a:lnTo>
                  <a:lnTo>
                    <a:pt x="165337" y="1219642"/>
                  </a:lnTo>
                  <a:lnTo>
                    <a:pt x="192136" y="1253962"/>
                  </a:lnTo>
                  <a:lnTo>
                    <a:pt x="219155" y="1284252"/>
                  </a:lnTo>
                  <a:lnTo>
                    <a:pt x="256275" y="1317421"/>
                  </a:lnTo>
                  <a:lnTo>
                    <a:pt x="295757" y="1342642"/>
                  </a:lnTo>
                  <a:lnTo>
                    <a:pt x="337735" y="1361261"/>
                  </a:lnTo>
                  <a:lnTo>
                    <a:pt x="382340" y="1374625"/>
                  </a:lnTo>
                  <a:lnTo>
                    <a:pt x="429706" y="1384079"/>
                  </a:lnTo>
                  <a:lnTo>
                    <a:pt x="479966" y="1390970"/>
                  </a:lnTo>
                  <a:lnTo>
                    <a:pt x="589695" y="1402448"/>
                  </a:lnTo>
                  <a:lnTo>
                    <a:pt x="692843" y="1415204"/>
                  </a:lnTo>
                  <a:lnTo>
                    <a:pt x="738025" y="1419943"/>
                  </a:lnTo>
                  <a:lnTo>
                    <a:pt x="784887" y="1423996"/>
                  </a:lnTo>
                  <a:lnTo>
                    <a:pt x="833336" y="1427417"/>
                  </a:lnTo>
                  <a:lnTo>
                    <a:pt x="883281" y="1430257"/>
                  </a:lnTo>
                  <a:lnTo>
                    <a:pt x="934630" y="1432567"/>
                  </a:lnTo>
                  <a:lnTo>
                    <a:pt x="987292" y="1434401"/>
                  </a:lnTo>
                  <a:lnTo>
                    <a:pt x="1041176" y="1435810"/>
                  </a:lnTo>
                  <a:lnTo>
                    <a:pt x="1096189" y="1436847"/>
                  </a:lnTo>
                  <a:lnTo>
                    <a:pt x="1152240" y="1437562"/>
                  </a:lnTo>
                  <a:lnTo>
                    <a:pt x="1209237" y="1438008"/>
                  </a:lnTo>
                  <a:lnTo>
                    <a:pt x="1325706" y="1438303"/>
                  </a:lnTo>
                  <a:lnTo>
                    <a:pt x="1525893" y="1437721"/>
                  </a:lnTo>
                  <a:lnTo>
                    <a:pt x="1635686" y="1436648"/>
                  </a:lnTo>
                  <a:lnTo>
                    <a:pt x="1747417" y="1434745"/>
                  </a:lnTo>
                  <a:lnTo>
                    <a:pt x="1802947" y="1433410"/>
                  </a:lnTo>
                  <a:lnTo>
                    <a:pt x="1857687" y="1431781"/>
                  </a:lnTo>
                  <a:lnTo>
                    <a:pt x="1911212" y="1429830"/>
                  </a:lnTo>
                  <a:lnTo>
                    <a:pt x="1963099" y="1427527"/>
                  </a:lnTo>
                  <a:lnTo>
                    <a:pt x="2012922" y="1424844"/>
                  </a:lnTo>
                  <a:lnTo>
                    <a:pt x="2060256" y="1421751"/>
                  </a:lnTo>
                  <a:lnTo>
                    <a:pt x="2104678" y="1418220"/>
                  </a:lnTo>
                  <a:lnTo>
                    <a:pt x="2145761" y="1414222"/>
                  </a:lnTo>
                  <a:lnTo>
                    <a:pt x="2183083" y="1409728"/>
                  </a:lnTo>
                  <a:lnTo>
                    <a:pt x="2244634" y="1403571"/>
                  </a:lnTo>
                  <a:lnTo>
                    <a:pt x="2296849" y="1401380"/>
                  </a:lnTo>
                  <a:lnTo>
                    <a:pt x="2341216" y="1400528"/>
                  </a:lnTo>
                  <a:lnTo>
                    <a:pt x="2379228" y="1398387"/>
                  </a:lnTo>
                  <a:lnTo>
                    <a:pt x="2442144" y="1379728"/>
                  </a:lnTo>
                  <a:lnTo>
                    <a:pt x="2497521" y="1324380"/>
                  </a:lnTo>
                  <a:lnTo>
                    <a:pt x="2526110" y="1276378"/>
                  </a:lnTo>
                  <a:lnTo>
                    <a:pt x="2558155" y="1213030"/>
                  </a:lnTo>
                  <a:lnTo>
                    <a:pt x="2576519" y="1174505"/>
                  </a:lnTo>
                  <a:lnTo>
                    <a:pt x="2595877" y="1132130"/>
                  </a:lnTo>
                  <a:lnTo>
                    <a:pt x="2615805" y="1086443"/>
                  </a:lnTo>
                  <a:lnTo>
                    <a:pt x="2635877" y="1037979"/>
                  </a:lnTo>
                  <a:lnTo>
                    <a:pt x="2655669" y="987278"/>
                  </a:lnTo>
                  <a:lnTo>
                    <a:pt x="2674755" y="934877"/>
                  </a:lnTo>
                  <a:lnTo>
                    <a:pt x="2692710" y="881312"/>
                  </a:lnTo>
                  <a:lnTo>
                    <a:pt x="2709111" y="827123"/>
                  </a:lnTo>
                  <a:lnTo>
                    <a:pt x="2723531" y="772845"/>
                  </a:lnTo>
                  <a:lnTo>
                    <a:pt x="2735546" y="719016"/>
                  </a:lnTo>
                  <a:lnTo>
                    <a:pt x="2744731" y="666175"/>
                  </a:lnTo>
                  <a:lnTo>
                    <a:pt x="2750660" y="614858"/>
                  </a:lnTo>
                  <a:lnTo>
                    <a:pt x="2752910" y="565603"/>
                  </a:lnTo>
                  <a:lnTo>
                    <a:pt x="2751055" y="518947"/>
                  </a:lnTo>
                  <a:lnTo>
                    <a:pt x="2744669" y="475428"/>
                  </a:lnTo>
                  <a:lnTo>
                    <a:pt x="2733329" y="435584"/>
                  </a:lnTo>
                  <a:lnTo>
                    <a:pt x="2716610" y="399951"/>
                  </a:lnTo>
                  <a:lnTo>
                    <a:pt x="2671403" y="341735"/>
                  </a:lnTo>
                  <a:lnTo>
                    <a:pt x="2641989" y="314231"/>
                  </a:lnTo>
                  <a:lnTo>
                    <a:pt x="2608532" y="287804"/>
                  </a:lnTo>
                  <a:lnTo>
                    <a:pt x="2571405" y="262462"/>
                  </a:lnTo>
                  <a:lnTo>
                    <a:pt x="2530983" y="238210"/>
                  </a:lnTo>
                  <a:lnTo>
                    <a:pt x="2487638" y="215053"/>
                  </a:lnTo>
                  <a:lnTo>
                    <a:pt x="2441744" y="193000"/>
                  </a:lnTo>
                  <a:lnTo>
                    <a:pt x="2393674" y="172054"/>
                  </a:lnTo>
                  <a:lnTo>
                    <a:pt x="2343801" y="152224"/>
                  </a:lnTo>
                  <a:lnTo>
                    <a:pt x="2292500" y="133514"/>
                  </a:lnTo>
                  <a:lnTo>
                    <a:pt x="2240143" y="115932"/>
                  </a:lnTo>
                  <a:lnTo>
                    <a:pt x="2187103" y="99483"/>
                  </a:lnTo>
                  <a:lnTo>
                    <a:pt x="2133755" y="84173"/>
                  </a:lnTo>
                  <a:lnTo>
                    <a:pt x="2080471" y="70009"/>
                  </a:lnTo>
                  <a:lnTo>
                    <a:pt x="2027625" y="56996"/>
                  </a:lnTo>
                  <a:lnTo>
                    <a:pt x="1975591" y="45142"/>
                  </a:lnTo>
                  <a:lnTo>
                    <a:pt x="1924741" y="34451"/>
                  </a:lnTo>
                  <a:lnTo>
                    <a:pt x="1875449" y="24931"/>
                  </a:lnTo>
                  <a:lnTo>
                    <a:pt x="1828088" y="16587"/>
                  </a:lnTo>
                  <a:lnTo>
                    <a:pt x="1783033" y="9426"/>
                  </a:lnTo>
                  <a:lnTo>
                    <a:pt x="1731780" y="3355"/>
                  </a:lnTo>
                  <a:lnTo>
                    <a:pt x="1680227" y="311"/>
                  </a:lnTo>
                  <a:lnTo>
                    <a:pt x="1628452" y="0"/>
                  </a:lnTo>
                  <a:close/>
                </a:path>
              </a:pathLst>
            </a:custGeom>
            <a:solidFill>
              <a:srgbClr val="66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8"/>
            <p:cNvSpPr/>
            <p:nvPr/>
          </p:nvSpPr>
          <p:spPr>
            <a:xfrm>
              <a:off x="6858000" y="1700783"/>
              <a:ext cx="3116580" cy="645160"/>
            </a:xfrm>
            <a:custGeom>
              <a:rect b="b" l="l" r="r" t="t"/>
              <a:pathLst>
                <a:path extrusionOk="0" h="645160" w="3116579">
                  <a:moveTo>
                    <a:pt x="798576" y="128015"/>
                  </a:moveTo>
                  <a:lnTo>
                    <a:pt x="798576" y="490727"/>
                  </a:lnTo>
                </a:path>
                <a:path extrusionOk="0" h="645160" w="3116579">
                  <a:moveTo>
                    <a:pt x="1094231" y="0"/>
                  </a:moveTo>
                  <a:lnTo>
                    <a:pt x="1892807" y="0"/>
                  </a:lnTo>
                </a:path>
                <a:path extrusionOk="0" h="645160" w="3116579">
                  <a:moveTo>
                    <a:pt x="1030224" y="630936"/>
                  </a:moveTo>
                  <a:lnTo>
                    <a:pt x="1854707" y="630936"/>
                  </a:lnTo>
                </a:path>
                <a:path extrusionOk="0" h="645160" w="3116579">
                  <a:moveTo>
                    <a:pt x="2110740" y="115824"/>
                  </a:moveTo>
                  <a:lnTo>
                    <a:pt x="2110740" y="490727"/>
                  </a:lnTo>
                </a:path>
                <a:path extrusionOk="0" h="645160" w="3116579">
                  <a:moveTo>
                    <a:pt x="0" y="12191"/>
                  </a:moveTo>
                  <a:lnTo>
                    <a:pt x="554735" y="12191"/>
                  </a:lnTo>
                </a:path>
                <a:path extrusionOk="0" h="645160" w="3116579">
                  <a:moveTo>
                    <a:pt x="2369820" y="12191"/>
                  </a:moveTo>
                  <a:lnTo>
                    <a:pt x="3116579" y="12191"/>
                  </a:lnTo>
                </a:path>
                <a:path extrusionOk="0" h="645160" w="3116579">
                  <a:moveTo>
                    <a:pt x="2318004" y="630936"/>
                  </a:moveTo>
                  <a:lnTo>
                    <a:pt x="2692907" y="644651"/>
                  </a:lnTo>
                </a:path>
                <a:path extrusionOk="0" h="645160" w="3116579">
                  <a:moveTo>
                    <a:pt x="347472" y="644651"/>
                  </a:moveTo>
                  <a:lnTo>
                    <a:pt x="566927" y="644651"/>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8"/>
            <p:cNvSpPr/>
            <p:nvPr/>
          </p:nvSpPr>
          <p:spPr>
            <a:xfrm>
              <a:off x="6954773" y="1623821"/>
              <a:ext cx="2967355" cy="12700"/>
            </a:xfrm>
            <a:custGeom>
              <a:rect b="b" l="l" r="r" t="t"/>
              <a:pathLst>
                <a:path extrusionOk="0" h="12700" w="2967354">
                  <a:moveTo>
                    <a:pt x="0" y="10667"/>
                  </a:moveTo>
                  <a:lnTo>
                    <a:pt x="409955" y="10667"/>
                  </a:lnTo>
                </a:path>
                <a:path extrusionOk="0" h="12700" w="2967354">
                  <a:moveTo>
                    <a:pt x="2385059" y="12191"/>
                  </a:moveTo>
                  <a:lnTo>
                    <a:pt x="2967228" y="12191"/>
                  </a:lnTo>
                </a:path>
                <a:path extrusionOk="0" h="12700" w="2967354">
                  <a:moveTo>
                    <a:pt x="1060703" y="0"/>
                  </a:moveTo>
                  <a:lnTo>
                    <a:pt x="1741931" y="0"/>
                  </a:lnTo>
                </a:path>
              </a:pathLst>
            </a:custGeom>
            <a:noFill/>
            <a:ln cap="flat" cmpd="sng" w="38100">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8"/>
          <p:cNvSpPr txBox="1"/>
          <p:nvPr/>
        </p:nvSpPr>
        <p:spPr>
          <a:xfrm>
            <a:off x="7113778" y="1375409"/>
            <a:ext cx="205740"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rgbClr val="CC0000"/>
                </a:solidFill>
                <a:latin typeface="Arial"/>
                <a:ea typeface="Arial"/>
                <a:cs typeface="Arial"/>
                <a:sym typeface="Arial"/>
              </a:rPr>
              <a:t>12</a:t>
            </a:r>
            <a:endParaRPr sz="1400">
              <a:solidFill>
                <a:schemeClr val="dk1"/>
              </a:solidFill>
              <a:latin typeface="Arial"/>
              <a:ea typeface="Arial"/>
              <a:cs typeface="Arial"/>
              <a:sym typeface="Arial"/>
            </a:endParaRPr>
          </a:p>
        </p:txBody>
      </p:sp>
      <p:sp>
        <p:nvSpPr>
          <p:cNvPr id="259" name="Google Shape;259;p18"/>
          <p:cNvSpPr txBox="1"/>
          <p:nvPr/>
        </p:nvSpPr>
        <p:spPr>
          <a:xfrm>
            <a:off x="8274177" y="1299209"/>
            <a:ext cx="206375"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rgbClr val="CC0000"/>
                </a:solidFill>
                <a:latin typeface="Arial"/>
                <a:ea typeface="Arial"/>
                <a:cs typeface="Arial"/>
                <a:sym typeface="Arial"/>
              </a:rPr>
              <a:t>22</a:t>
            </a:r>
            <a:endParaRPr sz="1400">
              <a:solidFill>
                <a:schemeClr val="dk1"/>
              </a:solidFill>
              <a:latin typeface="Arial"/>
              <a:ea typeface="Arial"/>
              <a:cs typeface="Arial"/>
              <a:sym typeface="Arial"/>
            </a:endParaRPr>
          </a:p>
        </p:txBody>
      </p:sp>
      <p:sp>
        <p:nvSpPr>
          <p:cNvPr id="260" name="Google Shape;260;p18"/>
          <p:cNvSpPr txBox="1"/>
          <p:nvPr/>
        </p:nvSpPr>
        <p:spPr>
          <a:xfrm>
            <a:off x="9433306" y="1337309"/>
            <a:ext cx="205740" cy="2393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rgbClr val="CC0000"/>
                </a:solidFill>
                <a:latin typeface="Arial"/>
                <a:ea typeface="Arial"/>
                <a:cs typeface="Arial"/>
                <a:sym typeface="Arial"/>
              </a:rPr>
              <a:t>32</a:t>
            </a:r>
            <a:endParaRPr sz="1400">
              <a:solidFill>
                <a:schemeClr val="dk1"/>
              </a:solidFill>
              <a:latin typeface="Arial"/>
              <a:ea typeface="Arial"/>
              <a:cs typeface="Arial"/>
              <a:sym typeface="Arial"/>
            </a:endParaRPr>
          </a:p>
        </p:txBody>
      </p:sp>
      <p:sp>
        <p:nvSpPr>
          <p:cNvPr id="261" name="Google Shape;261;p18"/>
          <p:cNvSpPr txBox="1"/>
          <p:nvPr/>
        </p:nvSpPr>
        <p:spPr>
          <a:xfrm>
            <a:off x="7282053" y="1685036"/>
            <a:ext cx="1282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1</a:t>
            </a:r>
            <a:endParaRPr sz="1600">
              <a:solidFill>
                <a:schemeClr val="dk1"/>
              </a:solidFill>
              <a:latin typeface="Arial"/>
              <a:ea typeface="Arial"/>
              <a:cs typeface="Arial"/>
              <a:sym typeface="Arial"/>
            </a:endParaRPr>
          </a:p>
        </p:txBody>
      </p:sp>
      <p:sp>
        <p:nvSpPr>
          <p:cNvPr id="262" name="Google Shape;262;p18"/>
          <p:cNvSpPr txBox="1"/>
          <p:nvPr/>
        </p:nvSpPr>
        <p:spPr>
          <a:xfrm>
            <a:off x="7669530" y="1799336"/>
            <a:ext cx="1282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263" name="Google Shape;263;p18"/>
          <p:cNvSpPr txBox="1"/>
          <p:nvPr/>
        </p:nvSpPr>
        <p:spPr>
          <a:xfrm>
            <a:off x="7979156" y="1645157"/>
            <a:ext cx="1282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3</a:t>
            </a:r>
            <a:endParaRPr sz="1600">
              <a:solidFill>
                <a:schemeClr val="dk1"/>
              </a:solidFill>
              <a:latin typeface="Arial"/>
              <a:ea typeface="Arial"/>
              <a:cs typeface="Arial"/>
              <a:sym typeface="Arial"/>
            </a:endParaRPr>
          </a:p>
        </p:txBody>
      </p:sp>
      <p:sp>
        <p:nvSpPr>
          <p:cNvPr id="264" name="Google Shape;264;p18"/>
          <p:cNvSpPr/>
          <p:nvPr/>
        </p:nvSpPr>
        <p:spPr>
          <a:xfrm>
            <a:off x="6792468" y="1522475"/>
            <a:ext cx="367665" cy="672465"/>
          </a:xfrm>
          <a:custGeom>
            <a:rect b="b" l="l" r="r" t="t"/>
            <a:pathLst>
              <a:path extrusionOk="0" h="672464" w="367665">
                <a:moveTo>
                  <a:pt x="0" y="672084"/>
                </a:moveTo>
                <a:lnTo>
                  <a:pt x="367283" y="0"/>
                </a:lnTo>
              </a:path>
            </a:pathLst>
          </a:custGeom>
          <a:noFill/>
          <a:ln cap="flat" cmpd="sng" w="9525">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8"/>
          <p:cNvSpPr txBox="1"/>
          <p:nvPr/>
        </p:nvSpPr>
        <p:spPr>
          <a:xfrm>
            <a:off x="5584952" y="1937258"/>
            <a:ext cx="1337945" cy="897255"/>
          </a:xfrm>
          <a:prstGeom prst="rect">
            <a:avLst/>
          </a:prstGeom>
          <a:noFill/>
          <a:ln>
            <a:noFill/>
          </a:ln>
        </p:spPr>
        <p:txBody>
          <a:bodyPr anchorCtr="0" anchor="t" bIns="0" lIns="0" spcFirstLastPara="1" rIns="0" wrap="square" tIns="57150">
            <a:spAutoFit/>
          </a:bodyPr>
          <a:lstStyle/>
          <a:p>
            <a:pPr indent="0" lvl="0" marL="12700" marR="0" rtl="0" algn="l">
              <a:lnSpc>
                <a:spcPct val="100000"/>
              </a:lnSpc>
              <a:spcBef>
                <a:spcPts val="0"/>
              </a:spcBef>
              <a:spcAft>
                <a:spcPts val="0"/>
              </a:spcAft>
              <a:buNone/>
            </a:pPr>
            <a:r>
              <a:rPr lang="en-US" sz="1800">
                <a:solidFill>
                  <a:srgbClr val="CC0000"/>
                </a:solidFill>
                <a:latin typeface="Arial"/>
                <a:ea typeface="Arial"/>
                <a:cs typeface="Arial"/>
                <a:sym typeface="Arial"/>
              </a:rPr>
              <a:t>VC number</a:t>
            </a:r>
            <a:endParaRPr sz="1800">
              <a:solidFill>
                <a:schemeClr val="dk1"/>
              </a:solidFill>
              <a:latin typeface="Arial"/>
              <a:ea typeface="Arial"/>
              <a:cs typeface="Arial"/>
              <a:sym typeface="Arial"/>
            </a:endParaRPr>
          </a:p>
          <a:p>
            <a:pPr indent="0" lvl="0" marL="501650" marR="0" rtl="0" algn="l">
              <a:lnSpc>
                <a:spcPct val="111111"/>
              </a:lnSpc>
              <a:spcBef>
                <a:spcPts val="350"/>
              </a:spcBef>
              <a:spcAft>
                <a:spcPts val="0"/>
              </a:spcAft>
              <a:buNone/>
            </a:pPr>
            <a:r>
              <a:rPr lang="en-US" sz="1800">
                <a:solidFill>
                  <a:schemeClr val="dk1"/>
                </a:solidFill>
                <a:latin typeface="Arial"/>
                <a:ea typeface="Arial"/>
                <a:cs typeface="Arial"/>
                <a:sym typeface="Arial"/>
              </a:rPr>
              <a:t>interface</a:t>
            </a:r>
            <a:endParaRPr sz="1800">
              <a:solidFill>
                <a:schemeClr val="dk1"/>
              </a:solidFill>
              <a:latin typeface="Arial"/>
              <a:ea typeface="Arial"/>
              <a:cs typeface="Arial"/>
              <a:sym typeface="Arial"/>
            </a:endParaRPr>
          </a:p>
          <a:p>
            <a:pPr indent="0" lvl="0" marL="501650" marR="0" rtl="0" algn="l">
              <a:lnSpc>
                <a:spcPct val="111111"/>
              </a:lnSpc>
              <a:spcBef>
                <a:spcPts val="0"/>
              </a:spcBef>
              <a:spcAft>
                <a:spcPts val="0"/>
              </a:spcAft>
              <a:buNone/>
            </a:pPr>
            <a:r>
              <a:rPr lang="en-US" sz="1800">
                <a:solidFill>
                  <a:schemeClr val="dk1"/>
                </a:solidFill>
                <a:latin typeface="Arial"/>
                <a:ea typeface="Arial"/>
                <a:cs typeface="Arial"/>
                <a:sym typeface="Arial"/>
              </a:rPr>
              <a:t>number</a:t>
            </a:r>
            <a:endParaRPr sz="1800">
              <a:solidFill>
                <a:schemeClr val="dk1"/>
              </a:solidFill>
              <a:latin typeface="Arial"/>
              <a:ea typeface="Arial"/>
              <a:cs typeface="Arial"/>
              <a:sym typeface="Arial"/>
            </a:endParaRPr>
          </a:p>
        </p:txBody>
      </p:sp>
      <p:grpSp>
        <p:nvGrpSpPr>
          <p:cNvPr id="266" name="Google Shape;266;p18"/>
          <p:cNvGrpSpPr/>
          <p:nvPr/>
        </p:nvGrpSpPr>
        <p:grpSpPr>
          <a:xfrm>
            <a:off x="6350508" y="1403603"/>
            <a:ext cx="4084320" cy="1094994"/>
            <a:chOff x="6350508" y="1403603"/>
            <a:chExt cx="4084320" cy="1094994"/>
          </a:xfrm>
        </p:grpSpPr>
        <p:sp>
          <p:nvSpPr>
            <p:cNvPr id="267" name="Google Shape;267;p18"/>
            <p:cNvSpPr/>
            <p:nvPr/>
          </p:nvSpPr>
          <p:spPr>
            <a:xfrm>
              <a:off x="7004304" y="1872995"/>
              <a:ext cx="325120" cy="615950"/>
            </a:xfrm>
            <a:custGeom>
              <a:rect b="b" l="l" r="r" t="t"/>
              <a:pathLst>
                <a:path extrusionOk="0" h="615950" w="325120">
                  <a:moveTo>
                    <a:pt x="0" y="615695"/>
                  </a:moveTo>
                  <a:lnTo>
                    <a:pt x="324612"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8"/>
            <p:cNvSpPr/>
            <p:nvPr/>
          </p:nvSpPr>
          <p:spPr>
            <a:xfrm>
              <a:off x="6350508" y="1403603"/>
              <a:ext cx="542544" cy="53797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18"/>
            <p:cNvSpPr/>
            <p:nvPr/>
          </p:nvSpPr>
          <p:spPr>
            <a:xfrm>
              <a:off x="6580632" y="1455419"/>
              <a:ext cx="265175" cy="2453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8"/>
            <p:cNvSpPr/>
            <p:nvPr/>
          </p:nvSpPr>
          <p:spPr>
            <a:xfrm>
              <a:off x="9892284" y="1434083"/>
              <a:ext cx="542544" cy="537972"/>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8"/>
            <p:cNvSpPr/>
            <p:nvPr/>
          </p:nvSpPr>
          <p:spPr>
            <a:xfrm>
              <a:off x="9939528" y="1485899"/>
              <a:ext cx="263651" cy="24536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8"/>
            <p:cNvSpPr/>
            <p:nvPr/>
          </p:nvSpPr>
          <p:spPr>
            <a:xfrm>
              <a:off x="7392162" y="1680209"/>
              <a:ext cx="594360" cy="16001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8"/>
            <p:cNvSpPr/>
            <p:nvPr/>
          </p:nvSpPr>
          <p:spPr>
            <a:xfrm>
              <a:off x="7392162" y="1680209"/>
              <a:ext cx="594360" cy="160020"/>
            </a:xfrm>
            <a:custGeom>
              <a:rect b="b" l="l" r="r" t="t"/>
              <a:pathLst>
                <a:path extrusionOk="0" h="160019" w="594359">
                  <a:moveTo>
                    <a:pt x="0" y="80010"/>
                  </a:moveTo>
                  <a:lnTo>
                    <a:pt x="30213" y="44820"/>
                  </a:lnTo>
                  <a:lnTo>
                    <a:pt x="65300" y="29964"/>
                  </a:lnTo>
                  <a:lnTo>
                    <a:pt x="111327" y="17574"/>
                  </a:lnTo>
                  <a:lnTo>
                    <a:pt x="166506" y="8130"/>
                  </a:lnTo>
                  <a:lnTo>
                    <a:pt x="229053" y="2112"/>
                  </a:lnTo>
                  <a:lnTo>
                    <a:pt x="297180" y="0"/>
                  </a:lnTo>
                  <a:lnTo>
                    <a:pt x="365306" y="2112"/>
                  </a:lnTo>
                  <a:lnTo>
                    <a:pt x="427853" y="8130"/>
                  </a:lnTo>
                  <a:lnTo>
                    <a:pt x="483032" y="17574"/>
                  </a:lnTo>
                  <a:lnTo>
                    <a:pt x="529059" y="29964"/>
                  </a:lnTo>
                  <a:lnTo>
                    <a:pt x="564146" y="44820"/>
                  </a:lnTo>
                  <a:lnTo>
                    <a:pt x="594360" y="80010"/>
                  </a:lnTo>
                  <a:lnTo>
                    <a:pt x="586508" y="98357"/>
                  </a:lnTo>
                  <a:lnTo>
                    <a:pt x="529059" y="130055"/>
                  </a:lnTo>
                  <a:lnTo>
                    <a:pt x="483032" y="142445"/>
                  </a:lnTo>
                  <a:lnTo>
                    <a:pt x="427853" y="151889"/>
                  </a:lnTo>
                  <a:lnTo>
                    <a:pt x="365306" y="157907"/>
                  </a:lnTo>
                  <a:lnTo>
                    <a:pt x="297180" y="160019"/>
                  </a:lnTo>
                  <a:lnTo>
                    <a:pt x="229053" y="157907"/>
                  </a:lnTo>
                  <a:lnTo>
                    <a:pt x="166506" y="151889"/>
                  </a:lnTo>
                  <a:lnTo>
                    <a:pt x="111327" y="142445"/>
                  </a:lnTo>
                  <a:lnTo>
                    <a:pt x="65300" y="130055"/>
                  </a:lnTo>
                  <a:lnTo>
                    <a:pt x="30213"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8"/>
            <p:cNvSpPr/>
            <p:nvPr/>
          </p:nvSpPr>
          <p:spPr>
            <a:xfrm>
              <a:off x="7389114" y="1553717"/>
              <a:ext cx="599693" cy="208026"/>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8"/>
            <p:cNvSpPr/>
            <p:nvPr/>
          </p:nvSpPr>
          <p:spPr>
            <a:xfrm>
              <a:off x="7389114" y="1553717"/>
              <a:ext cx="596265" cy="187960"/>
            </a:xfrm>
            <a:custGeom>
              <a:rect b="b" l="l" r="r" t="t"/>
              <a:pathLst>
                <a:path extrusionOk="0" h="187960" w="596265">
                  <a:moveTo>
                    <a:pt x="0" y="93726"/>
                  </a:moveTo>
                  <a:lnTo>
                    <a:pt x="30275" y="52484"/>
                  </a:lnTo>
                  <a:lnTo>
                    <a:pt x="65440" y="35083"/>
                  </a:lnTo>
                  <a:lnTo>
                    <a:pt x="111576" y="20574"/>
                  </a:lnTo>
                  <a:lnTo>
                    <a:pt x="166895" y="9517"/>
                  </a:lnTo>
                  <a:lnTo>
                    <a:pt x="229613" y="2472"/>
                  </a:lnTo>
                  <a:lnTo>
                    <a:pt x="297941" y="0"/>
                  </a:lnTo>
                  <a:lnTo>
                    <a:pt x="366270" y="2472"/>
                  </a:lnTo>
                  <a:lnTo>
                    <a:pt x="428988" y="9517"/>
                  </a:lnTo>
                  <a:lnTo>
                    <a:pt x="484307" y="20574"/>
                  </a:lnTo>
                  <a:lnTo>
                    <a:pt x="530443" y="35083"/>
                  </a:lnTo>
                  <a:lnTo>
                    <a:pt x="565608" y="52484"/>
                  </a:lnTo>
                  <a:lnTo>
                    <a:pt x="595883" y="93726"/>
                  </a:lnTo>
                  <a:lnTo>
                    <a:pt x="588017" y="115233"/>
                  </a:lnTo>
                  <a:lnTo>
                    <a:pt x="530443" y="152368"/>
                  </a:lnTo>
                  <a:lnTo>
                    <a:pt x="484307" y="166878"/>
                  </a:lnTo>
                  <a:lnTo>
                    <a:pt x="428988" y="177934"/>
                  </a:lnTo>
                  <a:lnTo>
                    <a:pt x="366270" y="184979"/>
                  </a:lnTo>
                  <a:lnTo>
                    <a:pt x="297941" y="187452"/>
                  </a:lnTo>
                  <a:lnTo>
                    <a:pt x="229613" y="184979"/>
                  </a:lnTo>
                  <a:lnTo>
                    <a:pt x="166895" y="177934"/>
                  </a:lnTo>
                  <a:lnTo>
                    <a:pt x="111576" y="166878"/>
                  </a:lnTo>
                  <a:lnTo>
                    <a:pt x="65440" y="152368"/>
                  </a:lnTo>
                  <a:lnTo>
                    <a:pt x="30275" y="134967"/>
                  </a:lnTo>
                  <a:lnTo>
                    <a:pt x="0" y="93726"/>
                  </a:lnTo>
                  <a:close/>
                </a:path>
                <a:path extrusionOk="0" h="187960" w="596265">
                  <a:moveTo>
                    <a:pt x="118871" y="135636"/>
                  </a:moveTo>
                  <a:lnTo>
                    <a:pt x="223138" y="135636"/>
                  </a:lnTo>
                  <a:lnTo>
                    <a:pt x="327532"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8"/>
            <p:cNvSpPr/>
            <p:nvPr/>
          </p:nvSpPr>
          <p:spPr>
            <a:xfrm>
              <a:off x="7522464" y="1601723"/>
              <a:ext cx="306705" cy="86995"/>
            </a:xfrm>
            <a:custGeom>
              <a:rect b="b" l="l" r="r" t="t"/>
              <a:pathLst>
                <a:path extrusionOk="0" h="86994"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8"/>
            <p:cNvSpPr/>
            <p:nvPr/>
          </p:nvSpPr>
          <p:spPr>
            <a:xfrm>
              <a:off x="7392162" y="1640585"/>
              <a:ext cx="593090" cy="131445"/>
            </a:xfrm>
            <a:custGeom>
              <a:rect b="b" l="l" r="r" t="t"/>
              <a:pathLst>
                <a:path extrusionOk="0" h="131444" w="593090">
                  <a:moveTo>
                    <a:pt x="0" y="0"/>
                  </a:moveTo>
                  <a:lnTo>
                    <a:pt x="0" y="126491"/>
                  </a:lnTo>
                </a:path>
                <a:path extrusionOk="0" h="131444" w="593090">
                  <a:moveTo>
                    <a:pt x="592836" y="6096"/>
                  </a:moveTo>
                  <a:lnTo>
                    <a:pt x="592836"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8"/>
            <p:cNvSpPr/>
            <p:nvPr/>
          </p:nvSpPr>
          <p:spPr>
            <a:xfrm>
              <a:off x="7407402" y="2338577"/>
              <a:ext cx="594359" cy="16002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8"/>
            <p:cNvSpPr/>
            <p:nvPr/>
          </p:nvSpPr>
          <p:spPr>
            <a:xfrm>
              <a:off x="7407402" y="2338577"/>
              <a:ext cx="594360" cy="160020"/>
            </a:xfrm>
            <a:custGeom>
              <a:rect b="b" l="l" r="r" t="t"/>
              <a:pathLst>
                <a:path extrusionOk="0" h="160019" w="594359">
                  <a:moveTo>
                    <a:pt x="0" y="80010"/>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59" y="80010"/>
                  </a:lnTo>
                  <a:lnTo>
                    <a:pt x="586508" y="98357"/>
                  </a:lnTo>
                  <a:lnTo>
                    <a:pt x="529059" y="130055"/>
                  </a:lnTo>
                  <a:lnTo>
                    <a:pt x="483032" y="142445"/>
                  </a:lnTo>
                  <a:lnTo>
                    <a:pt x="427853" y="151889"/>
                  </a:lnTo>
                  <a:lnTo>
                    <a:pt x="365306" y="157907"/>
                  </a:lnTo>
                  <a:lnTo>
                    <a:pt x="297179" y="160020"/>
                  </a:lnTo>
                  <a:lnTo>
                    <a:pt x="229053" y="157907"/>
                  </a:lnTo>
                  <a:lnTo>
                    <a:pt x="166506" y="151889"/>
                  </a:lnTo>
                  <a:lnTo>
                    <a:pt x="111327" y="142445"/>
                  </a:lnTo>
                  <a:lnTo>
                    <a:pt x="65300" y="130055"/>
                  </a:lnTo>
                  <a:lnTo>
                    <a:pt x="30213"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8"/>
            <p:cNvSpPr/>
            <p:nvPr/>
          </p:nvSpPr>
          <p:spPr>
            <a:xfrm>
              <a:off x="7404354" y="2210561"/>
              <a:ext cx="599694" cy="20802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8"/>
            <p:cNvSpPr/>
            <p:nvPr/>
          </p:nvSpPr>
          <p:spPr>
            <a:xfrm>
              <a:off x="7404354" y="2210561"/>
              <a:ext cx="596265" cy="187960"/>
            </a:xfrm>
            <a:custGeom>
              <a:rect b="b" l="l" r="r" t="t"/>
              <a:pathLst>
                <a:path extrusionOk="0" h="187960" w="596265">
                  <a:moveTo>
                    <a:pt x="0" y="93725"/>
                  </a:moveTo>
                  <a:lnTo>
                    <a:pt x="30275" y="52484"/>
                  </a:lnTo>
                  <a:lnTo>
                    <a:pt x="65440" y="35083"/>
                  </a:lnTo>
                  <a:lnTo>
                    <a:pt x="111576" y="20574"/>
                  </a:lnTo>
                  <a:lnTo>
                    <a:pt x="166895" y="9517"/>
                  </a:lnTo>
                  <a:lnTo>
                    <a:pt x="229613" y="2472"/>
                  </a:lnTo>
                  <a:lnTo>
                    <a:pt x="297942" y="0"/>
                  </a:lnTo>
                  <a:lnTo>
                    <a:pt x="366270" y="2472"/>
                  </a:lnTo>
                  <a:lnTo>
                    <a:pt x="428988" y="9517"/>
                  </a:lnTo>
                  <a:lnTo>
                    <a:pt x="484307" y="20574"/>
                  </a:lnTo>
                  <a:lnTo>
                    <a:pt x="530443" y="35083"/>
                  </a:lnTo>
                  <a:lnTo>
                    <a:pt x="565608" y="52484"/>
                  </a:lnTo>
                  <a:lnTo>
                    <a:pt x="595884" y="93725"/>
                  </a:lnTo>
                  <a:lnTo>
                    <a:pt x="588017" y="115233"/>
                  </a:lnTo>
                  <a:lnTo>
                    <a:pt x="530443" y="152368"/>
                  </a:lnTo>
                  <a:lnTo>
                    <a:pt x="484307" y="166877"/>
                  </a:lnTo>
                  <a:lnTo>
                    <a:pt x="428988" y="177934"/>
                  </a:lnTo>
                  <a:lnTo>
                    <a:pt x="366270" y="184979"/>
                  </a:lnTo>
                  <a:lnTo>
                    <a:pt x="297942" y="187451"/>
                  </a:lnTo>
                  <a:lnTo>
                    <a:pt x="229613" y="184979"/>
                  </a:lnTo>
                  <a:lnTo>
                    <a:pt x="166895" y="177934"/>
                  </a:lnTo>
                  <a:lnTo>
                    <a:pt x="111576" y="166877"/>
                  </a:lnTo>
                  <a:lnTo>
                    <a:pt x="65440" y="152368"/>
                  </a:lnTo>
                  <a:lnTo>
                    <a:pt x="30275" y="134967"/>
                  </a:lnTo>
                  <a:lnTo>
                    <a:pt x="0" y="93725"/>
                  </a:lnTo>
                  <a:close/>
                </a:path>
                <a:path extrusionOk="0" h="187960" w="596265">
                  <a:moveTo>
                    <a:pt x="120396" y="135636"/>
                  </a:moveTo>
                  <a:lnTo>
                    <a:pt x="224663" y="135636"/>
                  </a:lnTo>
                  <a:lnTo>
                    <a:pt x="329056" y="48767"/>
                  </a:lnTo>
                  <a:lnTo>
                    <a:pt x="457200"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8"/>
            <p:cNvSpPr/>
            <p:nvPr/>
          </p:nvSpPr>
          <p:spPr>
            <a:xfrm>
              <a:off x="7539228" y="2258567"/>
              <a:ext cx="306705" cy="86995"/>
            </a:xfrm>
            <a:custGeom>
              <a:rect b="b" l="l" r="r" t="t"/>
              <a:pathLst>
                <a:path extrusionOk="0" h="86994" w="306704">
                  <a:moveTo>
                    <a:pt x="0" y="0"/>
                  </a:moveTo>
                  <a:lnTo>
                    <a:pt x="104267" y="0"/>
                  </a:lnTo>
                  <a:lnTo>
                    <a:pt x="208533"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8"/>
            <p:cNvSpPr/>
            <p:nvPr/>
          </p:nvSpPr>
          <p:spPr>
            <a:xfrm>
              <a:off x="7408926" y="2297429"/>
              <a:ext cx="591820" cy="131445"/>
            </a:xfrm>
            <a:custGeom>
              <a:rect b="b" l="l" r="r" t="t"/>
              <a:pathLst>
                <a:path extrusionOk="0" h="131444" w="591820">
                  <a:moveTo>
                    <a:pt x="0" y="0"/>
                  </a:moveTo>
                  <a:lnTo>
                    <a:pt x="0" y="128016"/>
                  </a:lnTo>
                </a:path>
                <a:path extrusionOk="0" h="131444" w="591820">
                  <a:moveTo>
                    <a:pt x="591312" y="7620"/>
                  </a:moveTo>
                  <a:lnTo>
                    <a:pt x="591312"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8"/>
            <p:cNvSpPr/>
            <p:nvPr/>
          </p:nvSpPr>
          <p:spPr>
            <a:xfrm>
              <a:off x="8714994" y="1693925"/>
              <a:ext cx="595883" cy="16002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8"/>
            <p:cNvSpPr/>
            <p:nvPr/>
          </p:nvSpPr>
          <p:spPr>
            <a:xfrm>
              <a:off x="8714994" y="1693925"/>
              <a:ext cx="596265" cy="160020"/>
            </a:xfrm>
            <a:custGeom>
              <a:rect b="b" l="l" r="r" t="t"/>
              <a:pathLst>
                <a:path extrusionOk="0" h="160019" w="596265">
                  <a:moveTo>
                    <a:pt x="0" y="80010"/>
                  </a:moveTo>
                  <a:lnTo>
                    <a:pt x="30275" y="44820"/>
                  </a:lnTo>
                  <a:lnTo>
                    <a:pt x="65440" y="29964"/>
                  </a:lnTo>
                  <a:lnTo>
                    <a:pt x="111576" y="17574"/>
                  </a:lnTo>
                  <a:lnTo>
                    <a:pt x="166895" y="8130"/>
                  </a:lnTo>
                  <a:lnTo>
                    <a:pt x="229613" y="2112"/>
                  </a:lnTo>
                  <a:lnTo>
                    <a:pt x="297941" y="0"/>
                  </a:lnTo>
                  <a:lnTo>
                    <a:pt x="366270" y="2112"/>
                  </a:lnTo>
                  <a:lnTo>
                    <a:pt x="428988" y="8130"/>
                  </a:lnTo>
                  <a:lnTo>
                    <a:pt x="484307" y="17574"/>
                  </a:lnTo>
                  <a:lnTo>
                    <a:pt x="530443" y="29964"/>
                  </a:lnTo>
                  <a:lnTo>
                    <a:pt x="565608" y="44820"/>
                  </a:lnTo>
                  <a:lnTo>
                    <a:pt x="595883" y="80010"/>
                  </a:lnTo>
                  <a:lnTo>
                    <a:pt x="588017" y="98357"/>
                  </a:lnTo>
                  <a:lnTo>
                    <a:pt x="530443" y="130055"/>
                  </a:lnTo>
                  <a:lnTo>
                    <a:pt x="484307" y="142445"/>
                  </a:lnTo>
                  <a:lnTo>
                    <a:pt x="428988" y="151889"/>
                  </a:lnTo>
                  <a:lnTo>
                    <a:pt x="366270" y="157907"/>
                  </a:lnTo>
                  <a:lnTo>
                    <a:pt x="297941" y="160020"/>
                  </a:lnTo>
                  <a:lnTo>
                    <a:pt x="229613" y="157907"/>
                  </a:lnTo>
                  <a:lnTo>
                    <a:pt x="166895" y="151889"/>
                  </a:lnTo>
                  <a:lnTo>
                    <a:pt x="111576" y="142445"/>
                  </a:lnTo>
                  <a:lnTo>
                    <a:pt x="65440" y="130055"/>
                  </a:lnTo>
                  <a:lnTo>
                    <a:pt x="30275"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8"/>
            <p:cNvSpPr/>
            <p:nvPr/>
          </p:nvSpPr>
          <p:spPr>
            <a:xfrm>
              <a:off x="8713470" y="1565909"/>
              <a:ext cx="598169" cy="208025"/>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8"/>
            <p:cNvSpPr/>
            <p:nvPr/>
          </p:nvSpPr>
          <p:spPr>
            <a:xfrm>
              <a:off x="8713470" y="1565909"/>
              <a:ext cx="594360" cy="187960"/>
            </a:xfrm>
            <a:custGeom>
              <a:rect b="b" l="l" r="r" t="t"/>
              <a:pathLst>
                <a:path extrusionOk="0" h="187960" w="594359">
                  <a:moveTo>
                    <a:pt x="0" y="93725"/>
                  </a:moveTo>
                  <a:lnTo>
                    <a:pt x="30213" y="52484"/>
                  </a:lnTo>
                  <a:lnTo>
                    <a:pt x="65300" y="35083"/>
                  </a:lnTo>
                  <a:lnTo>
                    <a:pt x="111327" y="20574"/>
                  </a:lnTo>
                  <a:lnTo>
                    <a:pt x="166506" y="9517"/>
                  </a:lnTo>
                  <a:lnTo>
                    <a:pt x="229053" y="2472"/>
                  </a:lnTo>
                  <a:lnTo>
                    <a:pt x="297179" y="0"/>
                  </a:lnTo>
                  <a:lnTo>
                    <a:pt x="365306" y="2472"/>
                  </a:lnTo>
                  <a:lnTo>
                    <a:pt x="427853" y="9517"/>
                  </a:lnTo>
                  <a:lnTo>
                    <a:pt x="483032" y="20574"/>
                  </a:lnTo>
                  <a:lnTo>
                    <a:pt x="529059" y="35083"/>
                  </a:lnTo>
                  <a:lnTo>
                    <a:pt x="564146" y="52484"/>
                  </a:lnTo>
                  <a:lnTo>
                    <a:pt x="594359" y="93725"/>
                  </a:lnTo>
                  <a:lnTo>
                    <a:pt x="586508" y="115233"/>
                  </a:lnTo>
                  <a:lnTo>
                    <a:pt x="529059" y="152368"/>
                  </a:lnTo>
                  <a:lnTo>
                    <a:pt x="483032" y="166877"/>
                  </a:lnTo>
                  <a:lnTo>
                    <a:pt x="427853" y="177934"/>
                  </a:lnTo>
                  <a:lnTo>
                    <a:pt x="365306" y="184979"/>
                  </a:lnTo>
                  <a:lnTo>
                    <a:pt x="297179" y="187451"/>
                  </a:lnTo>
                  <a:lnTo>
                    <a:pt x="229053" y="184979"/>
                  </a:lnTo>
                  <a:lnTo>
                    <a:pt x="166506" y="177934"/>
                  </a:lnTo>
                  <a:lnTo>
                    <a:pt x="111327" y="166877"/>
                  </a:lnTo>
                  <a:lnTo>
                    <a:pt x="65300" y="152368"/>
                  </a:lnTo>
                  <a:lnTo>
                    <a:pt x="30213" y="134967"/>
                  </a:lnTo>
                  <a:lnTo>
                    <a:pt x="0" y="93725"/>
                  </a:lnTo>
                  <a:close/>
                </a:path>
                <a:path extrusionOk="0" h="187960" w="594359">
                  <a:moveTo>
                    <a:pt x="118872" y="135636"/>
                  </a:moveTo>
                  <a:lnTo>
                    <a:pt x="223138" y="135636"/>
                  </a:lnTo>
                  <a:lnTo>
                    <a:pt x="327532" y="48767"/>
                  </a:lnTo>
                  <a:lnTo>
                    <a:pt x="455675"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8"/>
            <p:cNvSpPr/>
            <p:nvPr/>
          </p:nvSpPr>
          <p:spPr>
            <a:xfrm>
              <a:off x="8846820" y="1613915"/>
              <a:ext cx="306705" cy="86995"/>
            </a:xfrm>
            <a:custGeom>
              <a:rect b="b" l="l" r="r" t="t"/>
              <a:pathLst>
                <a:path extrusionOk="0" h="86994" w="306704">
                  <a:moveTo>
                    <a:pt x="0" y="0"/>
                  </a:moveTo>
                  <a:lnTo>
                    <a:pt x="104266" y="0"/>
                  </a:lnTo>
                  <a:lnTo>
                    <a:pt x="208533"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8"/>
            <p:cNvSpPr/>
            <p:nvPr/>
          </p:nvSpPr>
          <p:spPr>
            <a:xfrm>
              <a:off x="8716518" y="1652777"/>
              <a:ext cx="591820" cy="131445"/>
            </a:xfrm>
            <a:custGeom>
              <a:rect b="b" l="l" r="r" t="t"/>
              <a:pathLst>
                <a:path extrusionOk="0" h="131444" w="591820">
                  <a:moveTo>
                    <a:pt x="0" y="0"/>
                  </a:moveTo>
                  <a:lnTo>
                    <a:pt x="0" y="128016"/>
                  </a:lnTo>
                </a:path>
                <a:path extrusionOk="0" h="131444" w="591820">
                  <a:moveTo>
                    <a:pt x="591311" y="7620"/>
                  </a:moveTo>
                  <a:lnTo>
                    <a:pt x="591311"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8"/>
            <p:cNvSpPr/>
            <p:nvPr/>
          </p:nvSpPr>
          <p:spPr>
            <a:xfrm>
              <a:off x="8714994" y="2306573"/>
              <a:ext cx="595883" cy="16002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8"/>
            <p:cNvSpPr/>
            <p:nvPr/>
          </p:nvSpPr>
          <p:spPr>
            <a:xfrm>
              <a:off x="8714994" y="2306573"/>
              <a:ext cx="596265" cy="160020"/>
            </a:xfrm>
            <a:custGeom>
              <a:rect b="b" l="l" r="r" t="t"/>
              <a:pathLst>
                <a:path extrusionOk="0" h="160019" w="596265">
                  <a:moveTo>
                    <a:pt x="0" y="80010"/>
                  </a:moveTo>
                  <a:lnTo>
                    <a:pt x="30275" y="44820"/>
                  </a:lnTo>
                  <a:lnTo>
                    <a:pt x="65440" y="29964"/>
                  </a:lnTo>
                  <a:lnTo>
                    <a:pt x="111576" y="17574"/>
                  </a:lnTo>
                  <a:lnTo>
                    <a:pt x="166895" y="8130"/>
                  </a:lnTo>
                  <a:lnTo>
                    <a:pt x="229613" y="2112"/>
                  </a:lnTo>
                  <a:lnTo>
                    <a:pt x="297941" y="0"/>
                  </a:lnTo>
                  <a:lnTo>
                    <a:pt x="366270" y="2112"/>
                  </a:lnTo>
                  <a:lnTo>
                    <a:pt x="428988" y="8130"/>
                  </a:lnTo>
                  <a:lnTo>
                    <a:pt x="484307" y="17574"/>
                  </a:lnTo>
                  <a:lnTo>
                    <a:pt x="530443" y="29964"/>
                  </a:lnTo>
                  <a:lnTo>
                    <a:pt x="565608" y="44820"/>
                  </a:lnTo>
                  <a:lnTo>
                    <a:pt x="595883" y="80010"/>
                  </a:lnTo>
                  <a:lnTo>
                    <a:pt x="588017" y="98357"/>
                  </a:lnTo>
                  <a:lnTo>
                    <a:pt x="530443" y="130055"/>
                  </a:lnTo>
                  <a:lnTo>
                    <a:pt x="484307" y="142445"/>
                  </a:lnTo>
                  <a:lnTo>
                    <a:pt x="428988" y="151889"/>
                  </a:lnTo>
                  <a:lnTo>
                    <a:pt x="366270" y="157907"/>
                  </a:lnTo>
                  <a:lnTo>
                    <a:pt x="297941" y="160020"/>
                  </a:lnTo>
                  <a:lnTo>
                    <a:pt x="229613" y="157907"/>
                  </a:lnTo>
                  <a:lnTo>
                    <a:pt x="166895" y="151889"/>
                  </a:lnTo>
                  <a:lnTo>
                    <a:pt x="111576" y="142445"/>
                  </a:lnTo>
                  <a:lnTo>
                    <a:pt x="65440" y="130055"/>
                  </a:lnTo>
                  <a:lnTo>
                    <a:pt x="30275"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8"/>
            <p:cNvSpPr/>
            <p:nvPr/>
          </p:nvSpPr>
          <p:spPr>
            <a:xfrm>
              <a:off x="8713470" y="2178557"/>
              <a:ext cx="598169" cy="208025"/>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8"/>
            <p:cNvSpPr/>
            <p:nvPr/>
          </p:nvSpPr>
          <p:spPr>
            <a:xfrm>
              <a:off x="8713470" y="2178557"/>
              <a:ext cx="594360" cy="187960"/>
            </a:xfrm>
            <a:custGeom>
              <a:rect b="b" l="l" r="r" t="t"/>
              <a:pathLst>
                <a:path extrusionOk="0" h="187960" w="594359">
                  <a:moveTo>
                    <a:pt x="0" y="93725"/>
                  </a:moveTo>
                  <a:lnTo>
                    <a:pt x="30213" y="52484"/>
                  </a:lnTo>
                  <a:lnTo>
                    <a:pt x="65300" y="35083"/>
                  </a:lnTo>
                  <a:lnTo>
                    <a:pt x="111327" y="20573"/>
                  </a:lnTo>
                  <a:lnTo>
                    <a:pt x="166506" y="9517"/>
                  </a:lnTo>
                  <a:lnTo>
                    <a:pt x="229053" y="2472"/>
                  </a:lnTo>
                  <a:lnTo>
                    <a:pt x="297179" y="0"/>
                  </a:lnTo>
                  <a:lnTo>
                    <a:pt x="365306" y="2472"/>
                  </a:lnTo>
                  <a:lnTo>
                    <a:pt x="427853" y="9517"/>
                  </a:lnTo>
                  <a:lnTo>
                    <a:pt x="483032" y="20573"/>
                  </a:lnTo>
                  <a:lnTo>
                    <a:pt x="529059" y="35083"/>
                  </a:lnTo>
                  <a:lnTo>
                    <a:pt x="564146" y="52484"/>
                  </a:lnTo>
                  <a:lnTo>
                    <a:pt x="594359" y="93725"/>
                  </a:lnTo>
                  <a:lnTo>
                    <a:pt x="586508" y="115233"/>
                  </a:lnTo>
                  <a:lnTo>
                    <a:pt x="529059" y="152368"/>
                  </a:lnTo>
                  <a:lnTo>
                    <a:pt x="483032" y="166877"/>
                  </a:lnTo>
                  <a:lnTo>
                    <a:pt x="427853" y="177934"/>
                  </a:lnTo>
                  <a:lnTo>
                    <a:pt x="365306" y="184979"/>
                  </a:lnTo>
                  <a:lnTo>
                    <a:pt x="297179" y="187451"/>
                  </a:lnTo>
                  <a:lnTo>
                    <a:pt x="229053" y="184979"/>
                  </a:lnTo>
                  <a:lnTo>
                    <a:pt x="166506" y="177934"/>
                  </a:lnTo>
                  <a:lnTo>
                    <a:pt x="111327" y="166877"/>
                  </a:lnTo>
                  <a:lnTo>
                    <a:pt x="65300" y="152368"/>
                  </a:lnTo>
                  <a:lnTo>
                    <a:pt x="30213" y="134967"/>
                  </a:lnTo>
                  <a:lnTo>
                    <a:pt x="0" y="93725"/>
                  </a:lnTo>
                  <a:close/>
                </a:path>
                <a:path extrusionOk="0" h="187960" w="594359">
                  <a:moveTo>
                    <a:pt x="118872" y="135636"/>
                  </a:moveTo>
                  <a:lnTo>
                    <a:pt x="223138" y="135636"/>
                  </a:lnTo>
                  <a:lnTo>
                    <a:pt x="327532" y="48767"/>
                  </a:lnTo>
                  <a:lnTo>
                    <a:pt x="455675"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8"/>
            <p:cNvSpPr/>
            <p:nvPr/>
          </p:nvSpPr>
          <p:spPr>
            <a:xfrm>
              <a:off x="8846820" y="2226563"/>
              <a:ext cx="306705" cy="86995"/>
            </a:xfrm>
            <a:custGeom>
              <a:rect b="b" l="l" r="r" t="t"/>
              <a:pathLst>
                <a:path extrusionOk="0" h="86994" w="306704">
                  <a:moveTo>
                    <a:pt x="0" y="0"/>
                  </a:moveTo>
                  <a:lnTo>
                    <a:pt x="104266" y="0"/>
                  </a:lnTo>
                  <a:lnTo>
                    <a:pt x="208533"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8"/>
            <p:cNvSpPr/>
            <p:nvPr/>
          </p:nvSpPr>
          <p:spPr>
            <a:xfrm>
              <a:off x="8716518" y="2265425"/>
              <a:ext cx="591820" cy="131445"/>
            </a:xfrm>
            <a:custGeom>
              <a:rect b="b" l="l" r="r" t="t"/>
              <a:pathLst>
                <a:path extrusionOk="0" h="131444" w="591820">
                  <a:moveTo>
                    <a:pt x="0" y="0"/>
                  </a:moveTo>
                  <a:lnTo>
                    <a:pt x="0" y="128015"/>
                  </a:lnTo>
                </a:path>
                <a:path extrusionOk="0" h="131444" w="591820">
                  <a:moveTo>
                    <a:pt x="591311" y="7620"/>
                  </a:moveTo>
                  <a:lnTo>
                    <a:pt x="591311"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6" name="Google Shape;296;p18"/>
          <p:cNvSpPr txBox="1"/>
          <p:nvPr/>
        </p:nvSpPr>
        <p:spPr>
          <a:xfrm>
            <a:off x="4562602" y="3315715"/>
            <a:ext cx="13493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Incoming VC #</a:t>
            </a:r>
            <a:endParaRPr sz="1800">
              <a:solidFill>
                <a:schemeClr val="dk1"/>
              </a:solidFill>
              <a:latin typeface="Arial"/>
              <a:ea typeface="Arial"/>
              <a:cs typeface="Arial"/>
              <a:sym typeface="Arial"/>
            </a:endParaRPr>
          </a:p>
        </p:txBody>
      </p:sp>
      <p:sp>
        <p:nvSpPr>
          <p:cNvPr id="297" name="Google Shape;297;p18"/>
          <p:cNvSpPr txBox="1"/>
          <p:nvPr/>
        </p:nvSpPr>
        <p:spPr>
          <a:xfrm>
            <a:off x="6148527" y="3315715"/>
            <a:ext cx="17557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Outgoing interface</a:t>
            </a:r>
            <a:endParaRPr sz="1800">
              <a:solidFill>
                <a:schemeClr val="dk1"/>
              </a:solidFill>
              <a:latin typeface="Arial"/>
              <a:ea typeface="Arial"/>
              <a:cs typeface="Arial"/>
              <a:sym typeface="Arial"/>
            </a:endParaRPr>
          </a:p>
        </p:txBody>
      </p:sp>
      <p:sp>
        <p:nvSpPr>
          <p:cNvPr id="298" name="Google Shape;298;p18"/>
          <p:cNvSpPr txBox="1"/>
          <p:nvPr/>
        </p:nvSpPr>
        <p:spPr>
          <a:xfrm>
            <a:off x="8088259" y="3315715"/>
            <a:ext cx="13500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Outgoing VC #</a:t>
            </a:r>
            <a:endParaRPr sz="1800">
              <a:solidFill>
                <a:schemeClr val="dk1"/>
              </a:solidFill>
              <a:latin typeface="Arial"/>
              <a:ea typeface="Arial"/>
              <a:cs typeface="Arial"/>
              <a:sym typeface="Arial"/>
            </a:endParaRPr>
          </a:p>
        </p:txBody>
      </p:sp>
      <p:grpSp>
        <p:nvGrpSpPr>
          <p:cNvPr id="299" name="Google Shape;299;p18"/>
          <p:cNvGrpSpPr/>
          <p:nvPr/>
        </p:nvGrpSpPr>
        <p:grpSpPr>
          <a:xfrm>
            <a:off x="4134611" y="3346703"/>
            <a:ext cx="3933444" cy="2188845"/>
            <a:chOff x="4134611" y="3346703"/>
            <a:chExt cx="3933444" cy="2188845"/>
          </a:xfrm>
        </p:grpSpPr>
        <p:sp>
          <p:nvSpPr>
            <p:cNvPr id="300" name="Google Shape;300;p18"/>
            <p:cNvSpPr/>
            <p:nvPr/>
          </p:nvSpPr>
          <p:spPr>
            <a:xfrm>
              <a:off x="4134611" y="3346703"/>
              <a:ext cx="0" cy="2125980"/>
            </a:xfrm>
            <a:custGeom>
              <a:rect b="b" l="l" r="r" t="t"/>
              <a:pathLst>
                <a:path extrusionOk="0" h="2125979" w="120000">
                  <a:moveTo>
                    <a:pt x="0" y="0"/>
                  </a:moveTo>
                  <a:lnTo>
                    <a:pt x="0" y="2125980"/>
                  </a:lnTo>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8"/>
            <p:cNvSpPr/>
            <p:nvPr/>
          </p:nvSpPr>
          <p:spPr>
            <a:xfrm>
              <a:off x="5939027" y="3384803"/>
              <a:ext cx="0" cy="2112645"/>
            </a:xfrm>
            <a:custGeom>
              <a:rect b="b" l="l" r="r" t="t"/>
              <a:pathLst>
                <a:path extrusionOk="0" h="2112645" w="120000">
                  <a:moveTo>
                    <a:pt x="0" y="0"/>
                  </a:moveTo>
                  <a:lnTo>
                    <a:pt x="0" y="2112264"/>
                  </a:lnTo>
                </a:path>
              </a:pathLst>
            </a:custGeom>
            <a:noFill/>
            <a:ln cap="flat" cmpd="sng" w="9525">
              <a:solidFill>
                <a:srgbClr val="00009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8"/>
            <p:cNvSpPr/>
            <p:nvPr/>
          </p:nvSpPr>
          <p:spPr>
            <a:xfrm>
              <a:off x="8068055" y="3346703"/>
              <a:ext cx="0" cy="2188845"/>
            </a:xfrm>
            <a:custGeom>
              <a:rect b="b" l="l" r="r" t="t"/>
              <a:pathLst>
                <a:path extrusionOk="0" h="2188845" w="120000">
                  <a:moveTo>
                    <a:pt x="0" y="0"/>
                  </a:moveTo>
                  <a:lnTo>
                    <a:pt x="0" y="2188464"/>
                  </a:lnTo>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aphicFrame>
        <p:nvGraphicFramePr>
          <p:cNvPr id="303" name="Google Shape;303;p18"/>
          <p:cNvGraphicFramePr/>
          <p:nvPr/>
        </p:nvGraphicFramePr>
        <p:xfrm>
          <a:off x="2896742" y="3914394"/>
          <a:ext cx="3000000" cy="3000000"/>
        </p:xfrm>
        <a:graphic>
          <a:graphicData uri="http://schemas.openxmlformats.org/drawingml/2006/table">
            <a:tbl>
              <a:tblPr bandRow="1" firstRow="1">
                <a:noFill/>
                <a:tableStyleId>{0E2E355C-DBFC-4D74-83BD-ED6A477D55ED}</a:tableStyleId>
              </a:tblPr>
              <a:tblGrid>
                <a:gridCol w="849000"/>
                <a:gridCol w="1696075"/>
                <a:gridCol w="2059300"/>
                <a:gridCol w="1395100"/>
              </a:tblGrid>
              <a:tr h="251450">
                <a:tc>
                  <a:txBody>
                    <a:bodyPr/>
                    <a:lstStyle/>
                    <a:p>
                      <a:pPr indent="0" lvl="0" marL="31750" marR="0" rtl="0" algn="l">
                        <a:lnSpc>
                          <a:spcPct val="95000"/>
                        </a:lnSpc>
                        <a:spcBef>
                          <a:spcPts val="0"/>
                        </a:spcBef>
                        <a:spcAft>
                          <a:spcPts val="0"/>
                        </a:spcAft>
                        <a:buNone/>
                      </a:pPr>
                      <a:r>
                        <a:rPr lang="en-US" sz="1800" u="none" cap="none" strike="noStrike">
                          <a:latin typeface="Arial"/>
                          <a:ea typeface="Arial"/>
                          <a:cs typeface="Arial"/>
                          <a:sym typeface="Arial"/>
                        </a:rPr>
                        <a:t>1</a:t>
                      </a:r>
                      <a:endParaRPr sz="1800" u="none" cap="none" strike="noStrike">
                        <a:latin typeface="Arial"/>
                        <a:ea typeface="Arial"/>
                        <a:cs typeface="Arial"/>
                        <a:sym typeface="Arial"/>
                      </a:endParaRPr>
                    </a:p>
                  </a:txBody>
                  <a:tcPr marT="0" marB="0" marR="0" marL="0"/>
                </a:tc>
                <a:tc>
                  <a:txBody>
                    <a:bodyPr/>
                    <a:lstStyle/>
                    <a:p>
                      <a:pPr indent="0" lvl="0" marL="0" marR="796925" rtl="0" algn="r">
                        <a:lnSpc>
                          <a:spcPct val="95000"/>
                        </a:lnSpc>
                        <a:spcBef>
                          <a:spcPts val="0"/>
                        </a:spcBef>
                        <a:spcAft>
                          <a:spcPts val="0"/>
                        </a:spcAft>
                        <a:buNone/>
                      </a:pPr>
                      <a:r>
                        <a:rPr lang="en-US" sz="1800" u="none" cap="none" strike="noStrike">
                          <a:latin typeface="Arial"/>
                          <a:ea typeface="Arial"/>
                          <a:cs typeface="Arial"/>
                          <a:sym typeface="Arial"/>
                        </a:rPr>
                        <a:t>12</a:t>
                      </a:r>
                      <a:endParaRPr sz="1800" u="none" cap="none" strike="noStrike">
                        <a:latin typeface="Arial"/>
                        <a:ea typeface="Arial"/>
                        <a:cs typeface="Arial"/>
                        <a:sym typeface="Arial"/>
                      </a:endParaRPr>
                    </a:p>
                  </a:txBody>
                  <a:tcPr marT="0" marB="0" marR="0" marL="0"/>
                </a:tc>
                <a:tc>
                  <a:txBody>
                    <a:bodyPr/>
                    <a:lstStyle/>
                    <a:p>
                      <a:pPr indent="0" lvl="0" marL="816610" marR="0" rtl="0" algn="l">
                        <a:lnSpc>
                          <a:spcPct val="95000"/>
                        </a:lnSpc>
                        <a:spcBef>
                          <a:spcPts val="0"/>
                        </a:spcBef>
                        <a:spcAft>
                          <a:spcPts val="0"/>
                        </a:spcAft>
                        <a:buNone/>
                      </a:pPr>
                      <a:r>
                        <a:rPr lang="en-US" sz="1800" u="none" cap="none" strike="noStrike">
                          <a:latin typeface="Arial"/>
                          <a:ea typeface="Arial"/>
                          <a:cs typeface="Arial"/>
                          <a:sym typeface="Arial"/>
                        </a:rPr>
                        <a:t>3</a:t>
                      </a:r>
                      <a:endParaRPr sz="1800" u="none" cap="none" strike="noStrike">
                        <a:latin typeface="Arial"/>
                        <a:ea typeface="Arial"/>
                        <a:cs typeface="Arial"/>
                        <a:sym typeface="Arial"/>
                      </a:endParaRPr>
                    </a:p>
                  </a:txBody>
                  <a:tcPr marT="0" marB="0" marR="0" marL="0"/>
                </a:tc>
                <a:tc>
                  <a:txBody>
                    <a:bodyPr/>
                    <a:lstStyle/>
                    <a:p>
                      <a:pPr indent="0" lvl="0" marL="0" marR="76835" rtl="0" algn="r">
                        <a:lnSpc>
                          <a:spcPct val="95000"/>
                        </a:lnSpc>
                        <a:spcBef>
                          <a:spcPts val="0"/>
                        </a:spcBef>
                        <a:spcAft>
                          <a:spcPts val="0"/>
                        </a:spcAft>
                        <a:buNone/>
                      </a:pPr>
                      <a:r>
                        <a:rPr lang="en-US" sz="1800" u="none" cap="none" strike="noStrike">
                          <a:latin typeface="Arial"/>
                          <a:ea typeface="Arial"/>
                          <a:cs typeface="Arial"/>
                          <a:sym typeface="Arial"/>
                        </a:rPr>
                        <a:t>22</a:t>
                      </a:r>
                      <a:endParaRPr sz="1800" u="none" cap="none" strike="noStrike">
                        <a:latin typeface="Arial"/>
                        <a:ea typeface="Arial"/>
                        <a:cs typeface="Arial"/>
                        <a:sym typeface="Arial"/>
                      </a:endParaRPr>
                    </a:p>
                  </a:txBody>
                  <a:tcPr marT="0" marB="0" marR="0" marL="0"/>
                </a:tc>
              </a:tr>
              <a:tr h="274325">
                <a:tc>
                  <a:txBody>
                    <a:bodyPr/>
                    <a:lstStyle/>
                    <a:p>
                      <a:pPr indent="0" lvl="0" marL="31750" marR="0" rtl="0" algn="l">
                        <a:lnSpc>
                          <a:spcPct val="104944"/>
                        </a:lnSpc>
                        <a:spcBef>
                          <a:spcPts val="0"/>
                        </a:spcBef>
                        <a:spcAft>
                          <a:spcPts val="0"/>
                        </a:spcAft>
                        <a:buNone/>
                      </a:pPr>
                      <a:r>
                        <a:rPr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0" marB="0" marR="0" marL="0"/>
                </a:tc>
                <a:tc>
                  <a:txBody>
                    <a:bodyPr/>
                    <a:lstStyle/>
                    <a:p>
                      <a:pPr indent="0" lvl="0" marL="0" marR="796925" rtl="0" algn="r">
                        <a:lnSpc>
                          <a:spcPct val="104944"/>
                        </a:lnSpc>
                        <a:spcBef>
                          <a:spcPts val="0"/>
                        </a:spcBef>
                        <a:spcAft>
                          <a:spcPts val="0"/>
                        </a:spcAft>
                        <a:buNone/>
                      </a:pPr>
                      <a:r>
                        <a:rPr lang="en-US" sz="1800" u="none" cap="none" strike="noStrike">
                          <a:latin typeface="Arial"/>
                          <a:ea typeface="Arial"/>
                          <a:cs typeface="Arial"/>
                          <a:sym typeface="Arial"/>
                        </a:rPr>
                        <a:t>63</a:t>
                      </a:r>
                      <a:endParaRPr sz="1800" u="none" cap="none" strike="noStrike">
                        <a:latin typeface="Arial"/>
                        <a:ea typeface="Arial"/>
                        <a:cs typeface="Arial"/>
                        <a:sym typeface="Arial"/>
                      </a:endParaRPr>
                    </a:p>
                  </a:txBody>
                  <a:tcPr marT="0" marB="0" marR="0" marL="0"/>
                </a:tc>
                <a:tc>
                  <a:txBody>
                    <a:bodyPr/>
                    <a:lstStyle/>
                    <a:p>
                      <a:pPr indent="0" lvl="0" marL="816610" marR="0" rtl="0" algn="l">
                        <a:lnSpc>
                          <a:spcPct val="104944"/>
                        </a:lnSpc>
                        <a:spcBef>
                          <a:spcPts val="0"/>
                        </a:spcBef>
                        <a:spcAft>
                          <a:spcPts val="0"/>
                        </a:spcAft>
                        <a:buNone/>
                      </a:pPr>
                      <a:r>
                        <a:rPr lang="en-US" sz="1800" u="none" cap="none" strike="noStrike">
                          <a:latin typeface="Arial"/>
                          <a:ea typeface="Arial"/>
                          <a:cs typeface="Arial"/>
                          <a:sym typeface="Arial"/>
                        </a:rPr>
                        <a:t>1</a:t>
                      </a:r>
                      <a:endParaRPr sz="1800" u="none" cap="none" strike="noStrike">
                        <a:latin typeface="Arial"/>
                        <a:ea typeface="Arial"/>
                        <a:cs typeface="Arial"/>
                        <a:sym typeface="Arial"/>
                      </a:endParaRPr>
                    </a:p>
                  </a:txBody>
                  <a:tcPr marT="0" marB="0" marR="0" marL="0"/>
                </a:tc>
                <a:tc>
                  <a:txBody>
                    <a:bodyPr/>
                    <a:lstStyle/>
                    <a:p>
                      <a:pPr indent="0" lvl="0" marL="0" marR="76835" rtl="0" algn="r">
                        <a:lnSpc>
                          <a:spcPct val="104944"/>
                        </a:lnSpc>
                        <a:spcBef>
                          <a:spcPts val="0"/>
                        </a:spcBef>
                        <a:spcAft>
                          <a:spcPts val="0"/>
                        </a:spcAft>
                        <a:buNone/>
                      </a:pPr>
                      <a:r>
                        <a:rPr lang="en-US" sz="1800" u="none" cap="none" strike="noStrike">
                          <a:latin typeface="Arial"/>
                          <a:ea typeface="Arial"/>
                          <a:cs typeface="Arial"/>
                          <a:sym typeface="Arial"/>
                        </a:rPr>
                        <a:t>18</a:t>
                      </a:r>
                      <a:endParaRPr sz="1800" u="none" cap="none" strike="noStrike">
                        <a:latin typeface="Arial"/>
                        <a:ea typeface="Arial"/>
                        <a:cs typeface="Arial"/>
                        <a:sym typeface="Arial"/>
                      </a:endParaRPr>
                    </a:p>
                  </a:txBody>
                  <a:tcPr marT="0" marB="0" marR="0" marL="0"/>
                </a:tc>
              </a:tr>
              <a:tr h="274325">
                <a:tc>
                  <a:txBody>
                    <a:bodyPr/>
                    <a:lstStyle/>
                    <a:p>
                      <a:pPr indent="0" lvl="0" marL="31750" marR="0" rtl="0" algn="l">
                        <a:lnSpc>
                          <a:spcPct val="104944"/>
                        </a:lnSpc>
                        <a:spcBef>
                          <a:spcPts val="0"/>
                        </a:spcBef>
                        <a:spcAft>
                          <a:spcPts val="0"/>
                        </a:spcAft>
                        <a:buNone/>
                      </a:pPr>
                      <a:r>
                        <a:rPr lang="en-US" sz="1800" u="none" cap="none" strike="noStrike">
                          <a:latin typeface="Arial"/>
                          <a:ea typeface="Arial"/>
                          <a:cs typeface="Arial"/>
                          <a:sym typeface="Arial"/>
                        </a:rPr>
                        <a:t>3</a:t>
                      </a:r>
                      <a:endParaRPr sz="1800" u="none" cap="none" strike="noStrike">
                        <a:latin typeface="Arial"/>
                        <a:ea typeface="Arial"/>
                        <a:cs typeface="Arial"/>
                        <a:sym typeface="Arial"/>
                      </a:endParaRPr>
                    </a:p>
                  </a:txBody>
                  <a:tcPr marT="0" marB="0" marR="0" marL="0"/>
                </a:tc>
                <a:tc>
                  <a:txBody>
                    <a:bodyPr/>
                    <a:lstStyle/>
                    <a:p>
                      <a:pPr indent="0" lvl="0" marL="0" marR="150495" rtl="0" algn="ctr">
                        <a:lnSpc>
                          <a:spcPct val="104944"/>
                        </a:lnSpc>
                        <a:spcBef>
                          <a:spcPts val="0"/>
                        </a:spcBef>
                        <a:spcAft>
                          <a:spcPts val="0"/>
                        </a:spcAft>
                        <a:buNone/>
                      </a:pPr>
                      <a:r>
                        <a:rPr lang="en-US" sz="1800" u="none" cap="none" strike="noStrike">
                          <a:latin typeface="Arial"/>
                          <a:ea typeface="Arial"/>
                          <a:cs typeface="Arial"/>
                          <a:sym typeface="Arial"/>
                        </a:rPr>
                        <a:t>7</a:t>
                      </a:r>
                      <a:endParaRPr sz="1800" u="none" cap="none" strike="noStrike">
                        <a:latin typeface="Arial"/>
                        <a:ea typeface="Arial"/>
                        <a:cs typeface="Arial"/>
                        <a:sym typeface="Arial"/>
                      </a:endParaRPr>
                    </a:p>
                  </a:txBody>
                  <a:tcPr marT="0" marB="0" marR="0" marL="0"/>
                </a:tc>
                <a:tc>
                  <a:txBody>
                    <a:bodyPr/>
                    <a:lstStyle/>
                    <a:p>
                      <a:pPr indent="0" lvl="0" marL="804545" marR="0" rtl="0" algn="l">
                        <a:lnSpc>
                          <a:spcPct val="104944"/>
                        </a:lnSpc>
                        <a:spcBef>
                          <a:spcPts val="0"/>
                        </a:spcBef>
                        <a:spcAft>
                          <a:spcPts val="0"/>
                        </a:spcAft>
                        <a:buNone/>
                      </a:pPr>
                      <a:r>
                        <a:rPr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0" marB="0" marR="0" marL="0"/>
                </a:tc>
                <a:tc>
                  <a:txBody>
                    <a:bodyPr/>
                    <a:lstStyle/>
                    <a:p>
                      <a:pPr indent="0" lvl="0" marL="0" marR="87630" rtl="0" algn="r">
                        <a:lnSpc>
                          <a:spcPct val="104944"/>
                        </a:lnSpc>
                        <a:spcBef>
                          <a:spcPts val="0"/>
                        </a:spcBef>
                        <a:spcAft>
                          <a:spcPts val="0"/>
                        </a:spcAft>
                        <a:buNone/>
                      </a:pPr>
                      <a:r>
                        <a:rPr lang="en-US" sz="1800" u="none" cap="none" strike="noStrike">
                          <a:latin typeface="Arial"/>
                          <a:ea typeface="Arial"/>
                          <a:cs typeface="Arial"/>
                          <a:sym typeface="Arial"/>
                        </a:rPr>
                        <a:t>17</a:t>
                      </a:r>
                      <a:endParaRPr sz="1800" u="none" cap="none" strike="noStrike">
                        <a:latin typeface="Arial"/>
                        <a:ea typeface="Arial"/>
                        <a:cs typeface="Arial"/>
                        <a:sym typeface="Arial"/>
                      </a:endParaRPr>
                    </a:p>
                  </a:txBody>
                  <a:tcPr marT="0" marB="0" marR="0" marL="0"/>
                </a:tc>
              </a:tr>
              <a:tr h="274200">
                <a:tc>
                  <a:txBody>
                    <a:bodyPr/>
                    <a:lstStyle/>
                    <a:p>
                      <a:pPr indent="0" lvl="0" marL="31750" marR="0" rtl="0" algn="l">
                        <a:lnSpc>
                          <a:spcPct val="104944"/>
                        </a:lnSpc>
                        <a:spcBef>
                          <a:spcPts val="0"/>
                        </a:spcBef>
                        <a:spcAft>
                          <a:spcPts val="0"/>
                        </a:spcAft>
                        <a:buNone/>
                      </a:pPr>
                      <a:r>
                        <a:rPr lang="en-US" sz="1800" u="none" cap="none" strike="noStrike">
                          <a:latin typeface="Arial"/>
                          <a:ea typeface="Arial"/>
                          <a:cs typeface="Arial"/>
                          <a:sym typeface="Arial"/>
                        </a:rPr>
                        <a:t>1</a:t>
                      </a:r>
                      <a:endParaRPr sz="1800" u="none" cap="none" strike="noStrike">
                        <a:latin typeface="Arial"/>
                        <a:ea typeface="Arial"/>
                        <a:cs typeface="Arial"/>
                        <a:sym typeface="Arial"/>
                      </a:endParaRPr>
                    </a:p>
                  </a:txBody>
                  <a:tcPr marT="0" marB="0" marR="0" marL="0"/>
                </a:tc>
                <a:tc>
                  <a:txBody>
                    <a:bodyPr/>
                    <a:lstStyle/>
                    <a:p>
                      <a:pPr indent="0" lvl="0" marL="0" marR="796925" rtl="0" algn="r">
                        <a:lnSpc>
                          <a:spcPct val="104944"/>
                        </a:lnSpc>
                        <a:spcBef>
                          <a:spcPts val="0"/>
                        </a:spcBef>
                        <a:spcAft>
                          <a:spcPts val="0"/>
                        </a:spcAft>
                        <a:buNone/>
                      </a:pPr>
                      <a:r>
                        <a:rPr lang="en-US" sz="1800" u="none" cap="none" strike="noStrike">
                          <a:latin typeface="Arial"/>
                          <a:ea typeface="Arial"/>
                          <a:cs typeface="Arial"/>
                          <a:sym typeface="Arial"/>
                        </a:rPr>
                        <a:t>97</a:t>
                      </a:r>
                      <a:endParaRPr sz="1800" u="none" cap="none" strike="noStrike">
                        <a:latin typeface="Arial"/>
                        <a:ea typeface="Arial"/>
                        <a:cs typeface="Arial"/>
                        <a:sym typeface="Arial"/>
                      </a:endParaRPr>
                    </a:p>
                  </a:txBody>
                  <a:tcPr marT="0" marB="0" marR="0" marL="0"/>
                </a:tc>
                <a:tc>
                  <a:txBody>
                    <a:bodyPr/>
                    <a:lstStyle/>
                    <a:p>
                      <a:pPr indent="0" lvl="0" marL="816610" marR="0" rtl="0" algn="l">
                        <a:lnSpc>
                          <a:spcPct val="104944"/>
                        </a:lnSpc>
                        <a:spcBef>
                          <a:spcPts val="0"/>
                        </a:spcBef>
                        <a:spcAft>
                          <a:spcPts val="0"/>
                        </a:spcAft>
                        <a:buNone/>
                      </a:pPr>
                      <a:r>
                        <a:rPr lang="en-US" sz="1800" u="none" cap="none" strike="noStrike">
                          <a:latin typeface="Arial"/>
                          <a:ea typeface="Arial"/>
                          <a:cs typeface="Arial"/>
                          <a:sym typeface="Arial"/>
                        </a:rPr>
                        <a:t>3</a:t>
                      </a:r>
                      <a:endParaRPr sz="1800" u="none" cap="none" strike="noStrike">
                        <a:latin typeface="Arial"/>
                        <a:ea typeface="Arial"/>
                        <a:cs typeface="Arial"/>
                        <a:sym typeface="Arial"/>
                      </a:endParaRPr>
                    </a:p>
                  </a:txBody>
                  <a:tcPr marT="0" marB="0" marR="0" marL="0"/>
                </a:tc>
                <a:tc>
                  <a:txBody>
                    <a:bodyPr/>
                    <a:lstStyle/>
                    <a:p>
                      <a:pPr indent="0" lvl="0" marL="0" marR="24130" rtl="0" algn="r">
                        <a:lnSpc>
                          <a:spcPct val="104944"/>
                        </a:lnSpc>
                        <a:spcBef>
                          <a:spcPts val="0"/>
                        </a:spcBef>
                        <a:spcAft>
                          <a:spcPts val="0"/>
                        </a:spcAft>
                        <a:buNone/>
                      </a:pPr>
                      <a:r>
                        <a:rPr lang="en-US" sz="1800" u="none" cap="none" strike="noStrike">
                          <a:latin typeface="Arial"/>
                          <a:ea typeface="Arial"/>
                          <a:cs typeface="Arial"/>
                          <a:sym typeface="Arial"/>
                        </a:rPr>
                        <a:t>87</a:t>
                      </a:r>
                      <a:endParaRPr sz="1800" u="none" cap="none" strike="noStrike">
                        <a:latin typeface="Arial"/>
                        <a:ea typeface="Arial"/>
                        <a:cs typeface="Arial"/>
                        <a:sym typeface="Arial"/>
                      </a:endParaRPr>
                    </a:p>
                  </a:txBody>
                  <a:tcPr marT="0" marB="0" marR="0" marL="0"/>
                </a:tc>
              </a:tr>
              <a:tr h="546475">
                <a:tc>
                  <a:txBody>
                    <a:bodyPr/>
                    <a:lstStyle/>
                    <a:p>
                      <a:pPr indent="0" lvl="0" marL="31750" marR="0" rtl="0" algn="l">
                        <a:lnSpc>
                          <a:spcPct val="104944"/>
                        </a:lnSpc>
                        <a:spcBef>
                          <a:spcPts val="0"/>
                        </a:spcBef>
                        <a:spcAft>
                          <a:spcPts val="0"/>
                        </a:spcAft>
                        <a:buNone/>
                      </a:pPr>
                      <a:r>
                        <a:rPr lang="en-US" sz="1800" u="none" cap="none" strike="noStrike">
                          <a:latin typeface="Arial"/>
                          <a:ea typeface="Arial"/>
                          <a:cs typeface="Arial"/>
                          <a:sym typeface="Arial"/>
                        </a:rPr>
                        <a:t>…</a:t>
                      </a:r>
                      <a:endParaRPr sz="1800" u="none" cap="none" strike="noStrike">
                        <a:latin typeface="Arial"/>
                        <a:ea typeface="Arial"/>
                        <a:cs typeface="Arial"/>
                        <a:sym typeface="Arial"/>
                      </a:endParaRPr>
                    </a:p>
                  </a:txBody>
                  <a:tcPr marT="0" marB="0" marR="0" marL="0"/>
                </a:tc>
                <a:tc>
                  <a:txBody>
                    <a:bodyPr/>
                    <a:lstStyle/>
                    <a:p>
                      <a:pPr indent="0" lvl="0" marL="0" marR="830580" rtl="0" algn="r">
                        <a:lnSpc>
                          <a:spcPct val="104944"/>
                        </a:lnSpc>
                        <a:spcBef>
                          <a:spcPts val="0"/>
                        </a:spcBef>
                        <a:spcAft>
                          <a:spcPts val="0"/>
                        </a:spcAft>
                        <a:buNone/>
                      </a:pPr>
                      <a:r>
                        <a:rPr lang="en-US" sz="1800" u="none" cap="none" strike="noStrike">
                          <a:latin typeface="Arial"/>
                          <a:ea typeface="Arial"/>
                          <a:cs typeface="Arial"/>
                          <a:sym typeface="Arial"/>
                        </a:rPr>
                        <a:t>…</a:t>
                      </a:r>
                      <a:endParaRPr sz="1800" u="none" cap="none" strike="noStrike">
                        <a:latin typeface="Arial"/>
                        <a:ea typeface="Arial"/>
                        <a:cs typeface="Arial"/>
                        <a:sym typeface="Arial"/>
                      </a:endParaRPr>
                    </a:p>
                  </a:txBody>
                  <a:tcPr marT="0" marB="0" marR="0" marL="0"/>
                </a:tc>
                <a:tc>
                  <a:txBody>
                    <a:bodyPr/>
                    <a:lstStyle/>
                    <a:p>
                      <a:pPr indent="0" lvl="0" marL="833755" marR="0" rtl="0" algn="l">
                        <a:lnSpc>
                          <a:spcPct val="104944"/>
                        </a:lnSpc>
                        <a:spcBef>
                          <a:spcPts val="0"/>
                        </a:spcBef>
                        <a:spcAft>
                          <a:spcPts val="0"/>
                        </a:spcAft>
                        <a:buNone/>
                      </a:pPr>
                      <a:r>
                        <a:rPr lang="en-US" sz="1800" u="none" cap="none" strike="noStrike">
                          <a:latin typeface="Arial"/>
                          <a:ea typeface="Arial"/>
                          <a:cs typeface="Arial"/>
                          <a:sym typeface="Arial"/>
                        </a:rPr>
                        <a:t>…</a:t>
                      </a:r>
                      <a:endParaRPr sz="1800" u="none" cap="none" strike="noStrike">
                        <a:latin typeface="Arial"/>
                        <a:ea typeface="Arial"/>
                        <a:cs typeface="Arial"/>
                        <a:sym typeface="Arial"/>
                      </a:endParaRPr>
                    </a:p>
                  </a:txBody>
                  <a:tcPr marT="0" marB="0" marR="0" marL="0"/>
                </a:tc>
                <a:tc>
                  <a:txBody>
                    <a:bodyPr/>
                    <a:lstStyle/>
                    <a:p>
                      <a:pPr indent="0" lvl="0" marL="0" marR="38100" rtl="0" algn="r">
                        <a:lnSpc>
                          <a:spcPct val="104944"/>
                        </a:lnSpc>
                        <a:spcBef>
                          <a:spcPts val="0"/>
                        </a:spcBef>
                        <a:spcAft>
                          <a:spcPts val="0"/>
                        </a:spcAft>
                        <a:buNone/>
                      </a:pPr>
                      <a:r>
                        <a:rPr lang="en-US" sz="1800" u="none" cap="none" strike="noStrike">
                          <a:latin typeface="Arial"/>
                          <a:ea typeface="Arial"/>
                          <a:cs typeface="Arial"/>
                          <a:sym typeface="Arial"/>
                        </a:rPr>
                        <a:t>…</a:t>
                      </a:r>
                      <a:endParaRPr sz="1800" u="none" cap="none" strike="noStrike">
                        <a:latin typeface="Arial"/>
                        <a:ea typeface="Arial"/>
                        <a:cs typeface="Arial"/>
                        <a:sym typeface="Arial"/>
                      </a:endParaRPr>
                    </a:p>
                  </a:txBody>
                  <a:tcPr marT="0" marB="0" marR="0" marL="0"/>
                </a:tc>
              </a:tr>
            </a:tbl>
          </a:graphicData>
        </a:graphic>
      </p:graphicFrame>
      <p:sp>
        <p:nvSpPr>
          <p:cNvPr id="304" name="Google Shape;304;p18"/>
          <p:cNvSpPr txBox="1"/>
          <p:nvPr/>
        </p:nvSpPr>
        <p:spPr>
          <a:xfrm>
            <a:off x="1888792" y="1847850"/>
            <a:ext cx="2151300" cy="1713600"/>
          </a:xfrm>
          <a:prstGeom prst="rect">
            <a:avLst/>
          </a:prstGeom>
          <a:noFill/>
          <a:ln>
            <a:noFill/>
          </a:ln>
        </p:spPr>
        <p:txBody>
          <a:bodyPr anchorCtr="0" anchor="t" bIns="0" lIns="0" spcFirstLastPara="1" rIns="0" wrap="square" tIns="68575">
            <a:spAutoFit/>
          </a:bodyPr>
          <a:lstStyle/>
          <a:p>
            <a:pPr indent="0" lvl="0" marL="12700" marR="5080" rtl="0" algn="l">
              <a:lnSpc>
                <a:spcPct val="102083"/>
              </a:lnSpc>
              <a:spcBef>
                <a:spcPts val="0"/>
              </a:spcBef>
              <a:spcAft>
                <a:spcPts val="0"/>
              </a:spcAft>
              <a:buNone/>
            </a:pPr>
            <a:r>
              <a:rPr i="1" lang="en-US" sz="2400">
                <a:solidFill>
                  <a:srgbClr val="CC0000"/>
                </a:solidFill>
                <a:latin typeface="Trebuchet MS"/>
                <a:ea typeface="Trebuchet MS"/>
                <a:cs typeface="Trebuchet MS"/>
                <a:sym typeface="Trebuchet MS"/>
              </a:rPr>
              <a:t>forwarding table in  router:</a:t>
            </a:r>
            <a:endParaRPr sz="2400">
              <a:solidFill>
                <a:schemeClr val="dk1"/>
              </a:solidFill>
              <a:latin typeface="Trebuchet MS"/>
              <a:ea typeface="Trebuchet MS"/>
              <a:cs typeface="Trebuchet MS"/>
              <a:sym typeface="Trebuchet MS"/>
            </a:endParaRPr>
          </a:p>
          <a:p>
            <a:pPr indent="0" lvl="0" marL="248920" marR="0" rtl="0" algn="l">
              <a:lnSpc>
                <a:spcPct val="100000"/>
              </a:lnSpc>
              <a:spcBef>
                <a:spcPts val="1839"/>
              </a:spcBef>
              <a:spcAft>
                <a:spcPts val="0"/>
              </a:spcAft>
              <a:buNone/>
            </a:pPr>
            <a:r>
              <a:rPr lang="en-US" sz="1800">
                <a:solidFill>
                  <a:schemeClr val="dk1"/>
                </a:solidFill>
                <a:latin typeface="Arial"/>
                <a:ea typeface="Arial"/>
                <a:cs typeface="Arial"/>
                <a:sym typeface="Arial"/>
              </a:rPr>
              <a:t>Incoming interface</a:t>
            </a:r>
            <a:endParaRPr sz="1800">
              <a:solidFill>
                <a:schemeClr val="dk1"/>
              </a:solidFill>
              <a:latin typeface="Arial"/>
              <a:ea typeface="Arial"/>
              <a:cs typeface="Arial"/>
              <a:sym typeface="Arial"/>
            </a:endParaRPr>
          </a:p>
        </p:txBody>
      </p:sp>
      <p:sp>
        <p:nvSpPr>
          <p:cNvPr id="305" name="Google Shape;305;p18"/>
          <p:cNvSpPr txBox="1"/>
          <p:nvPr/>
        </p:nvSpPr>
        <p:spPr>
          <a:xfrm>
            <a:off x="1524761" y="5715761"/>
            <a:ext cx="9144000" cy="605155"/>
          </a:xfrm>
          <a:prstGeom prst="rect">
            <a:avLst/>
          </a:prstGeom>
          <a:noFill/>
          <a:ln cap="flat" cmpd="sng" w="25900">
            <a:solidFill>
              <a:srgbClr val="CC0000"/>
            </a:solidFill>
            <a:prstDash val="solid"/>
            <a:round/>
            <a:headEnd len="sm" w="sm" type="none"/>
            <a:tailEnd len="sm" w="sm" type="none"/>
          </a:ln>
        </p:spPr>
        <p:txBody>
          <a:bodyPr anchorCtr="0" anchor="t" bIns="0" lIns="0" spcFirstLastPara="1" rIns="0" wrap="square" tIns="29825">
            <a:spAutoFit/>
          </a:bodyPr>
          <a:lstStyle/>
          <a:p>
            <a:pPr indent="0" lvl="0" marL="90805" marR="0" rtl="0" algn="l">
              <a:lnSpc>
                <a:spcPct val="100000"/>
              </a:lnSpc>
              <a:spcBef>
                <a:spcPts val="0"/>
              </a:spcBef>
              <a:spcAft>
                <a:spcPts val="0"/>
              </a:spcAft>
              <a:buNone/>
            </a:pPr>
            <a:r>
              <a:rPr i="1" lang="en-US" sz="3200">
                <a:solidFill>
                  <a:srgbClr val="CC0000"/>
                </a:solidFill>
                <a:latin typeface="Trebuchet MS"/>
                <a:ea typeface="Trebuchet MS"/>
                <a:cs typeface="Trebuchet MS"/>
                <a:sym typeface="Trebuchet MS"/>
              </a:rPr>
              <a:t>VC routers maintain connection state information!</a:t>
            </a:r>
            <a:endParaRPr sz="3200">
              <a:solidFill>
                <a:schemeClr val="dk1"/>
              </a:solidFill>
              <a:latin typeface="Trebuchet MS"/>
              <a:ea typeface="Trebuchet MS"/>
              <a:cs typeface="Trebuchet MS"/>
              <a:sym typeface="Trebuchet MS"/>
            </a:endParaRPr>
          </a:p>
        </p:txBody>
      </p:sp>
      <p:sp>
        <p:nvSpPr>
          <p:cNvPr id="306" name="Google Shape;306;p18"/>
          <p:cNvSpPr/>
          <p:nvPr/>
        </p:nvSpPr>
        <p:spPr>
          <a:xfrm>
            <a:off x="2137410" y="3681221"/>
            <a:ext cx="7495540" cy="0"/>
          </a:xfrm>
          <a:custGeom>
            <a:rect b="b" l="l" r="r" t="t"/>
            <a:pathLst>
              <a:path extrusionOk="0" h="120000" w="7495540">
                <a:moveTo>
                  <a:pt x="0" y="0"/>
                </a:moveTo>
                <a:lnTo>
                  <a:pt x="7495032" y="0"/>
                </a:lnTo>
              </a:path>
            </a:pathLst>
          </a:custGeom>
          <a:noFill/>
          <a:ln cap="flat" cmpd="sng" w="19800">
            <a:solidFill>
              <a:srgbClr val="00009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p19"/>
          <p:cNvSpPr txBox="1"/>
          <p:nvPr>
            <p:ph type="title"/>
          </p:nvPr>
        </p:nvSpPr>
        <p:spPr>
          <a:xfrm>
            <a:off x="916939" y="308228"/>
            <a:ext cx="4399915"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a:t>Virtual circuit setup</a:t>
            </a:r>
            <a:endParaRPr sz="4400"/>
          </a:p>
        </p:txBody>
      </p:sp>
      <p:sp>
        <p:nvSpPr>
          <p:cNvPr id="312" name="Google Shape;312;p19"/>
          <p:cNvSpPr/>
          <p:nvPr/>
        </p:nvSpPr>
        <p:spPr>
          <a:xfrm>
            <a:off x="1618268" y="1981200"/>
            <a:ext cx="9049731" cy="4419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6" name="Shape 316"/>
        <p:cNvGrpSpPr/>
        <p:nvPr/>
      </p:nvGrpSpPr>
      <p:grpSpPr>
        <a:xfrm>
          <a:off x="0" y="0"/>
          <a:ext cx="0" cy="0"/>
          <a:chOff x="0" y="0"/>
          <a:chExt cx="0" cy="0"/>
        </a:xfrm>
      </p:grpSpPr>
      <p:sp>
        <p:nvSpPr>
          <p:cNvPr id="317" name="Google Shape;317;p20"/>
          <p:cNvSpPr txBox="1"/>
          <p:nvPr>
            <p:ph type="title"/>
          </p:nvPr>
        </p:nvSpPr>
        <p:spPr>
          <a:xfrm>
            <a:off x="916939" y="609676"/>
            <a:ext cx="469328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400"/>
              <a:t>Virtual circuit Phases</a:t>
            </a:r>
            <a:endParaRPr sz="4400"/>
          </a:p>
        </p:txBody>
      </p:sp>
      <p:sp>
        <p:nvSpPr>
          <p:cNvPr id="318" name="Google Shape;318;p20"/>
          <p:cNvSpPr txBox="1"/>
          <p:nvPr/>
        </p:nvSpPr>
        <p:spPr>
          <a:xfrm>
            <a:off x="916939" y="1707918"/>
            <a:ext cx="7960995" cy="2070735"/>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There are three identifiable phases in a virtual circuit:</a:t>
            </a:r>
            <a:endParaRPr sz="2800">
              <a:solidFill>
                <a:schemeClr val="dk1"/>
              </a:solidFill>
              <a:latin typeface="Arial"/>
              <a:ea typeface="Arial"/>
              <a:cs typeface="Arial"/>
              <a:sym typeface="Arial"/>
            </a:endParaRPr>
          </a:p>
          <a:p>
            <a:pPr indent="-515619" lvl="0" marL="527685" marR="0" rtl="0" algn="l">
              <a:lnSpc>
                <a:spcPct val="100000"/>
              </a:lnSpc>
              <a:spcBef>
                <a:spcPts val="670"/>
              </a:spcBef>
              <a:spcAft>
                <a:spcPts val="0"/>
              </a:spcAft>
              <a:buClr>
                <a:schemeClr val="dk1"/>
              </a:buClr>
              <a:buSzPts val="2800"/>
              <a:buFont typeface="Arial"/>
              <a:buAutoNum type="arabicPeriod"/>
            </a:pPr>
            <a:r>
              <a:rPr i="1" lang="en-US" sz="2800">
                <a:solidFill>
                  <a:schemeClr val="dk1"/>
                </a:solidFill>
                <a:latin typeface="Arial"/>
                <a:ea typeface="Arial"/>
                <a:cs typeface="Arial"/>
                <a:sym typeface="Arial"/>
              </a:rPr>
              <a:t>VC setup</a:t>
            </a:r>
            <a:endParaRPr sz="2800">
              <a:solidFill>
                <a:schemeClr val="dk1"/>
              </a:solidFill>
              <a:latin typeface="Arial"/>
              <a:ea typeface="Arial"/>
              <a:cs typeface="Arial"/>
              <a:sym typeface="Arial"/>
            </a:endParaRPr>
          </a:p>
          <a:p>
            <a:pPr indent="-515619" lvl="0" marL="527685" marR="0" rtl="0" algn="l">
              <a:lnSpc>
                <a:spcPct val="100000"/>
              </a:lnSpc>
              <a:spcBef>
                <a:spcPts val="665"/>
              </a:spcBef>
              <a:spcAft>
                <a:spcPts val="0"/>
              </a:spcAft>
              <a:buClr>
                <a:schemeClr val="dk1"/>
              </a:buClr>
              <a:buSzPts val="2800"/>
              <a:buFont typeface="Arial"/>
              <a:buAutoNum type="arabicPeriod"/>
            </a:pPr>
            <a:r>
              <a:rPr i="1" lang="en-US" sz="2800">
                <a:solidFill>
                  <a:schemeClr val="dk1"/>
                </a:solidFill>
                <a:latin typeface="Arial"/>
                <a:ea typeface="Arial"/>
                <a:cs typeface="Arial"/>
                <a:sym typeface="Arial"/>
              </a:rPr>
              <a:t>Data transfer.</a:t>
            </a:r>
            <a:endParaRPr sz="2800">
              <a:solidFill>
                <a:schemeClr val="dk1"/>
              </a:solidFill>
              <a:latin typeface="Arial"/>
              <a:ea typeface="Arial"/>
              <a:cs typeface="Arial"/>
              <a:sym typeface="Arial"/>
            </a:endParaRPr>
          </a:p>
          <a:p>
            <a:pPr indent="-515619" lvl="0" marL="527685" marR="0" rtl="0" algn="l">
              <a:lnSpc>
                <a:spcPct val="100000"/>
              </a:lnSpc>
              <a:spcBef>
                <a:spcPts val="660"/>
              </a:spcBef>
              <a:spcAft>
                <a:spcPts val="0"/>
              </a:spcAft>
              <a:buClr>
                <a:schemeClr val="dk1"/>
              </a:buClr>
              <a:buSzPts val="2800"/>
              <a:buFont typeface="Arial"/>
              <a:buAutoNum type="arabicPeriod"/>
            </a:pPr>
            <a:r>
              <a:rPr i="1" lang="en-US" sz="2800">
                <a:solidFill>
                  <a:schemeClr val="dk1"/>
                </a:solidFill>
                <a:latin typeface="Arial"/>
                <a:ea typeface="Arial"/>
                <a:cs typeface="Arial"/>
                <a:sym typeface="Arial"/>
              </a:rPr>
              <a:t>VC teardown.</a:t>
            </a:r>
            <a:endParaRPr sz="2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1"/>
          <p:cNvSpPr txBox="1"/>
          <p:nvPr>
            <p:ph type="title"/>
          </p:nvPr>
        </p:nvSpPr>
        <p:spPr>
          <a:xfrm>
            <a:off x="4560570" y="324053"/>
            <a:ext cx="3745230" cy="690574"/>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Virtual	setup</a:t>
            </a:r>
            <a:endParaRPr sz="4400">
              <a:latin typeface="Arial"/>
              <a:ea typeface="Arial"/>
              <a:cs typeface="Arial"/>
              <a:sym typeface="Arial"/>
            </a:endParaRPr>
          </a:p>
        </p:txBody>
      </p:sp>
      <p:sp>
        <p:nvSpPr>
          <p:cNvPr id="324" name="Google Shape;324;p21"/>
          <p:cNvSpPr txBox="1"/>
          <p:nvPr/>
        </p:nvSpPr>
        <p:spPr>
          <a:xfrm>
            <a:off x="2060194" y="1385061"/>
            <a:ext cx="8074025" cy="4781550"/>
          </a:xfrm>
          <a:prstGeom prst="rect">
            <a:avLst/>
          </a:prstGeom>
          <a:noFill/>
          <a:ln>
            <a:noFill/>
          </a:ln>
        </p:spPr>
        <p:txBody>
          <a:bodyPr anchorCtr="0" anchor="t" bIns="0" lIns="0" spcFirstLastPara="1" rIns="0" wrap="square" tIns="12700">
            <a:spAutoFit/>
          </a:bodyPr>
          <a:lstStyle/>
          <a:p>
            <a:pPr indent="-342900" lvl="0" marL="355600" marR="7620" rtl="0" algn="just">
              <a:lnSpc>
                <a:spcPct val="100000"/>
              </a:lnSpc>
              <a:spcBef>
                <a:spcPts val="0"/>
              </a:spcBef>
              <a:spcAft>
                <a:spcPts val="0"/>
              </a:spcAft>
              <a:buClr>
                <a:schemeClr val="dk1"/>
              </a:buClr>
              <a:buSzPts val="2400"/>
              <a:buFont typeface="Arial"/>
              <a:buChar char="•"/>
            </a:pPr>
            <a:r>
              <a:rPr i="1" lang="en-US" sz="2400">
                <a:solidFill>
                  <a:schemeClr val="dk1"/>
                </a:solidFill>
                <a:latin typeface="Arial"/>
                <a:ea typeface="Arial"/>
                <a:cs typeface="Arial"/>
                <a:sym typeface="Arial"/>
              </a:rPr>
              <a:t>VC setup. During the setup phase, the sending transport layer  contacts the network </a:t>
            </a:r>
            <a:r>
              <a:rPr lang="en-US" sz="2400">
                <a:solidFill>
                  <a:schemeClr val="dk1"/>
                </a:solidFill>
                <a:latin typeface="Arial"/>
                <a:ea typeface="Arial"/>
                <a:cs typeface="Arial"/>
                <a:sym typeface="Arial"/>
              </a:rPr>
              <a:t>layer, </a:t>
            </a:r>
            <a:r>
              <a:rPr lang="en-US" sz="2400">
                <a:solidFill>
                  <a:srgbClr val="1F487C"/>
                </a:solidFill>
                <a:latin typeface="Arial"/>
                <a:ea typeface="Arial"/>
                <a:cs typeface="Arial"/>
                <a:sym typeface="Arial"/>
              </a:rPr>
              <a:t>specifies the receiver’s address</a:t>
            </a:r>
            <a:r>
              <a:rPr lang="en-US" sz="2400">
                <a:solidFill>
                  <a:schemeClr val="dk1"/>
                </a:solidFill>
                <a:latin typeface="Arial"/>
                <a:ea typeface="Arial"/>
                <a:cs typeface="Arial"/>
                <a:sym typeface="Arial"/>
              </a:rPr>
              <a:t>,  and waits for the network to set up the VC.</a:t>
            </a:r>
            <a:endParaRPr sz="2400">
              <a:solidFill>
                <a:schemeClr val="dk1"/>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Arial"/>
              <a:ea typeface="Arial"/>
              <a:cs typeface="Arial"/>
              <a:sym typeface="Arial"/>
            </a:endParaRPr>
          </a:p>
          <a:p>
            <a:pPr indent="-342900" lvl="0" marL="355600" marR="5080" rtl="0" algn="just">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network layer determines the </a:t>
            </a:r>
            <a:r>
              <a:rPr lang="en-US" sz="2400">
                <a:solidFill>
                  <a:srgbClr val="1F487C"/>
                </a:solidFill>
                <a:latin typeface="Arial"/>
                <a:ea typeface="Arial"/>
                <a:cs typeface="Arial"/>
                <a:sym typeface="Arial"/>
              </a:rPr>
              <a:t>path between sender and  receiver</a:t>
            </a:r>
            <a:r>
              <a:rPr lang="en-US" sz="2400">
                <a:solidFill>
                  <a:schemeClr val="dk1"/>
                </a:solidFill>
                <a:latin typeface="Arial"/>
                <a:ea typeface="Arial"/>
                <a:cs typeface="Arial"/>
                <a:sym typeface="Arial"/>
              </a:rPr>
              <a:t>, that is, the series of links and routers through which  all packets of the VC will travel.</a:t>
            </a:r>
            <a:endParaRPr sz="2400">
              <a:solidFill>
                <a:schemeClr val="dk1"/>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Arial"/>
              <a:buNone/>
            </a:pPr>
            <a:r>
              <a:t/>
            </a:r>
            <a:endParaRPr sz="3300">
              <a:solidFill>
                <a:schemeClr val="dk1"/>
              </a:solidFill>
              <a:latin typeface="Arial"/>
              <a:ea typeface="Arial"/>
              <a:cs typeface="Arial"/>
              <a:sym typeface="Arial"/>
            </a:endParaRPr>
          </a:p>
          <a:p>
            <a:pPr indent="-342900" lvl="0" marL="355600" marR="5080" rtl="0" algn="just">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network layer also </a:t>
            </a:r>
            <a:r>
              <a:rPr lang="en-US" sz="2400">
                <a:solidFill>
                  <a:srgbClr val="1F487C"/>
                </a:solidFill>
                <a:latin typeface="Arial"/>
                <a:ea typeface="Arial"/>
                <a:cs typeface="Arial"/>
                <a:sym typeface="Arial"/>
              </a:rPr>
              <a:t>determines the VC number </a:t>
            </a:r>
            <a:r>
              <a:rPr lang="en-US" sz="2400">
                <a:solidFill>
                  <a:schemeClr val="dk1"/>
                </a:solidFill>
                <a:latin typeface="Arial"/>
                <a:ea typeface="Arial"/>
                <a:cs typeface="Arial"/>
                <a:sym typeface="Arial"/>
              </a:rPr>
              <a:t>for each  link along the path.</a:t>
            </a:r>
            <a:endParaRPr sz="2400">
              <a:solidFill>
                <a:schemeClr val="dk1"/>
              </a:solidFill>
              <a:latin typeface="Arial"/>
              <a:ea typeface="Arial"/>
              <a:cs typeface="Arial"/>
              <a:sym typeface="Arial"/>
            </a:endParaRPr>
          </a:p>
          <a:p>
            <a:pPr indent="-342900" lvl="0" marL="355600" marR="8255" rtl="0" algn="just">
              <a:lnSpc>
                <a:spcPct val="100000"/>
              </a:lnSpc>
              <a:spcBef>
                <a:spcPts val="580"/>
              </a:spcBef>
              <a:spcAft>
                <a:spcPts val="0"/>
              </a:spcAft>
              <a:buClr>
                <a:schemeClr val="dk1"/>
              </a:buClr>
              <a:buSzPts val="2400"/>
              <a:buFont typeface="Arial"/>
              <a:buChar char="•"/>
            </a:pPr>
            <a:r>
              <a:rPr lang="en-US" sz="2400">
                <a:solidFill>
                  <a:schemeClr val="dk1"/>
                </a:solidFill>
                <a:latin typeface="Arial"/>
                <a:ea typeface="Arial"/>
                <a:cs typeface="Arial"/>
                <a:sym typeface="Arial"/>
              </a:rPr>
              <a:t>Finally, the network layer adds an </a:t>
            </a:r>
            <a:r>
              <a:rPr lang="en-US" sz="2400">
                <a:solidFill>
                  <a:srgbClr val="1F487C"/>
                </a:solidFill>
                <a:latin typeface="Arial"/>
                <a:ea typeface="Arial"/>
                <a:cs typeface="Arial"/>
                <a:sym typeface="Arial"/>
              </a:rPr>
              <a:t>entry in the forwarding  table </a:t>
            </a:r>
            <a:r>
              <a:rPr lang="en-US" sz="2400">
                <a:solidFill>
                  <a:schemeClr val="dk1"/>
                </a:solidFill>
                <a:latin typeface="Arial"/>
                <a:ea typeface="Arial"/>
                <a:cs typeface="Arial"/>
                <a:sym typeface="Arial"/>
              </a:rPr>
              <a:t>in each router</a:t>
            </a:r>
            <a:endParaRPr sz="24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txBox="1"/>
          <p:nvPr>
            <p:ph type="title"/>
          </p:nvPr>
        </p:nvSpPr>
        <p:spPr>
          <a:xfrm>
            <a:off x="2471673" y="466166"/>
            <a:ext cx="8729727" cy="680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i="0" lang="en-US" sz="4300">
                <a:solidFill>
                  <a:srgbClr val="000080"/>
                </a:solidFill>
                <a:latin typeface="Arial"/>
                <a:ea typeface="Arial"/>
                <a:cs typeface="Arial"/>
                <a:sym typeface="Arial"/>
              </a:rPr>
              <a:t>Setup request in a virtual circuit</a:t>
            </a:r>
            <a:endParaRPr sz="4300">
              <a:latin typeface="Arial"/>
              <a:ea typeface="Arial"/>
              <a:cs typeface="Arial"/>
              <a:sym typeface="Arial"/>
            </a:endParaRPr>
          </a:p>
        </p:txBody>
      </p:sp>
      <p:sp>
        <p:nvSpPr>
          <p:cNvPr id="330" name="Google Shape;330;p22"/>
          <p:cNvSpPr/>
          <p:nvPr/>
        </p:nvSpPr>
        <p:spPr>
          <a:xfrm>
            <a:off x="1319783" y="1318164"/>
            <a:ext cx="9169282" cy="462531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3"/>
          <p:cNvSpPr txBox="1"/>
          <p:nvPr>
            <p:ph type="title"/>
          </p:nvPr>
        </p:nvSpPr>
        <p:spPr>
          <a:xfrm>
            <a:off x="3355594" y="465200"/>
            <a:ext cx="5463540" cy="680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i="0" lang="en-US" sz="4300">
                <a:solidFill>
                  <a:srgbClr val="000080"/>
                </a:solidFill>
                <a:latin typeface="Arial"/>
                <a:ea typeface="Arial"/>
                <a:cs typeface="Arial"/>
                <a:sym typeface="Arial"/>
              </a:rPr>
              <a:t>Acknowledgment Phase</a:t>
            </a:r>
            <a:endParaRPr sz="4300">
              <a:latin typeface="Arial"/>
              <a:ea typeface="Arial"/>
              <a:cs typeface="Arial"/>
              <a:sym typeface="Arial"/>
            </a:endParaRPr>
          </a:p>
        </p:txBody>
      </p:sp>
      <p:sp>
        <p:nvSpPr>
          <p:cNvPr id="336" name="Google Shape;336;p23"/>
          <p:cNvSpPr/>
          <p:nvPr/>
        </p:nvSpPr>
        <p:spPr>
          <a:xfrm>
            <a:off x="2289048" y="1728216"/>
            <a:ext cx="8670036" cy="441198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4"/>
          <p:cNvSpPr txBox="1"/>
          <p:nvPr>
            <p:ph type="title"/>
          </p:nvPr>
        </p:nvSpPr>
        <p:spPr>
          <a:xfrm>
            <a:off x="4156709" y="461899"/>
            <a:ext cx="4911091"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VC </a:t>
            </a:r>
            <a:r>
              <a:rPr lang="en-US" sz="4400"/>
              <a:t>Data transfer.</a:t>
            </a:r>
            <a:endParaRPr sz="4400">
              <a:latin typeface="Arial"/>
              <a:ea typeface="Arial"/>
              <a:cs typeface="Arial"/>
              <a:sym typeface="Arial"/>
            </a:endParaRPr>
          </a:p>
        </p:txBody>
      </p:sp>
      <p:sp>
        <p:nvSpPr>
          <p:cNvPr id="342" name="Google Shape;342;p24"/>
          <p:cNvSpPr txBox="1"/>
          <p:nvPr/>
        </p:nvSpPr>
        <p:spPr>
          <a:xfrm>
            <a:off x="688340" y="1607261"/>
            <a:ext cx="10814100" cy="998700"/>
          </a:xfrm>
          <a:prstGeom prst="rect">
            <a:avLst/>
          </a:prstGeom>
          <a:noFill/>
          <a:ln>
            <a:noFill/>
          </a:ln>
        </p:spPr>
        <p:txBody>
          <a:bodyPr anchorCtr="0" anchor="t" bIns="0" lIns="0" spcFirstLastPara="1" rIns="0" wrap="square" tIns="13325">
            <a:spAutoFit/>
          </a:bodyPr>
          <a:lstStyle/>
          <a:p>
            <a:pPr indent="-342900" lvl="0" marL="355600" marR="5080" rtl="0" algn="l">
              <a:lnSpc>
                <a:spcPct val="100000"/>
              </a:lnSpc>
              <a:spcBef>
                <a:spcPts val="0"/>
              </a:spcBef>
              <a:spcAft>
                <a:spcPts val="0"/>
              </a:spcAft>
              <a:buClr>
                <a:schemeClr val="dk1"/>
              </a:buClr>
              <a:buSzPts val="3200"/>
              <a:buFont typeface="Arial"/>
              <a:buChar char="•"/>
            </a:pPr>
            <a:r>
              <a:rPr i="1" lang="en-US" sz="3200">
                <a:solidFill>
                  <a:schemeClr val="dk1"/>
                </a:solidFill>
                <a:latin typeface="Arial"/>
                <a:ea typeface="Arial"/>
                <a:cs typeface="Arial"/>
                <a:sym typeface="Arial"/>
              </a:rPr>
              <a:t>Data	transfer.	once	the	VC	has	been	 established,	packets	</a:t>
            </a:r>
            <a:r>
              <a:rPr lang="en-US" sz="3200">
                <a:solidFill>
                  <a:schemeClr val="dk1"/>
                </a:solidFill>
                <a:latin typeface="Arial"/>
                <a:ea typeface="Arial"/>
                <a:cs typeface="Arial"/>
                <a:sym typeface="Arial"/>
              </a:rPr>
              <a:t>can  begin to flow along the VC.</a:t>
            </a:r>
            <a:endParaRPr sz="32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5"/>
          <p:cNvSpPr txBox="1"/>
          <p:nvPr>
            <p:ph type="title"/>
          </p:nvPr>
        </p:nvSpPr>
        <p:spPr>
          <a:xfrm>
            <a:off x="4144517" y="461899"/>
            <a:ext cx="4999483"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VC	Data Transfer</a:t>
            </a:r>
            <a:endParaRPr sz="4400">
              <a:latin typeface="Arial"/>
              <a:ea typeface="Arial"/>
              <a:cs typeface="Arial"/>
              <a:sym typeface="Arial"/>
            </a:endParaRPr>
          </a:p>
        </p:txBody>
      </p:sp>
      <p:sp>
        <p:nvSpPr>
          <p:cNvPr id="348" name="Google Shape;348;p25"/>
          <p:cNvSpPr/>
          <p:nvPr/>
        </p:nvSpPr>
        <p:spPr>
          <a:xfrm>
            <a:off x="2432877" y="1417319"/>
            <a:ext cx="8116884" cy="520750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6"/>
          <p:cNvSpPr txBox="1"/>
          <p:nvPr>
            <p:ph type="title"/>
          </p:nvPr>
        </p:nvSpPr>
        <p:spPr>
          <a:xfrm>
            <a:off x="4693539" y="192150"/>
            <a:ext cx="4983861" cy="935513"/>
          </a:xfrm>
          <a:prstGeom prst="rect">
            <a:avLst/>
          </a:prstGeom>
          <a:noFill/>
          <a:ln>
            <a:noFill/>
          </a:ln>
        </p:spPr>
        <p:txBody>
          <a:bodyPr anchorCtr="0" anchor="t" bIns="0" lIns="0" spcFirstLastPara="1" rIns="0" wrap="square" tIns="12050">
            <a:spAutoFit/>
          </a:bodyPr>
          <a:lstStyle/>
          <a:p>
            <a:pPr indent="0" lvl="0" marL="15240" rtl="0" algn="l">
              <a:lnSpc>
                <a:spcPct val="100000"/>
              </a:lnSpc>
              <a:spcBef>
                <a:spcPts val="0"/>
              </a:spcBef>
              <a:spcAft>
                <a:spcPts val="0"/>
              </a:spcAft>
              <a:buNone/>
            </a:pPr>
            <a:r>
              <a:rPr lang="en-US"/>
              <a:t>VC teardown.</a:t>
            </a:r>
            <a:endParaRPr/>
          </a:p>
        </p:txBody>
      </p:sp>
      <p:sp>
        <p:nvSpPr>
          <p:cNvPr id="354" name="Google Shape;354;p26"/>
          <p:cNvSpPr txBox="1"/>
          <p:nvPr/>
        </p:nvSpPr>
        <p:spPr>
          <a:xfrm>
            <a:off x="1790192" y="1428115"/>
            <a:ext cx="8496300" cy="4037329"/>
          </a:xfrm>
          <a:prstGeom prst="rect">
            <a:avLst/>
          </a:prstGeom>
          <a:noFill/>
          <a:ln>
            <a:noFill/>
          </a:ln>
        </p:spPr>
        <p:txBody>
          <a:bodyPr anchorCtr="0" anchor="t" bIns="0" lIns="0" spcFirstLastPara="1" rIns="0" wrap="square" tIns="12050">
            <a:spAutoFit/>
          </a:bodyPr>
          <a:lstStyle/>
          <a:p>
            <a:pPr indent="-342900" lvl="0" marL="355600" marR="5715" rtl="0" algn="just">
              <a:lnSpc>
                <a:spcPct val="100000"/>
              </a:lnSpc>
              <a:spcBef>
                <a:spcPts val="0"/>
              </a:spcBef>
              <a:spcAft>
                <a:spcPts val="0"/>
              </a:spcAft>
              <a:buClr>
                <a:schemeClr val="dk1"/>
              </a:buClr>
              <a:buSzPts val="2800"/>
              <a:buFont typeface="Arial"/>
              <a:buChar char="•"/>
            </a:pPr>
            <a:r>
              <a:rPr i="1" lang="en-US" sz="2800">
                <a:solidFill>
                  <a:schemeClr val="dk1"/>
                </a:solidFill>
                <a:latin typeface="Arial"/>
                <a:ea typeface="Arial"/>
                <a:cs typeface="Arial"/>
                <a:sym typeface="Arial"/>
              </a:rPr>
              <a:t>VC teardown. This is initiated when </a:t>
            </a:r>
            <a:r>
              <a:rPr i="1" lang="en-US" sz="2800">
                <a:solidFill>
                  <a:srgbClr val="1F487C"/>
                </a:solidFill>
                <a:latin typeface="Arial"/>
                <a:ea typeface="Arial"/>
                <a:cs typeface="Arial"/>
                <a:sym typeface="Arial"/>
              </a:rPr>
              <a:t>the sender (or  receiver) informs </a:t>
            </a:r>
            <a:r>
              <a:rPr i="1" lang="en-US" sz="2800">
                <a:solidFill>
                  <a:schemeClr val="dk1"/>
                </a:solidFill>
                <a:latin typeface="Arial"/>
                <a:ea typeface="Arial"/>
                <a:cs typeface="Arial"/>
                <a:sym typeface="Arial"/>
              </a:rPr>
              <a:t>the network </a:t>
            </a:r>
            <a:r>
              <a:rPr lang="en-US" sz="2800">
                <a:solidFill>
                  <a:schemeClr val="dk1"/>
                </a:solidFill>
                <a:latin typeface="Arial"/>
                <a:ea typeface="Arial"/>
                <a:cs typeface="Arial"/>
                <a:sym typeface="Arial"/>
              </a:rPr>
              <a:t>layer of its desire to  terminate the VC.</a:t>
            </a:r>
            <a:endParaRPr sz="2800">
              <a:solidFill>
                <a:schemeClr val="dk1"/>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850"/>
              <a:buFont typeface="Arial"/>
              <a:buNone/>
            </a:pPr>
            <a:r>
              <a:t/>
            </a:r>
            <a:endParaRPr sz="3850">
              <a:solidFill>
                <a:schemeClr val="dk1"/>
              </a:solidFill>
              <a:latin typeface="Arial"/>
              <a:ea typeface="Arial"/>
              <a:cs typeface="Arial"/>
              <a:sym typeface="Arial"/>
            </a:endParaRPr>
          </a:p>
          <a:p>
            <a:pPr indent="-342900" lvl="0" marL="355600" marR="5080" rtl="0" algn="just">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network layer will then typically </a:t>
            </a:r>
            <a:r>
              <a:rPr lang="en-US" sz="2800">
                <a:solidFill>
                  <a:srgbClr val="1F487C"/>
                </a:solidFill>
                <a:latin typeface="Arial"/>
                <a:ea typeface="Arial"/>
                <a:cs typeface="Arial"/>
                <a:sym typeface="Arial"/>
              </a:rPr>
              <a:t>inform the end  system </a:t>
            </a:r>
            <a:r>
              <a:rPr lang="en-US" sz="2800">
                <a:solidFill>
                  <a:schemeClr val="dk1"/>
                </a:solidFill>
                <a:latin typeface="Arial"/>
                <a:ea typeface="Arial"/>
                <a:cs typeface="Arial"/>
                <a:sym typeface="Arial"/>
              </a:rPr>
              <a:t>on the other side of the network of the call  termination and update the forwarding tables in each of  the packet routers on the path to indicate that the VC  no longer exists.</a:t>
            </a:r>
            <a:endParaRPr sz="28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7"/>
          <p:cNvSpPr txBox="1"/>
          <p:nvPr>
            <p:ph type="title"/>
          </p:nvPr>
        </p:nvSpPr>
        <p:spPr>
          <a:xfrm>
            <a:off x="3895470" y="233298"/>
            <a:ext cx="7001129" cy="935513"/>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0" lang="en-US" sz="4000">
                <a:latin typeface="Arial"/>
                <a:ea typeface="Arial"/>
                <a:cs typeface="Arial"/>
                <a:sym typeface="Arial"/>
              </a:rPr>
              <a:t>Datagram</a:t>
            </a:r>
            <a:r>
              <a:rPr i="0" lang="en-US">
                <a:latin typeface="Arial"/>
                <a:ea typeface="Arial"/>
                <a:cs typeface="Arial"/>
                <a:sym typeface="Arial"/>
              </a:rPr>
              <a:t> </a:t>
            </a:r>
            <a:r>
              <a:rPr i="0" lang="en-US" sz="4000">
                <a:latin typeface="Arial"/>
                <a:ea typeface="Arial"/>
                <a:cs typeface="Arial"/>
                <a:sym typeface="Arial"/>
              </a:rPr>
              <a:t>networks</a:t>
            </a:r>
            <a:endParaRPr/>
          </a:p>
        </p:txBody>
      </p:sp>
      <p:sp>
        <p:nvSpPr>
          <p:cNvPr id="360" name="Google Shape;360;p27"/>
          <p:cNvSpPr txBox="1"/>
          <p:nvPr/>
        </p:nvSpPr>
        <p:spPr>
          <a:xfrm>
            <a:off x="5632450"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361" name="Google Shape;361;p27"/>
          <p:cNvSpPr txBox="1"/>
          <p:nvPr/>
        </p:nvSpPr>
        <p:spPr>
          <a:xfrm>
            <a:off x="11198097"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4-13</a:t>
            </a:r>
            <a:endParaRPr sz="1200">
              <a:solidFill>
                <a:schemeClr val="dk1"/>
              </a:solidFill>
              <a:latin typeface="Arial"/>
              <a:ea typeface="Arial"/>
              <a:cs typeface="Arial"/>
              <a:sym typeface="Arial"/>
            </a:endParaRPr>
          </a:p>
        </p:txBody>
      </p:sp>
      <p:sp>
        <p:nvSpPr>
          <p:cNvPr id="362" name="Google Shape;362;p27"/>
          <p:cNvSpPr txBox="1"/>
          <p:nvPr/>
        </p:nvSpPr>
        <p:spPr>
          <a:xfrm>
            <a:off x="2315716" y="1029738"/>
            <a:ext cx="9038083" cy="2000885"/>
          </a:xfrm>
          <a:prstGeom prst="rect">
            <a:avLst/>
          </a:prstGeom>
          <a:noFill/>
          <a:ln>
            <a:noFill/>
          </a:ln>
        </p:spPr>
        <p:txBody>
          <a:bodyPr anchorCtr="0" anchor="t" bIns="0" lIns="0" spcFirstLastPara="1" rIns="0" wrap="square" tIns="97775">
            <a:spAutoFit/>
          </a:bodyPr>
          <a:lstStyle/>
          <a:p>
            <a:pPr indent="-343535" lvl="0" marL="355600" marR="0" rtl="0" algn="l">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no call setup at network layer</a:t>
            </a:r>
            <a:endParaRPr sz="2800">
              <a:solidFill>
                <a:schemeClr val="dk1"/>
              </a:solidFill>
              <a:latin typeface="Arial"/>
              <a:ea typeface="Arial"/>
              <a:cs typeface="Arial"/>
              <a:sym typeface="Arial"/>
            </a:endParaRPr>
          </a:p>
          <a:p>
            <a:pPr indent="-343535" lvl="0" marL="355600" marR="0" rtl="0" algn="l">
              <a:lnSpc>
                <a:spcPct val="100000"/>
              </a:lnSpc>
              <a:spcBef>
                <a:spcPts val="670"/>
              </a:spcBef>
              <a:spcAft>
                <a:spcPts val="0"/>
              </a:spcAft>
              <a:buClr>
                <a:schemeClr val="dk1"/>
              </a:buClr>
              <a:buSzPts val="2800"/>
              <a:buFont typeface="Arial"/>
              <a:buChar char="•"/>
            </a:pPr>
            <a:r>
              <a:rPr lang="en-US" sz="2800">
                <a:solidFill>
                  <a:schemeClr val="dk1"/>
                </a:solidFill>
                <a:latin typeface="Arial"/>
                <a:ea typeface="Arial"/>
                <a:cs typeface="Arial"/>
                <a:sym typeface="Arial"/>
              </a:rPr>
              <a:t>routers: no state about end-to-end connections</a:t>
            </a:r>
            <a:endParaRPr sz="2800">
              <a:solidFill>
                <a:schemeClr val="dk1"/>
              </a:solidFill>
              <a:latin typeface="Arial"/>
              <a:ea typeface="Arial"/>
              <a:cs typeface="Arial"/>
              <a:sym typeface="Arial"/>
            </a:endParaRPr>
          </a:p>
          <a:p>
            <a:pPr indent="0" lvl="0" marL="469900" marR="0" rtl="0" algn="l">
              <a:lnSpc>
                <a:spcPct val="100000"/>
              </a:lnSpc>
              <a:spcBef>
                <a:spcPts val="655"/>
              </a:spcBef>
              <a:spcAft>
                <a:spcPts val="0"/>
              </a:spcAft>
              <a:buNone/>
            </a:pPr>
            <a:r>
              <a:rPr lang="en-US" sz="2400">
                <a:solidFill>
                  <a:schemeClr val="dk1"/>
                </a:solidFill>
                <a:latin typeface="Arial"/>
                <a:ea typeface="Arial"/>
                <a:cs typeface="Arial"/>
                <a:sym typeface="Arial"/>
              </a:rPr>
              <a:t>– no network-level concept of “connection”</a:t>
            </a:r>
            <a:endParaRPr sz="2400">
              <a:solidFill>
                <a:schemeClr val="dk1"/>
              </a:solidFill>
              <a:latin typeface="Arial"/>
              <a:ea typeface="Arial"/>
              <a:cs typeface="Arial"/>
              <a:sym typeface="Arial"/>
            </a:endParaRPr>
          </a:p>
          <a:p>
            <a:pPr indent="-343535" lvl="0" marL="355600" marR="0" rtl="0" algn="l">
              <a:lnSpc>
                <a:spcPct val="100000"/>
              </a:lnSpc>
              <a:spcBef>
                <a:spcPts val="595"/>
              </a:spcBef>
              <a:spcAft>
                <a:spcPts val="0"/>
              </a:spcAft>
              <a:buClr>
                <a:schemeClr val="dk1"/>
              </a:buClr>
              <a:buSzPts val="2800"/>
              <a:buFont typeface="Arial"/>
              <a:buChar char="•"/>
            </a:pPr>
            <a:r>
              <a:rPr lang="en-US" sz="2800">
                <a:solidFill>
                  <a:schemeClr val="dk1"/>
                </a:solidFill>
                <a:latin typeface="Arial"/>
                <a:ea typeface="Arial"/>
                <a:cs typeface="Arial"/>
                <a:sym typeface="Arial"/>
              </a:rPr>
              <a:t>packets forwarded using destination host address</a:t>
            </a:r>
            <a:endParaRPr sz="2800">
              <a:solidFill>
                <a:schemeClr val="dk1"/>
              </a:solidFill>
              <a:latin typeface="Arial"/>
              <a:ea typeface="Arial"/>
              <a:cs typeface="Arial"/>
              <a:sym typeface="Arial"/>
            </a:endParaRPr>
          </a:p>
        </p:txBody>
      </p:sp>
      <p:sp>
        <p:nvSpPr>
          <p:cNvPr id="363" name="Google Shape;363;p27"/>
          <p:cNvSpPr/>
          <p:nvPr/>
        </p:nvSpPr>
        <p:spPr>
          <a:xfrm>
            <a:off x="3678759" y="933703"/>
            <a:ext cx="4499943" cy="12547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7"/>
          <p:cNvSpPr txBox="1"/>
          <p:nvPr/>
        </p:nvSpPr>
        <p:spPr>
          <a:xfrm>
            <a:off x="3600450" y="4314570"/>
            <a:ext cx="1726564"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CC0000"/>
                </a:solidFill>
                <a:latin typeface="Arial"/>
                <a:ea typeface="Arial"/>
                <a:cs typeface="Arial"/>
                <a:sym typeface="Arial"/>
              </a:rPr>
              <a:t>1. send datagrams</a:t>
            </a:r>
            <a:endParaRPr sz="1800">
              <a:solidFill>
                <a:schemeClr val="dk1"/>
              </a:solidFill>
              <a:latin typeface="Arial"/>
              <a:ea typeface="Arial"/>
              <a:cs typeface="Arial"/>
              <a:sym typeface="Arial"/>
            </a:endParaRPr>
          </a:p>
        </p:txBody>
      </p:sp>
      <p:grpSp>
        <p:nvGrpSpPr>
          <p:cNvPr id="365" name="Google Shape;365;p27"/>
          <p:cNvGrpSpPr/>
          <p:nvPr/>
        </p:nvGrpSpPr>
        <p:grpSpPr>
          <a:xfrm>
            <a:off x="8389619" y="3735323"/>
            <a:ext cx="1928115" cy="2415540"/>
            <a:chOff x="8389619" y="3735323"/>
            <a:chExt cx="1928115" cy="2415540"/>
          </a:xfrm>
        </p:grpSpPr>
        <p:sp>
          <p:nvSpPr>
            <p:cNvPr id="366" name="Google Shape;366;p27"/>
            <p:cNvSpPr/>
            <p:nvPr/>
          </p:nvSpPr>
          <p:spPr>
            <a:xfrm>
              <a:off x="8724899" y="3742943"/>
              <a:ext cx="1571244" cy="178460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7"/>
            <p:cNvSpPr/>
            <p:nvPr/>
          </p:nvSpPr>
          <p:spPr>
            <a:xfrm>
              <a:off x="8389619" y="5401055"/>
              <a:ext cx="720851" cy="74980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7"/>
            <p:cNvSpPr/>
            <p:nvPr/>
          </p:nvSpPr>
          <p:spPr>
            <a:xfrm>
              <a:off x="8697467" y="5472683"/>
              <a:ext cx="350520" cy="34442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7"/>
            <p:cNvSpPr/>
            <p:nvPr/>
          </p:nvSpPr>
          <p:spPr>
            <a:xfrm>
              <a:off x="9015984" y="3735323"/>
              <a:ext cx="1301750" cy="1501140"/>
            </a:xfrm>
            <a:custGeom>
              <a:rect b="b" l="l" r="r" t="t"/>
              <a:pathLst>
                <a:path extrusionOk="0" h="1501139" w="1301750">
                  <a:moveTo>
                    <a:pt x="1301496" y="0"/>
                  </a:moveTo>
                  <a:lnTo>
                    <a:pt x="0" y="0"/>
                  </a:lnTo>
                  <a:lnTo>
                    <a:pt x="0" y="45720"/>
                  </a:lnTo>
                  <a:lnTo>
                    <a:pt x="0" y="1501140"/>
                  </a:lnTo>
                  <a:lnTo>
                    <a:pt x="1301496" y="1501140"/>
                  </a:lnTo>
                  <a:lnTo>
                    <a:pt x="1301496" y="45720"/>
                  </a:lnTo>
                  <a:lnTo>
                    <a:pt x="1301496" y="0"/>
                  </a:lnTo>
                  <a:close/>
                </a:path>
              </a:pathLst>
            </a:custGeom>
            <a:solidFill>
              <a:srgbClr val="0000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7"/>
            <p:cNvSpPr/>
            <p:nvPr/>
          </p:nvSpPr>
          <p:spPr>
            <a:xfrm>
              <a:off x="8951976" y="3781043"/>
              <a:ext cx="1329055" cy="1548765"/>
            </a:xfrm>
            <a:custGeom>
              <a:rect b="b" l="l" r="r" t="t"/>
              <a:pathLst>
                <a:path extrusionOk="0" h="1548764" w="1329054">
                  <a:moveTo>
                    <a:pt x="1328928" y="943356"/>
                  </a:moveTo>
                  <a:lnTo>
                    <a:pt x="0" y="943356"/>
                  </a:lnTo>
                  <a:lnTo>
                    <a:pt x="0" y="1548384"/>
                  </a:lnTo>
                  <a:lnTo>
                    <a:pt x="1328928" y="1548384"/>
                  </a:lnTo>
                  <a:lnTo>
                    <a:pt x="1328928" y="943356"/>
                  </a:lnTo>
                  <a:close/>
                </a:path>
                <a:path extrusionOk="0" h="1548764" w="1329054">
                  <a:moveTo>
                    <a:pt x="1328928" y="0"/>
                  </a:moveTo>
                  <a:lnTo>
                    <a:pt x="0" y="0"/>
                  </a:lnTo>
                  <a:lnTo>
                    <a:pt x="0" y="638556"/>
                  </a:lnTo>
                  <a:lnTo>
                    <a:pt x="1328928" y="638556"/>
                  </a:lnTo>
                  <a:lnTo>
                    <a:pt x="132892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27"/>
            <p:cNvSpPr/>
            <p:nvPr/>
          </p:nvSpPr>
          <p:spPr>
            <a:xfrm>
              <a:off x="8951975" y="3781043"/>
              <a:ext cx="1329055" cy="1548765"/>
            </a:xfrm>
            <a:custGeom>
              <a:rect b="b" l="l" r="r" t="t"/>
              <a:pathLst>
                <a:path extrusionOk="0" h="1548764" w="1329054">
                  <a:moveTo>
                    <a:pt x="0" y="1548383"/>
                  </a:moveTo>
                  <a:lnTo>
                    <a:pt x="1328927" y="1548383"/>
                  </a:lnTo>
                  <a:lnTo>
                    <a:pt x="1328927" y="0"/>
                  </a:lnTo>
                  <a:lnTo>
                    <a:pt x="0" y="0"/>
                  </a:lnTo>
                  <a:lnTo>
                    <a:pt x="0" y="1548383"/>
                  </a:lnTo>
                  <a:close/>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7"/>
            <p:cNvSpPr/>
            <p:nvPr/>
          </p:nvSpPr>
          <p:spPr>
            <a:xfrm>
              <a:off x="8958071" y="4419599"/>
              <a:ext cx="1320165" cy="304800"/>
            </a:xfrm>
            <a:custGeom>
              <a:rect b="b" l="l" r="r" t="t"/>
              <a:pathLst>
                <a:path extrusionOk="0" h="304800" w="1320165">
                  <a:moveTo>
                    <a:pt x="1319783" y="0"/>
                  </a:moveTo>
                  <a:lnTo>
                    <a:pt x="0" y="0"/>
                  </a:lnTo>
                  <a:lnTo>
                    <a:pt x="0" y="304800"/>
                  </a:lnTo>
                  <a:lnTo>
                    <a:pt x="1319783" y="304800"/>
                  </a:lnTo>
                  <a:lnTo>
                    <a:pt x="1319783"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3" name="Google Shape;373;p27"/>
          <p:cNvSpPr txBox="1"/>
          <p:nvPr/>
        </p:nvSpPr>
        <p:spPr>
          <a:xfrm>
            <a:off x="8951976" y="3763517"/>
            <a:ext cx="1329055" cy="330835"/>
          </a:xfrm>
          <a:prstGeom prst="rect">
            <a:avLst/>
          </a:prstGeom>
          <a:noFill/>
          <a:ln>
            <a:noFill/>
          </a:ln>
        </p:spPr>
        <p:txBody>
          <a:bodyPr anchorCtr="0" anchor="t" bIns="0" lIns="0" spcFirstLastPara="1" rIns="0" wrap="square" tIns="12700">
            <a:spAutoFit/>
          </a:bodyPr>
          <a:lstStyle/>
          <a:p>
            <a:pPr indent="0" lvl="0" marL="89535" marR="0" rtl="0" algn="l">
              <a:lnSpc>
                <a:spcPct val="100000"/>
              </a:lnSpc>
              <a:spcBef>
                <a:spcPts val="0"/>
              </a:spcBef>
              <a:spcAft>
                <a:spcPts val="0"/>
              </a:spcAft>
              <a:buNone/>
            </a:pPr>
            <a:r>
              <a:rPr lang="en-US" sz="2000">
                <a:solidFill>
                  <a:schemeClr val="dk1"/>
                </a:solidFill>
                <a:latin typeface="Arial"/>
                <a:ea typeface="Arial"/>
                <a:cs typeface="Arial"/>
                <a:sym typeface="Arial"/>
              </a:rPr>
              <a:t>application</a:t>
            </a:r>
            <a:endParaRPr sz="2000">
              <a:solidFill>
                <a:schemeClr val="dk1"/>
              </a:solidFill>
              <a:latin typeface="Arial"/>
              <a:ea typeface="Arial"/>
              <a:cs typeface="Arial"/>
              <a:sym typeface="Arial"/>
            </a:endParaRPr>
          </a:p>
        </p:txBody>
      </p:sp>
      <p:sp>
        <p:nvSpPr>
          <p:cNvPr id="374" name="Google Shape;374;p27"/>
          <p:cNvSpPr txBox="1"/>
          <p:nvPr/>
        </p:nvSpPr>
        <p:spPr>
          <a:xfrm>
            <a:off x="8951976" y="4068013"/>
            <a:ext cx="1329055" cy="331470"/>
          </a:xfrm>
          <a:prstGeom prst="rect">
            <a:avLst/>
          </a:prstGeom>
          <a:noFill/>
          <a:ln>
            <a:noFill/>
          </a:ln>
        </p:spPr>
        <p:txBody>
          <a:bodyPr anchorCtr="0" anchor="t" bIns="0" lIns="0" spcFirstLastPara="1" rIns="0" wrap="square" tIns="13325">
            <a:spAutoFit/>
          </a:bodyPr>
          <a:lstStyle/>
          <a:p>
            <a:pPr indent="0" lvl="0" marL="177800" marR="0" rtl="0" algn="l">
              <a:lnSpc>
                <a:spcPct val="100000"/>
              </a:lnSpc>
              <a:spcBef>
                <a:spcPts val="0"/>
              </a:spcBef>
              <a:spcAft>
                <a:spcPts val="0"/>
              </a:spcAft>
              <a:buNone/>
            </a:pPr>
            <a:r>
              <a:rPr lang="en-US" sz="2000">
                <a:solidFill>
                  <a:schemeClr val="dk1"/>
                </a:solidFill>
                <a:latin typeface="Arial"/>
                <a:ea typeface="Arial"/>
                <a:cs typeface="Arial"/>
                <a:sym typeface="Arial"/>
              </a:rPr>
              <a:t>transport</a:t>
            </a:r>
            <a:endParaRPr sz="2000">
              <a:solidFill>
                <a:schemeClr val="dk1"/>
              </a:solidFill>
              <a:latin typeface="Arial"/>
              <a:ea typeface="Arial"/>
              <a:cs typeface="Arial"/>
              <a:sym typeface="Arial"/>
            </a:endParaRPr>
          </a:p>
        </p:txBody>
      </p:sp>
      <p:sp>
        <p:nvSpPr>
          <p:cNvPr id="375" name="Google Shape;375;p27"/>
          <p:cNvSpPr txBox="1"/>
          <p:nvPr/>
        </p:nvSpPr>
        <p:spPr>
          <a:xfrm>
            <a:off x="8951976" y="4373371"/>
            <a:ext cx="1329055" cy="330835"/>
          </a:xfrm>
          <a:prstGeom prst="rect">
            <a:avLst/>
          </a:prstGeom>
          <a:noFill/>
          <a:ln>
            <a:noFill/>
          </a:ln>
        </p:spPr>
        <p:txBody>
          <a:bodyPr anchorCtr="0" anchor="t" bIns="0" lIns="0" spcFirstLastPara="1" rIns="0" wrap="square" tIns="12700">
            <a:spAutoFit/>
          </a:bodyPr>
          <a:lstStyle/>
          <a:p>
            <a:pPr indent="0" lvl="0" marL="231140" marR="0" rtl="0" algn="l">
              <a:lnSpc>
                <a:spcPct val="100000"/>
              </a:lnSpc>
              <a:spcBef>
                <a:spcPts val="0"/>
              </a:spcBef>
              <a:spcAft>
                <a:spcPts val="0"/>
              </a:spcAft>
              <a:buNone/>
            </a:pPr>
            <a:r>
              <a:rPr lang="en-US" sz="2000">
                <a:solidFill>
                  <a:srgbClr val="FFFFFF"/>
                </a:solidFill>
                <a:latin typeface="Arial"/>
                <a:ea typeface="Arial"/>
                <a:cs typeface="Arial"/>
                <a:sym typeface="Arial"/>
              </a:rPr>
              <a:t>network</a:t>
            </a:r>
            <a:endParaRPr sz="2000">
              <a:solidFill>
                <a:schemeClr val="dk1"/>
              </a:solidFill>
              <a:latin typeface="Arial"/>
              <a:ea typeface="Arial"/>
              <a:cs typeface="Arial"/>
              <a:sym typeface="Arial"/>
            </a:endParaRPr>
          </a:p>
        </p:txBody>
      </p:sp>
      <p:sp>
        <p:nvSpPr>
          <p:cNvPr id="376" name="Google Shape;376;p27"/>
          <p:cNvSpPr txBox="1"/>
          <p:nvPr/>
        </p:nvSpPr>
        <p:spPr>
          <a:xfrm>
            <a:off x="8951976" y="4678171"/>
            <a:ext cx="1329055" cy="330835"/>
          </a:xfrm>
          <a:prstGeom prst="rect">
            <a:avLst/>
          </a:prstGeom>
          <a:noFill/>
          <a:ln>
            <a:noFill/>
          </a:ln>
        </p:spPr>
        <p:txBody>
          <a:bodyPr anchorCtr="0" anchor="t" bIns="0" lIns="0" spcFirstLastPara="1" rIns="0" wrap="square" tIns="12700">
            <a:spAutoFit/>
          </a:bodyPr>
          <a:lstStyle/>
          <a:p>
            <a:pPr indent="0" lvl="0" marL="220345" marR="0" rtl="0" algn="l">
              <a:lnSpc>
                <a:spcPct val="100000"/>
              </a:lnSpc>
              <a:spcBef>
                <a:spcPts val="0"/>
              </a:spcBef>
              <a:spcAft>
                <a:spcPts val="0"/>
              </a:spcAft>
              <a:buNone/>
            </a:pPr>
            <a:r>
              <a:rPr lang="en-US" sz="2000">
                <a:solidFill>
                  <a:schemeClr val="dk1"/>
                </a:solidFill>
                <a:latin typeface="Arial"/>
                <a:ea typeface="Arial"/>
                <a:cs typeface="Arial"/>
                <a:sym typeface="Arial"/>
              </a:rPr>
              <a:t>data link</a:t>
            </a:r>
            <a:endParaRPr sz="2000">
              <a:solidFill>
                <a:schemeClr val="dk1"/>
              </a:solidFill>
              <a:latin typeface="Arial"/>
              <a:ea typeface="Arial"/>
              <a:cs typeface="Arial"/>
              <a:sym typeface="Arial"/>
            </a:endParaRPr>
          </a:p>
        </p:txBody>
      </p:sp>
      <p:sp>
        <p:nvSpPr>
          <p:cNvPr id="377" name="Google Shape;377;p27"/>
          <p:cNvSpPr txBox="1"/>
          <p:nvPr/>
        </p:nvSpPr>
        <p:spPr>
          <a:xfrm>
            <a:off x="8951976" y="4982972"/>
            <a:ext cx="1329055" cy="330835"/>
          </a:xfrm>
          <a:prstGeom prst="rect">
            <a:avLst/>
          </a:prstGeom>
          <a:noFill/>
          <a:ln>
            <a:noFill/>
          </a:ln>
        </p:spPr>
        <p:txBody>
          <a:bodyPr anchorCtr="0" anchor="t" bIns="0" lIns="0" spcFirstLastPara="1" rIns="0" wrap="square" tIns="12700">
            <a:spAutoFit/>
          </a:bodyPr>
          <a:lstStyle/>
          <a:p>
            <a:pPr indent="0" lvl="0" marL="250825" marR="0" rtl="0" algn="l">
              <a:lnSpc>
                <a:spcPct val="100000"/>
              </a:lnSpc>
              <a:spcBef>
                <a:spcPts val="0"/>
              </a:spcBef>
              <a:spcAft>
                <a:spcPts val="0"/>
              </a:spcAft>
              <a:buNone/>
            </a:pPr>
            <a:r>
              <a:rPr lang="en-US" sz="2000">
                <a:solidFill>
                  <a:schemeClr val="dk1"/>
                </a:solidFill>
                <a:latin typeface="Arial"/>
                <a:ea typeface="Arial"/>
                <a:cs typeface="Arial"/>
                <a:sym typeface="Arial"/>
              </a:rPr>
              <a:t>physical</a:t>
            </a:r>
            <a:endParaRPr sz="2000">
              <a:solidFill>
                <a:schemeClr val="dk1"/>
              </a:solidFill>
              <a:latin typeface="Arial"/>
              <a:ea typeface="Arial"/>
              <a:cs typeface="Arial"/>
              <a:sym typeface="Arial"/>
            </a:endParaRPr>
          </a:p>
        </p:txBody>
      </p:sp>
      <p:grpSp>
        <p:nvGrpSpPr>
          <p:cNvPr id="378" name="Google Shape;378;p27"/>
          <p:cNvGrpSpPr/>
          <p:nvPr/>
        </p:nvGrpSpPr>
        <p:grpSpPr>
          <a:xfrm>
            <a:off x="1859279" y="3627119"/>
            <a:ext cx="8419084" cy="1804417"/>
            <a:chOff x="1859279" y="3627119"/>
            <a:chExt cx="8419084" cy="1804417"/>
          </a:xfrm>
        </p:grpSpPr>
        <p:sp>
          <p:nvSpPr>
            <p:cNvPr id="379" name="Google Shape;379;p27"/>
            <p:cNvSpPr/>
            <p:nvPr/>
          </p:nvSpPr>
          <p:spPr>
            <a:xfrm>
              <a:off x="8947403" y="4108704"/>
              <a:ext cx="1330960" cy="908685"/>
            </a:xfrm>
            <a:custGeom>
              <a:rect b="b" l="l" r="r" t="t"/>
              <a:pathLst>
                <a:path extrusionOk="0" h="908685" w="1330959">
                  <a:moveTo>
                    <a:pt x="3048" y="307848"/>
                  </a:moveTo>
                  <a:lnTo>
                    <a:pt x="1330452" y="307848"/>
                  </a:lnTo>
                </a:path>
                <a:path extrusionOk="0" h="908685" w="1330959">
                  <a:moveTo>
                    <a:pt x="3048" y="615696"/>
                  </a:moveTo>
                  <a:lnTo>
                    <a:pt x="1330452" y="615696"/>
                  </a:lnTo>
                </a:path>
                <a:path extrusionOk="0" h="908685" w="1330959">
                  <a:moveTo>
                    <a:pt x="0" y="908304"/>
                  </a:moveTo>
                  <a:lnTo>
                    <a:pt x="1327403" y="908304"/>
                  </a:lnTo>
                </a:path>
                <a:path extrusionOk="0" h="908685" w="1330959">
                  <a:moveTo>
                    <a:pt x="3048" y="0"/>
                  </a:moveTo>
                  <a:lnTo>
                    <a:pt x="1330452"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7"/>
            <p:cNvSpPr/>
            <p:nvPr/>
          </p:nvSpPr>
          <p:spPr>
            <a:xfrm>
              <a:off x="1859279" y="3646932"/>
              <a:ext cx="1571244" cy="178460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7"/>
            <p:cNvSpPr/>
            <p:nvPr/>
          </p:nvSpPr>
          <p:spPr>
            <a:xfrm>
              <a:off x="2182368" y="3627119"/>
              <a:ext cx="1301750" cy="1503045"/>
            </a:xfrm>
            <a:custGeom>
              <a:rect b="b" l="l" r="r" t="t"/>
              <a:pathLst>
                <a:path extrusionOk="0" h="1503045" w="1301750">
                  <a:moveTo>
                    <a:pt x="1301496" y="0"/>
                  </a:moveTo>
                  <a:lnTo>
                    <a:pt x="0" y="0"/>
                  </a:lnTo>
                  <a:lnTo>
                    <a:pt x="0" y="45720"/>
                  </a:lnTo>
                  <a:lnTo>
                    <a:pt x="0" y="1502664"/>
                  </a:lnTo>
                  <a:lnTo>
                    <a:pt x="1301496" y="1502664"/>
                  </a:lnTo>
                  <a:lnTo>
                    <a:pt x="1301496" y="45720"/>
                  </a:lnTo>
                  <a:lnTo>
                    <a:pt x="1301496" y="0"/>
                  </a:lnTo>
                  <a:close/>
                </a:path>
              </a:pathLst>
            </a:custGeom>
            <a:solidFill>
              <a:srgbClr val="00009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7"/>
            <p:cNvSpPr/>
            <p:nvPr/>
          </p:nvSpPr>
          <p:spPr>
            <a:xfrm>
              <a:off x="2119884" y="3672839"/>
              <a:ext cx="1329055" cy="1548765"/>
            </a:xfrm>
            <a:custGeom>
              <a:rect b="b" l="l" r="r" t="t"/>
              <a:pathLst>
                <a:path extrusionOk="0" h="1548764" w="1329054">
                  <a:moveTo>
                    <a:pt x="1328928" y="943356"/>
                  </a:moveTo>
                  <a:lnTo>
                    <a:pt x="0" y="943356"/>
                  </a:lnTo>
                  <a:lnTo>
                    <a:pt x="0" y="1548384"/>
                  </a:lnTo>
                  <a:lnTo>
                    <a:pt x="1328928" y="1548384"/>
                  </a:lnTo>
                  <a:lnTo>
                    <a:pt x="1328928" y="943356"/>
                  </a:lnTo>
                  <a:close/>
                </a:path>
                <a:path extrusionOk="0" h="1548764" w="1329054">
                  <a:moveTo>
                    <a:pt x="1328928" y="0"/>
                  </a:moveTo>
                  <a:lnTo>
                    <a:pt x="0" y="0"/>
                  </a:lnTo>
                  <a:lnTo>
                    <a:pt x="0" y="638556"/>
                  </a:lnTo>
                  <a:lnTo>
                    <a:pt x="1328928" y="638556"/>
                  </a:lnTo>
                  <a:lnTo>
                    <a:pt x="132892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27"/>
            <p:cNvSpPr/>
            <p:nvPr/>
          </p:nvSpPr>
          <p:spPr>
            <a:xfrm>
              <a:off x="2119883" y="3672840"/>
              <a:ext cx="1329055" cy="1548765"/>
            </a:xfrm>
            <a:custGeom>
              <a:rect b="b" l="l" r="r" t="t"/>
              <a:pathLst>
                <a:path extrusionOk="0" h="1548764" w="1329054">
                  <a:moveTo>
                    <a:pt x="0" y="1548384"/>
                  </a:moveTo>
                  <a:lnTo>
                    <a:pt x="1328928" y="1548384"/>
                  </a:lnTo>
                  <a:lnTo>
                    <a:pt x="1328928" y="0"/>
                  </a:lnTo>
                  <a:lnTo>
                    <a:pt x="0" y="0"/>
                  </a:lnTo>
                  <a:lnTo>
                    <a:pt x="0" y="1548384"/>
                  </a:lnTo>
                  <a:close/>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2125979" y="4311396"/>
              <a:ext cx="1318260" cy="304800"/>
            </a:xfrm>
            <a:custGeom>
              <a:rect b="b" l="l" r="r" t="t"/>
              <a:pathLst>
                <a:path extrusionOk="0" h="304800" w="1318260">
                  <a:moveTo>
                    <a:pt x="1318259" y="0"/>
                  </a:moveTo>
                  <a:lnTo>
                    <a:pt x="0" y="0"/>
                  </a:lnTo>
                  <a:lnTo>
                    <a:pt x="0" y="304799"/>
                  </a:lnTo>
                  <a:lnTo>
                    <a:pt x="1318259" y="304799"/>
                  </a:lnTo>
                  <a:lnTo>
                    <a:pt x="1318259"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5" name="Google Shape;385;p27"/>
          <p:cNvSpPr txBox="1"/>
          <p:nvPr/>
        </p:nvSpPr>
        <p:spPr>
          <a:xfrm>
            <a:off x="2125979" y="3655567"/>
            <a:ext cx="1316990" cy="330835"/>
          </a:xfrm>
          <a:prstGeom prst="rect">
            <a:avLst/>
          </a:prstGeom>
          <a:noFill/>
          <a:ln>
            <a:noFill/>
          </a:ln>
        </p:spPr>
        <p:txBody>
          <a:bodyPr anchorCtr="0" anchor="t" bIns="0" lIns="0" spcFirstLastPara="1" rIns="0" wrap="square" tIns="12700">
            <a:spAutoFit/>
          </a:bodyPr>
          <a:lstStyle/>
          <a:p>
            <a:pPr indent="0" lvl="0" marL="81915" marR="0" rtl="0" algn="l">
              <a:lnSpc>
                <a:spcPct val="100000"/>
              </a:lnSpc>
              <a:spcBef>
                <a:spcPts val="0"/>
              </a:spcBef>
              <a:spcAft>
                <a:spcPts val="0"/>
              </a:spcAft>
              <a:buNone/>
            </a:pPr>
            <a:r>
              <a:rPr lang="en-US" sz="2000">
                <a:solidFill>
                  <a:schemeClr val="dk1"/>
                </a:solidFill>
                <a:latin typeface="Arial"/>
                <a:ea typeface="Arial"/>
                <a:cs typeface="Arial"/>
                <a:sym typeface="Arial"/>
              </a:rPr>
              <a:t>application</a:t>
            </a:r>
            <a:endParaRPr sz="2000">
              <a:solidFill>
                <a:schemeClr val="dk1"/>
              </a:solidFill>
              <a:latin typeface="Arial"/>
              <a:ea typeface="Arial"/>
              <a:cs typeface="Arial"/>
              <a:sym typeface="Arial"/>
            </a:endParaRPr>
          </a:p>
        </p:txBody>
      </p:sp>
      <p:sp>
        <p:nvSpPr>
          <p:cNvPr id="386" name="Google Shape;386;p27"/>
          <p:cNvSpPr txBox="1"/>
          <p:nvPr/>
        </p:nvSpPr>
        <p:spPr>
          <a:xfrm>
            <a:off x="2125979" y="3960367"/>
            <a:ext cx="1316990" cy="330835"/>
          </a:xfrm>
          <a:prstGeom prst="rect">
            <a:avLst/>
          </a:prstGeom>
          <a:noFill/>
          <a:ln>
            <a:noFill/>
          </a:ln>
        </p:spPr>
        <p:txBody>
          <a:bodyPr anchorCtr="0" anchor="t" bIns="0" lIns="0" spcFirstLastPara="1" rIns="0" wrap="square" tIns="12700">
            <a:spAutoFit/>
          </a:bodyPr>
          <a:lstStyle/>
          <a:p>
            <a:pPr indent="0" lvl="0" marL="170180" marR="0" rtl="0" algn="l">
              <a:lnSpc>
                <a:spcPct val="100000"/>
              </a:lnSpc>
              <a:spcBef>
                <a:spcPts val="0"/>
              </a:spcBef>
              <a:spcAft>
                <a:spcPts val="0"/>
              </a:spcAft>
              <a:buNone/>
            </a:pPr>
            <a:r>
              <a:rPr lang="en-US" sz="2000">
                <a:solidFill>
                  <a:schemeClr val="dk1"/>
                </a:solidFill>
                <a:latin typeface="Arial"/>
                <a:ea typeface="Arial"/>
                <a:cs typeface="Arial"/>
                <a:sym typeface="Arial"/>
              </a:rPr>
              <a:t>transport</a:t>
            </a:r>
            <a:endParaRPr sz="2000">
              <a:solidFill>
                <a:schemeClr val="dk1"/>
              </a:solidFill>
              <a:latin typeface="Arial"/>
              <a:ea typeface="Arial"/>
              <a:cs typeface="Arial"/>
              <a:sym typeface="Arial"/>
            </a:endParaRPr>
          </a:p>
        </p:txBody>
      </p:sp>
      <p:sp>
        <p:nvSpPr>
          <p:cNvPr id="387" name="Google Shape;387;p27"/>
          <p:cNvSpPr txBox="1"/>
          <p:nvPr/>
        </p:nvSpPr>
        <p:spPr>
          <a:xfrm>
            <a:off x="2125979" y="4264863"/>
            <a:ext cx="1316990" cy="331470"/>
          </a:xfrm>
          <a:prstGeom prst="rect">
            <a:avLst/>
          </a:prstGeom>
          <a:noFill/>
          <a:ln>
            <a:noFill/>
          </a:ln>
        </p:spPr>
        <p:txBody>
          <a:bodyPr anchorCtr="0" anchor="t" bIns="0" lIns="0" spcFirstLastPara="1" rIns="0" wrap="square" tIns="13325">
            <a:spAutoFit/>
          </a:bodyPr>
          <a:lstStyle/>
          <a:p>
            <a:pPr indent="0" lvl="0" marL="223520" marR="0" rtl="0" algn="l">
              <a:lnSpc>
                <a:spcPct val="100000"/>
              </a:lnSpc>
              <a:spcBef>
                <a:spcPts val="0"/>
              </a:spcBef>
              <a:spcAft>
                <a:spcPts val="0"/>
              </a:spcAft>
              <a:buNone/>
            </a:pPr>
            <a:r>
              <a:rPr lang="en-US" sz="2000">
                <a:solidFill>
                  <a:srgbClr val="FFFFFF"/>
                </a:solidFill>
                <a:latin typeface="Arial"/>
                <a:ea typeface="Arial"/>
                <a:cs typeface="Arial"/>
                <a:sym typeface="Arial"/>
              </a:rPr>
              <a:t>network</a:t>
            </a:r>
            <a:endParaRPr sz="2000">
              <a:solidFill>
                <a:schemeClr val="dk1"/>
              </a:solidFill>
              <a:latin typeface="Arial"/>
              <a:ea typeface="Arial"/>
              <a:cs typeface="Arial"/>
              <a:sym typeface="Arial"/>
            </a:endParaRPr>
          </a:p>
        </p:txBody>
      </p:sp>
      <p:sp>
        <p:nvSpPr>
          <p:cNvPr id="388" name="Google Shape;388;p27"/>
          <p:cNvSpPr txBox="1"/>
          <p:nvPr/>
        </p:nvSpPr>
        <p:spPr>
          <a:xfrm>
            <a:off x="2125979" y="4570221"/>
            <a:ext cx="1316990" cy="330835"/>
          </a:xfrm>
          <a:prstGeom prst="rect">
            <a:avLst/>
          </a:prstGeom>
          <a:noFill/>
          <a:ln>
            <a:noFill/>
          </a:ln>
        </p:spPr>
        <p:txBody>
          <a:bodyPr anchorCtr="0" anchor="t" bIns="0" lIns="0" spcFirstLastPara="1" rIns="0" wrap="square" tIns="12700">
            <a:spAutoFit/>
          </a:bodyPr>
          <a:lstStyle/>
          <a:p>
            <a:pPr indent="0" lvl="0" marL="213359" marR="0" rtl="0" algn="l">
              <a:lnSpc>
                <a:spcPct val="100000"/>
              </a:lnSpc>
              <a:spcBef>
                <a:spcPts val="0"/>
              </a:spcBef>
              <a:spcAft>
                <a:spcPts val="0"/>
              </a:spcAft>
              <a:buNone/>
            </a:pPr>
            <a:r>
              <a:rPr lang="en-US" sz="2000">
                <a:solidFill>
                  <a:schemeClr val="dk1"/>
                </a:solidFill>
                <a:latin typeface="Arial"/>
                <a:ea typeface="Arial"/>
                <a:cs typeface="Arial"/>
                <a:sym typeface="Arial"/>
              </a:rPr>
              <a:t>data link</a:t>
            </a:r>
            <a:endParaRPr sz="2000">
              <a:solidFill>
                <a:schemeClr val="dk1"/>
              </a:solidFill>
              <a:latin typeface="Arial"/>
              <a:ea typeface="Arial"/>
              <a:cs typeface="Arial"/>
              <a:sym typeface="Arial"/>
            </a:endParaRPr>
          </a:p>
        </p:txBody>
      </p:sp>
      <p:sp>
        <p:nvSpPr>
          <p:cNvPr id="389" name="Google Shape;389;p27"/>
          <p:cNvSpPr txBox="1"/>
          <p:nvPr/>
        </p:nvSpPr>
        <p:spPr>
          <a:xfrm>
            <a:off x="2125979" y="4875021"/>
            <a:ext cx="1316990" cy="330835"/>
          </a:xfrm>
          <a:prstGeom prst="rect">
            <a:avLst/>
          </a:prstGeom>
          <a:noFill/>
          <a:ln>
            <a:noFill/>
          </a:ln>
        </p:spPr>
        <p:txBody>
          <a:bodyPr anchorCtr="0" anchor="t" bIns="0" lIns="0" spcFirstLastPara="1" rIns="0" wrap="square" tIns="12700">
            <a:spAutoFit/>
          </a:bodyPr>
          <a:lstStyle/>
          <a:p>
            <a:pPr indent="0" lvl="0" marL="243840" marR="0" rtl="0" algn="l">
              <a:lnSpc>
                <a:spcPct val="100000"/>
              </a:lnSpc>
              <a:spcBef>
                <a:spcPts val="0"/>
              </a:spcBef>
              <a:spcAft>
                <a:spcPts val="0"/>
              </a:spcAft>
              <a:buNone/>
            </a:pPr>
            <a:r>
              <a:rPr lang="en-US" sz="2000">
                <a:solidFill>
                  <a:schemeClr val="dk1"/>
                </a:solidFill>
                <a:latin typeface="Arial"/>
                <a:ea typeface="Arial"/>
                <a:cs typeface="Arial"/>
                <a:sym typeface="Arial"/>
              </a:rPr>
              <a:t>physical</a:t>
            </a:r>
            <a:endParaRPr sz="2000">
              <a:solidFill>
                <a:schemeClr val="dk1"/>
              </a:solidFill>
              <a:latin typeface="Arial"/>
              <a:ea typeface="Arial"/>
              <a:cs typeface="Arial"/>
              <a:sym typeface="Arial"/>
            </a:endParaRPr>
          </a:p>
        </p:txBody>
      </p:sp>
      <p:grpSp>
        <p:nvGrpSpPr>
          <p:cNvPr id="390" name="Google Shape;390;p27"/>
          <p:cNvGrpSpPr/>
          <p:nvPr/>
        </p:nvGrpSpPr>
        <p:grpSpPr>
          <a:xfrm>
            <a:off x="1524000" y="4000500"/>
            <a:ext cx="7426706" cy="2083660"/>
            <a:chOff x="1524000" y="4000500"/>
            <a:chExt cx="7426706" cy="2083660"/>
          </a:xfrm>
        </p:grpSpPr>
        <p:sp>
          <p:nvSpPr>
            <p:cNvPr id="391" name="Google Shape;391;p27"/>
            <p:cNvSpPr/>
            <p:nvPr/>
          </p:nvSpPr>
          <p:spPr>
            <a:xfrm>
              <a:off x="2115312" y="4000500"/>
              <a:ext cx="1329055" cy="908685"/>
            </a:xfrm>
            <a:custGeom>
              <a:rect b="b" l="l" r="r" t="t"/>
              <a:pathLst>
                <a:path extrusionOk="0" h="908685" w="1329054">
                  <a:moveTo>
                    <a:pt x="3048" y="307848"/>
                  </a:moveTo>
                  <a:lnTo>
                    <a:pt x="1328927" y="307848"/>
                  </a:lnTo>
                </a:path>
                <a:path extrusionOk="0" h="908685" w="1329054">
                  <a:moveTo>
                    <a:pt x="3048" y="615695"/>
                  </a:moveTo>
                  <a:lnTo>
                    <a:pt x="1328927" y="615695"/>
                  </a:lnTo>
                </a:path>
                <a:path extrusionOk="0" h="908685" w="1329054">
                  <a:moveTo>
                    <a:pt x="0" y="908304"/>
                  </a:moveTo>
                  <a:lnTo>
                    <a:pt x="1325879" y="908304"/>
                  </a:lnTo>
                </a:path>
                <a:path extrusionOk="0" h="908685" w="1329054">
                  <a:moveTo>
                    <a:pt x="3048" y="0"/>
                  </a:moveTo>
                  <a:lnTo>
                    <a:pt x="1328927"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27"/>
            <p:cNvSpPr/>
            <p:nvPr/>
          </p:nvSpPr>
          <p:spPr>
            <a:xfrm>
              <a:off x="1524000" y="5303520"/>
              <a:ext cx="720851" cy="751332"/>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7"/>
            <p:cNvSpPr/>
            <p:nvPr/>
          </p:nvSpPr>
          <p:spPr>
            <a:xfrm>
              <a:off x="1831847" y="5375148"/>
              <a:ext cx="348995" cy="34442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7"/>
            <p:cNvSpPr/>
            <p:nvPr/>
          </p:nvSpPr>
          <p:spPr>
            <a:xfrm>
              <a:off x="3457955" y="5132832"/>
              <a:ext cx="1242060" cy="0"/>
            </a:xfrm>
            <a:custGeom>
              <a:rect b="b" l="l" r="r" t="t"/>
              <a:pathLst>
                <a:path extrusionOk="0" h="120000" w="1242060">
                  <a:moveTo>
                    <a:pt x="0" y="0"/>
                  </a:moveTo>
                  <a:lnTo>
                    <a:pt x="124206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7"/>
            <p:cNvSpPr/>
            <p:nvPr/>
          </p:nvSpPr>
          <p:spPr>
            <a:xfrm>
              <a:off x="4904532" y="4645250"/>
              <a:ext cx="2751455" cy="1438910"/>
            </a:xfrm>
            <a:custGeom>
              <a:rect b="b" l="l" r="r" t="t"/>
              <a:pathLst>
                <a:path extrusionOk="0" h="1438910" w="2751454">
                  <a:moveTo>
                    <a:pt x="1627554" y="0"/>
                  </a:moveTo>
                  <a:lnTo>
                    <a:pt x="1575673" y="2124"/>
                  </a:lnTo>
                  <a:lnTo>
                    <a:pt x="1523730" y="6388"/>
                  </a:lnTo>
                  <a:lnTo>
                    <a:pt x="1471803" y="12498"/>
                  </a:lnTo>
                  <a:lnTo>
                    <a:pt x="1419974" y="20156"/>
                  </a:lnTo>
                  <a:lnTo>
                    <a:pt x="1368322" y="29068"/>
                  </a:lnTo>
                  <a:lnTo>
                    <a:pt x="1316927" y="38938"/>
                  </a:lnTo>
                  <a:lnTo>
                    <a:pt x="1265870" y="49470"/>
                  </a:lnTo>
                  <a:lnTo>
                    <a:pt x="1115525" y="82080"/>
                  </a:lnTo>
                  <a:lnTo>
                    <a:pt x="1066618" y="92303"/>
                  </a:lnTo>
                  <a:lnTo>
                    <a:pt x="1018450" y="101710"/>
                  </a:lnTo>
                  <a:lnTo>
                    <a:pt x="971100" y="110005"/>
                  </a:lnTo>
                  <a:lnTo>
                    <a:pt x="924648" y="116892"/>
                  </a:lnTo>
                  <a:lnTo>
                    <a:pt x="879174" y="122075"/>
                  </a:lnTo>
                  <a:lnTo>
                    <a:pt x="824876" y="125743"/>
                  </a:lnTo>
                  <a:lnTo>
                    <a:pt x="770099" y="126942"/>
                  </a:lnTo>
                  <a:lnTo>
                    <a:pt x="715171" y="126209"/>
                  </a:lnTo>
                  <a:lnTo>
                    <a:pt x="660419" y="124081"/>
                  </a:lnTo>
                  <a:lnTo>
                    <a:pt x="606171" y="121092"/>
                  </a:lnTo>
                  <a:lnTo>
                    <a:pt x="500494" y="114679"/>
                  </a:lnTo>
                  <a:lnTo>
                    <a:pt x="449721" y="112327"/>
                  </a:lnTo>
                  <a:lnTo>
                    <a:pt x="400760" y="111258"/>
                  </a:lnTo>
                  <a:lnTo>
                    <a:pt x="353940" y="112009"/>
                  </a:lnTo>
                  <a:lnTo>
                    <a:pt x="309587" y="115117"/>
                  </a:lnTo>
                  <a:lnTo>
                    <a:pt x="268030" y="121116"/>
                  </a:lnTo>
                  <a:lnTo>
                    <a:pt x="229595" y="130544"/>
                  </a:lnTo>
                  <a:lnTo>
                    <a:pt x="163402" y="161826"/>
                  </a:lnTo>
                  <a:lnTo>
                    <a:pt x="131828" y="188306"/>
                  </a:lnTo>
                  <a:lnTo>
                    <a:pt x="104299" y="220361"/>
                  </a:lnTo>
                  <a:lnTo>
                    <a:pt x="80582" y="257254"/>
                  </a:lnTo>
                  <a:lnTo>
                    <a:pt x="60442" y="298249"/>
                  </a:lnTo>
                  <a:lnTo>
                    <a:pt x="43646" y="342608"/>
                  </a:lnTo>
                  <a:lnTo>
                    <a:pt x="29960" y="389594"/>
                  </a:lnTo>
                  <a:lnTo>
                    <a:pt x="19150" y="438470"/>
                  </a:lnTo>
                  <a:lnTo>
                    <a:pt x="10983" y="488500"/>
                  </a:lnTo>
                  <a:lnTo>
                    <a:pt x="5225" y="538946"/>
                  </a:lnTo>
                  <a:lnTo>
                    <a:pt x="1642" y="589071"/>
                  </a:lnTo>
                  <a:lnTo>
                    <a:pt x="0" y="638138"/>
                  </a:lnTo>
                  <a:lnTo>
                    <a:pt x="65" y="685411"/>
                  </a:lnTo>
                  <a:lnTo>
                    <a:pt x="1604" y="730151"/>
                  </a:lnTo>
                  <a:lnTo>
                    <a:pt x="3154" y="785937"/>
                  </a:lnTo>
                  <a:lnTo>
                    <a:pt x="9111" y="841114"/>
                  </a:lnTo>
                  <a:lnTo>
                    <a:pt x="19057" y="895342"/>
                  </a:lnTo>
                  <a:lnTo>
                    <a:pt x="32573" y="948279"/>
                  </a:lnTo>
                  <a:lnTo>
                    <a:pt x="49242" y="999582"/>
                  </a:lnTo>
                  <a:lnTo>
                    <a:pt x="68644" y="1048912"/>
                  </a:lnTo>
                  <a:lnTo>
                    <a:pt x="90362" y="1095925"/>
                  </a:lnTo>
                  <a:lnTo>
                    <a:pt x="113976" y="1140280"/>
                  </a:lnTo>
                  <a:lnTo>
                    <a:pt x="139068" y="1181636"/>
                  </a:lnTo>
                  <a:lnTo>
                    <a:pt x="165219" y="1219651"/>
                  </a:lnTo>
                  <a:lnTo>
                    <a:pt x="192012" y="1253983"/>
                  </a:lnTo>
                  <a:lnTo>
                    <a:pt x="219028" y="1284290"/>
                  </a:lnTo>
                  <a:lnTo>
                    <a:pt x="256115" y="1317444"/>
                  </a:lnTo>
                  <a:lnTo>
                    <a:pt x="295577" y="1342654"/>
                  </a:lnTo>
                  <a:lnTo>
                    <a:pt x="337543" y="1361264"/>
                  </a:lnTo>
                  <a:lnTo>
                    <a:pt x="382139" y="1374622"/>
                  </a:lnTo>
                  <a:lnTo>
                    <a:pt x="429494" y="1384073"/>
                  </a:lnTo>
                  <a:lnTo>
                    <a:pt x="479736" y="1390963"/>
                  </a:lnTo>
                  <a:lnTo>
                    <a:pt x="589386" y="1402445"/>
                  </a:lnTo>
                  <a:lnTo>
                    <a:pt x="692433" y="1415204"/>
                  </a:lnTo>
                  <a:lnTo>
                    <a:pt x="737586" y="1419943"/>
                  </a:lnTo>
                  <a:lnTo>
                    <a:pt x="784420" y="1423996"/>
                  </a:lnTo>
                  <a:lnTo>
                    <a:pt x="832842" y="1427417"/>
                  </a:lnTo>
                  <a:lnTo>
                    <a:pt x="882761" y="1430257"/>
                  </a:lnTo>
                  <a:lnTo>
                    <a:pt x="934086" y="1432567"/>
                  </a:lnTo>
                  <a:lnTo>
                    <a:pt x="986726" y="1434401"/>
                  </a:lnTo>
                  <a:lnTo>
                    <a:pt x="1040590" y="1435810"/>
                  </a:lnTo>
                  <a:lnTo>
                    <a:pt x="1095586" y="1436847"/>
                  </a:lnTo>
                  <a:lnTo>
                    <a:pt x="1151624" y="1437562"/>
                  </a:lnTo>
                  <a:lnTo>
                    <a:pt x="1208611" y="1438008"/>
                  </a:lnTo>
                  <a:lnTo>
                    <a:pt x="1325071" y="1438303"/>
                  </a:lnTo>
                  <a:lnTo>
                    <a:pt x="1525098" y="1437729"/>
                  </a:lnTo>
                  <a:lnTo>
                    <a:pt x="1634825" y="1436663"/>
                  </a:lnTo>
                  <a:lnTo>
                    <a:pt x="1746495" y="1434767"/>
                  </a:lnTo>
                  <a:lnTo>
                    <a:pt x="1801997" y="1433435"/>
                  </a:lnTo>
                  <a:lnTo>
                    <a:pt x="1856710" y="1431809"/>
                  </a:lnTo>
                  <a:lnTo>
                    <a:pt x="1910210" y="1429858"/>
                  </a:lnTo>
                  <a:lnTo>
                    <a:pt x="1962072" y="1427555"/>
                  </a:lnTo>
                  <a:lnTo>
                    <a:pt x="2011871" y="1424870"/>
                  </a:lnTo>
                  <a:lnTo>
                    <a:pt x="2059182" y="1421774"/>
                  </a:lnTo>
                  <a:lnTo>
                    <a:pt x="2103580" y="1418237"/>
                  </a:lnTo>
                  <a:lnTo>
                    <a:pt x="2144641" y="1414232"/>
                  </a:lnTo>
                  <a:lnTo>
                    <a:pt x="2181940" y="1409728"/>
                  </a:lnTo>
                  <a:lnTo>
                    <a:pt x="2243416" y="1403584"/>
                  </a:lnTo>
                  <a:lnTo>
                    <a:pt x="2295572" y="1401400"/>
                  </a:lnTo>
                  <a:lnTo>
                    <a:pt x="2339895" y="1400550"/>
                  </a:lnTo>
                  <a:lnTo>
                    <a:pt x="2377875" y="1398406"/>
                  </a:lnTo>
                  <a:lnTo>
                    <a:pt x="2440757" y="1379732"/>
                  </a:lnTo>
                  <a:lnTo>
                    <a:pt x="2496125" y="1324364"/>
                  </a:lnTo>
                  <a:lnTo>
                    <a:pt x="2524713" y="1276353"/>
                  </a:lnTo>
                  <a:lnTo>
                    <a:pt x="2556754" y="1213002"/>
                  </a:lnTo>
                  <a:lnTo>
                    <a:pt x="2575114" y="1174477"/>
                  </a:lnTo>
                  <a:lnTo>
                    <a:pt x="2594466" y="1132103"/>
                  </a:lnTo>
                  <a:lnTo>
                    <a:pt x="2614387" y="1086416"/>
                  </a:lnTo>
                  <a:lnTo>
                    <a:pt x="2634450" y="1037954"/>
                  </a:lnTo>
                  <a:lnTo>
                    <a:pt x="2654233" y="987255"/>
                  </a:lnTo>
                  <a:lnTo>
                    <a:pt x="2673309" y="934856"/>
                  </a:lnTo>
                  <a:lnTo>
                    <a:pt x="2691255" y="881294"/>
                  </a:lnTo>
                  <a:lnTo>
                    <a:pt x="2707646" y="827106"/>
                  </a:lnTo>
                  <a:lnTo>
                    <a:pt x="2722056" y="772831"/>
                  </a:lnTo>
                  <a:lnTo>
                    <a:pt x="2734061" y="719005"/>
                  </a:lnTo>
                  <a:lnTo>
                    <a:pt x="2743237" y="666166"/>
                  </a:lnTo>
                  <a:lnTo>
                    <a:pt x="2749158" y="614852"/>
                  </a:lnTo>
                  <a:lnTo>
                    <a:pt x="2751401" y="565599"/>
                  </a:lnTo>
                  <a:lnTo>
                    <a:pt x="2749540" y="518945"/>
                  </a:lnTo>
                  <a:lnTo>
                    <a:pt x="2743150" y="475427"/>
                  </a:lnTo>
                  <a:lnTo>
                    <a:pt x="2731807" y="435584"/>
                  </a:lnTo>
                  <a:lnTo>
                    <a:pt x="2715086" y="399951"/>
                  </a:lnTo>
                  <a:lnTo>
                    <a:pt x="2669919" y="341735"/>
                  </a:lnTo>
                  <a:lnTo>
                    <a:pt x="2640527" y="314231"/>
                  </a:lnTo>
                  <a:lnTo>
                    <a:pt x="2607093" y="287804"/>
                  </a:lnTo>
                  <a:lnTo>
                    <a:pt x="2569991" y="262462"/>
                  </a:lnTo>
                  <a:lnTo>
                    <a:pt x="2529594" y="238210"/>
                  </a:lnTo>
                  <a:lnTo>
                    <a:pt x="2486274" y="215053"/>
                  </a:lnTo>
                  <a:lnTo>
                    <a:pt x="2440407" y="193000"/>
                  </a:lnTo>
                  <a:lnTo>
                    <a:pt x="2392364" y="172054"/>
                  </a:lnTo>
                  <a:lnTo>
                    <a:pt x="2342518" y="152224"/>
                  </a:lnTo>
                  <a:lnTo>
                    <a:pt x="2291244" y="133514"/>
                  </a:lnTo>
                  <a:lnTo>
                    <a:pt x="2238914" y="115932"/>
                  </a:lnTo>
                  <a:lnTo>
                    <a:pt x="2185901" y="99483"/>
                  </a:lnTo>
                  <a:lnTo>
                    <a:pt x="2132579" y="84173"/>
                  </a:lnTo>
                  <a:lnTo>
                    <a:pt x="2079321" y="70009"/>
                  </a:lnTo>
                  <a:lnTo>
                    <a:pt x="2026501" y="56996"/>
                  </a:lnTo>
                  <a:lnTo>
                    <a:pt x="1974490" y="45142"/>
                  </a:lnTo>
                  <a:lnTo>
                    <a:pt x="1923664" y="34451"/>
                  </a:lnTo>
                  <a:lnTo>
                    <a:pt x="1874394" y="24931"/>
                  </a:lnTo>
                  <a:lnTo>
                    <a:pt x="1827054" y="16587"/>
                  </a:lnTo>
                  <a:lnTo>
                    <a:pt x="1782017" y="9426"/>
                  </a:lnTo>
                  <a:lnTo>
                    <a:pt x="1730806" y="3355"/>
                  </a:lnTo>
                  <a:lnTo>
                    <a:pt x="1679292" y="311"/>
                  </a:lnTo>
                  <a:lnTo>
                    <a:pt x="1627554" y="0"/>
                  </a:lnTo>
                  <a:close/>
                </a:path>
              </a:pathLst>
            </a:custGeom>
            <a:solidFill>
              <a:srgbClr val="66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7"/>
            <p:cNvSpPr/>
            <p:nvPr/>
          </p:nvSpPr>
          <p:spPr>
            <a:xfrm>
              <a:off x="7020305" y="5144262"/>
              <a:ext cx="594360" cy="16001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7"/>
            <p:cNvSpPr/>
            <p:nvPr/>
          </p:nvSpPr>
          <p:spPr>
            <a:xfrm>
              <a:off x="7020305" y="5144262"/>
              <a:ext cx="594360" cy="160020"/>
            </a:xfrm>
            <a:custGeom>
              <a:rect b="b" l="l" r="r" t="t"/>
              <a:pathLst>
                <a:path extrusionOk="0" h="160020" w="594359">
                  <a:moveTo>
                    <a:pt x="0" y="80010"/>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60" y="80010"/>
                  </a:lnTo>
                  <a:lnTo>
                    <a:pt x="586508" y="98357"/>
                  </a:lnTo>
                  <a:lnTo>
                    <a:pt x="529059" y="130055"/>
                  </a:lnTo>
                  <a:lnTo>
                    <a:pt x="483032" y="142445"/>
                  </a:lnTo>
                  <a:lnTo>
                    <a:pt x="427853" y="151889"/>
                  </a:lnTo>
                  <a:lnTo>
                    <a:pt x="365306" y="157907"/>
                  </a:lnTo>
                  <a:lnTo>
                    <a:pt x="297179" y="160019"/>
                  </a:lnTo>
                  <a:lnTo>
                    <a:pt x="229053" y="157907"/>
                  </a:lnTo>
                  <a:lnTo>
                    <a:pt x="166506" y="151889"/>
                  </a:lnTo>
                  <a:lnTo>
                    <a:pt x="111327" y="142445"/>
                  </a:lnTo>
                  <a:lnTo>
                    <a:pt x="65300" y="130055"/>
                  </a:lnTo>
                  <a:lnTo>
                    <a:pt x="30213"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7"/>
            <p:cNvSpPr/>
            <p:nvPr/>
          </p:nvSpPr>
          <p:spPr>
            <a:xfrm>
              <a:off x="7017258" y="5017770"/>
              <a:ext cx="599694" cy="20802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7"/>
            <p:cNvSpPr/>
            <p:nvPr/>
          </p:nvSpPr>
          <p:spPr>
            <a:xfrm>
              <a:off x="7017258" y="5017770"/>
              <a:ext cx="596265" cy="187960"/>
            </a:xfrm>
            <a:custGeom>
              <a:rect b="b" l="l" r="r" t="t"/>
              <a:pathLst>
                <a:path extrusionOk="0" h="187960" w="596265">
                  <a:moveTo>
                    <a:pt x="0" y="93725"/>
                  </a:moveTo>
                  <a:lnTo>
                    <a:pt x="30275" y="52484"/>
                  </a:lnTo>
                  <a:lnTo>
                    <a:pt x="65440" y="35083"/>
                  </a:lnTo>
                  <a:lnTo>
                    <a:pt x="111576" y="20573"/>
                  </a:lnTo>
                  <a:lnTo>
                    <a:pt x="166895" y="9517"/>
                  </a:lnTo>
                  <a:lnTo>
                    <a:pt x="229613" y="2472"/>
                  </a:lnTo>
                  <a:lnTo>
                    <a:pt x="297942" y="0"/>
                  </a:lnTo>
                  <a:lnTo>
                    <a:pt x="366270" y="2472"/>
                  </a:lnTo>
                  <a:lnTo>
                    <a:pt x="428988" y="9517"/>
                  </a:lnTo>
                  <a:lnTo>
                    <a:pt x="484307" y="20573"/>
                  </a:lnTo>
                  <a:lnTo>
                    <a:pt x="530443" y="35083"/>
                  </a:lnTo>
                  <a:lnTo>
                    <a:pt x="565608" y="52484"/>
                  </a:lnTo>
                  <a:lnTo>
                    <a:pt x="595884" y="93725"/>
                  </a:lnTo>
                  <a:lnTo>
                    <a:pt x="588017" y="115233"/>
                  </a:lnTo>
                  <a:lnTo>
                    <a:pt x="530443" y="152368"/>
                  </a:lnTo>
                  <a:lnTo>
                    <a:pt x="484307" y="166877"/>
                  </a:lnTo>
                  <a:lnTo>
                    <a:pt x="428988" y="177934"/>
                  </a:lnTo>
                  <a:lnTo>
                    <a:pt x="366270" y="184979"/>
                  </a:lnTo>
                  <a:lnTo>
                    <a:pt x="297942" y="187451"/>
                  </a:lnTo>
                  <a:lnTo>
                    <a:pt x="229613" y="184979"/>
                  </a:lnTo>
                  <a:lnTo>
                    <a:pt x="166895" y="177934"/>
                  </a:lnTo>
                  <a:lnTo>
                    <a:pt x="111576" y="166877"/>
                  </a:lnTo>
                  <a:lnTo>
                    <a:pt x="65440" y="152368"/>
                  </a:lnTo>
                  <a:lnTo>
                    <a:pt x="30275" y="134967"/>
                  </a:lnTo>
                  <a:lnTo>
                    <a:pt x="0" y="93725"/>
                  </a:lnTo>
                  <a:close/>
                </a:path>
                <a:path extrusionOk="0" h="187960" w="596265">
                  <a:moveTo>
                    <a:pt x="120396" y="135635"/>
                  </a:moveTo>
                  <a:lnTo>
                    <a:pt x="224663" y="135635"/>
                  </a:lnTo>
                  <a:lnTo>
                    <a:pt x="329057" y="48767"/>
                  </a:lnTo>
                  <a:lnTo>
                    <a:pt x="457200"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7"/>
            <p:cNvSpPr/>
            <p:nvPr/>
          </p:nvSpPr>
          <p:spPr>
            <a:xfrm>
              <a:off x="7152132" y="5065776"/>
              <a:ext cx="306705" cy="86995"/>
            </a:xfrm>
            <a:custGeom>
              <a:rect b="b" l="l" r="r" t="t"/>
              <a:pathLst>
                <a:path extrusionOk="0" h="86995" w="306704">
                  <a:moveTo>
                    <a:pt x="0" y="0"/>
                  </a:moveTo>
                  <a:lnTo>
                    <a:pt x="104267" y="0"/>
                  </a:lnTo>
                  <a:lnTo>
                    <a:pt x="208534"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27"/>
            <p:cNvSpPr/>
            <p:nvPr/>
          </p:nvSpPr>
          <p:spPr>
            <a:xfrm>
              <a:off x="7021829" y="5104638"/>
              <a:ext cx="591820" cy="131445"/>
            </a:xfrm>
            <a:custGeom>
              <a:rect b="b" l="l" r="r" t="t"/>
              <a:pathLst>
                <a:path extrusionOk="0" h="131445" w="591820">
                  <a:moveTo>
                    <a:pt x="0" y="0"/>
                  </a:moveTo>
                  <a:lnTo>
                    <a:pt x="0" y="126492"/>
                  </a:lnTo>
                </a:path>
                <a:path extrusionOk="0" h="131445" w="591820">
                  <a:moveTo>
                    <a:pt x="591312" y="6095"/>
                  </a:moveTo>
                  <a:lnTo>
                    <a:pt x="591312"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7"/>
            <p:cNvSpPr/>
            <p:nvPr/>
          </p:nvSpPr>
          <p:spPr>
            <a:xfrm>
              <a:off x="5965697" y="5516118"/>
              <a:ext cx="594359" cy="16001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7"/>
            <p:cNvSpPr/>
            <p:nvPr/>
          </p:nvSpPr>
          <p:spPr>
            <a:xfrm>
              <a:off x="5965697" y="5516118"/>
              <a:ext cx="594360" cy="160020"/>
            </a:xfrm>
            <a:custGeom>
              <a:rect b="b" l="l" r="r" t="t"/>
              <a:pathLst>
                <a:path extrusionOk="0" h="160020" w="594359">
                  <a:moveTo>
                    <a:pt x="0" y="80009"/>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59" y="80009"/>
                  </a:lnTo>
                  <a:lnTo>
                    <a:pt x="586508" y="98353"/>
                  </a:lnTo>
                  <a:lnTo>
                    <a:pt x="529059" y="130050"/>
                  </a:lnTo>
                  <a:lnTo>
                    <a:pt x="483032" y="142441"/>
                  </a:lnTo>
                  <a:lnTo>
                    <a:pt x="427853" y="151886"/>
                  </a:lnTo>
                  <a:lnTo>
                    <a:pt x="365306" y="157906"/>
                  </a:lnTo>
                  <a:lnTo>
                    <a:pt x="297179" y="160019"/>
                  </a:lnTo>
                  <a:lnTo>
                    <a:pt x="229053" y="157906"/>
                  </a:lnTo>
                  <a:lnTo>
                    <a:pt x="166506" y="151886"/>
                  </a:lnTo>
                  <a:lnTo>
                    <a:pt x="111327" y="142441"/>
                  </a:lnTo>
                  <a:lnTo>
                    <a:pt x="65300" y="130050"/>
                  </a:lnTo>
                  <a:lnTo>
                    <a:pt x="30213" y="115194"/>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27"/>
            <p:cNvSpPr/>
            <p:nvPr/>
          </p:nvSpPr>
          <p:spPr>
            <a:xfrm>
              <a:off x="5964173" y="5388102"/>
              <a:ext cx="598170" cy="208025"/>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7"/>
            <p:cNvSpPr/>
            <p:nvPr/>
          </p:nvSpPr>
          <p:spPr>
            <a:xfrm>
              <a:off x="5964173" y="5388102"/>
              <a:ext cx="594360" cy="189230"/>
            </a:xfrm>
            <a:custGeom>
              <a:rect b="b" l="l" r="r" t="t"/>
              <a:pathLst>
                <a:path extrusionOk="0" h="189229" w="594359">
                  <a:moveTo>
                    <a:pt x="0" y="94488"/>
                  </a:moveTo>
                  <a:lnTo>
                    <a:pt x="30213" y="52929"/>
                  </a:lnTo>
                  <a:lnTo>
                    <a:pt x="65300" y="35385"/>
                  </a:lnTo>
                  <a:lnTo>
                    <a:pt x="111327" y="20753"/>
                  </a:lnTo>
                  <a:lnTo>
                    <a:pt x="166506" y="9601"/>
                  </a:lnTo>
                  <a:lnTo>
                    <a:pt x="229053" y="2494"/>
                  </a:lnTo>
                  <a:lnTo>
                    <a:pt x="297179" y="0"/>
                  </a:lnTo>
                  <a:lnTo>
                    <a:pt x="365306" y="2494"/>
                  </a:lnTo>
                  <a:lnTo>
                    <a:pt x="427853" y="9601"/>
                  </a:lnTo>
                  <a:lnTo>
                    <a:pt x="483032" y="20753"/>
                  </a:lnTo>
                  <a:lnTo>
                    <a:pt x="529059" y="35385"/>
                  </a:lnTo>
                  <a:lnTo>
                    <a:pt x="564146" y="52929"/>
                  </a:lnTo>
                  <a:lnTo>
                    <a:pt x="594359" y="94488"/>
                  </a:lnTo>
                  <a:lnTo>
                    <a:pt x="586508" y="116157"/>
                  </a:lnTo>
                  <a:lnTo>
                    <a:pt x="529059" y="153590"/>
                  </a:lnTo>
                  <a:lnTo>
                    <a:pt x="483032" y="168222"/>
                  </a:lnTo>
                  <a:lnTo>
                    <a:pt x="427853" y="179374"/>
                  </a:lnTo>
                  <a:lnTo>
                    <a:pt x="365306" y="186481"/>
                  </a:lnTo>
                  <a:lnTo>
                    <a:pt x="297179" y="188976"/>
                  </a:lnTo>
                  <a:lnTo>
                    <a:pt x="229053" y="186481"/>
                  </a:lnTo>
                  <a:lnTo>
                    <a:pt x="166506" y="179374"/>
                  </a:lnTo>
                  <a:lnTo>
                    <a:pt x="111327" y="168222"/>
                  </a:lnTo>
                  <a:lnTo>
                    <a:pt x="65300" y="153590"/>
                  </a:lnTo>
                  <a:lnTo>
                    <a:pt x="30213" y="136046"/>
                  </a:lnTo>
                  <a:lnTo>
                    <a:pt x="0" y="94488"/>
                  </a:lnTo>
                  <a:close/>
                </a:path>
                <a:path extrusionOk="0" h="189229" w="594359">
                  <a:moveTo>
                    <a:pt x="118872" y="135636"/>
                  </a:moveTo>
                  <a:lnTo>
                    <a:pt x="223138" y="135636"/>
                  </a:lnTo>
                  <a:lnTo>
                    <a:pt x="327533"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27"/>
            <p:cNvSpPr/>
            <p:nvPr/>
          </p:nvSpPr>
          <p:spPr>
            <a:xfrm>
              <a:off x="6097523" y="5436108"/>
              <a:ext cx="306705" cy="86995"/>
            </a:xfrm>
            <a:custGeom>
              <a:rect b="b" l="l" r="r" t="t"/>
              <a:pathLst>
                <a:path extrusionOk="0" h="86995" w="306704">
                  <a:moveTo>
                    <a:pt x="0" y="0"/>
                  </a:moveTo>
                  <a:lnTo>
                    <a:pt x="104266" y="0"/>
                  </a:lnTo>
                  <a:lnTo>
                    <a:pt x="208534"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27"/>
            <p:cNvSpPr/>
            <p:nvPr/>
          </p:nvSpPr>
          <p:spPr>
            <a:xfrm>
              <a:off x="5967221" y="5474970"/>
              <a:ext cx="591820" cy="131445"/>
            </a:xfrm>
            <a:custGeom>
              <a:rect b="b" l="l" r="r" t="t"/>
              <a:pathLst>
                <a:path extrusionOk="0" h="131445" w="591820">
                  <a:moveTo>
                    <a:pt x="0" y="0"/>
                  </a:moveTo>
                  <a:lnTo>
                    <a:pt x="0" y="128015"/>
                  </a:lnTo>
                </a:path>
                <a:path extrusionOk="0" h="131445" w="591820">
                  <a:moveTo>
                    <a:pt x="591311" y="7619"/>
                  </a:moveTo>
                  <a:lnTo>
                    <a:pt x="591311"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7"/>
            <p:cNvSpPr/>
            <p:nvPr/>
          </p:nvSpPr>
          <p:spPr>
            <a:xfrm>
              <a:off x="5013197" y="5147310"/>
              <a:ext cx="594360" cy="160019"/>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27"/>
            <p:cNvSpPr/>
            <p:nvPr/>
          </p:nvSpPr>
          <p:spPr>
            <a:xfrm>
              <a:off x="5013197" y="5147310"/>
              <a:ext cx="594360" cy="160020"/>
            </a:xfrm>
            <a:custGeom>
              <a:rect b="b" l="l" r="r" t="t"/>
              <a:pathLst>
                <a:path extrusionOk="0" h="160020" w="594360">
                  <a:moveTo>
                    <a:pt x="0" y="80009"/>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60" y="80009"/>
                  </a:lnTo>
                  <a:lnTo>
                    <a:pt x="586508" y="98357"/>
                  </a:lnTo>
                  <a:lnTo>
                    <a:pt x="529059" y="130055"/>
                  </a:lnTo>
                  <a:lnTo>
                    <a:pt x="483032" y="142445"/>
                  </a:lnTo>
                  <a:lnTo>
                    <a:pt x="427853" y="151889"/>
                  </a:lnTo>
                  <a:lnTo>
                    <a:pt x="365306" y="157907"/>
                  </a:lnTo>
                  <a:lnTo>
                    <a:pt x="297179" y="160019"/>
                  </a:lnTo>
                  <a:lnTo>
                    <a:pt x="229053" y="157907"/>
                  </a:lnTo>
                  <a:lnTo>
                    <a:pt x="166506" y="151889"/>
                  </a:lnTo>
                  <a:lnTo>
                    <a:pt x="111327" y="142445"/>
                  </a:lnTo>
                  <a:lnTo>
                    <a:pt x="65300" y="130055"/>
                  </a:lnTo>
                  <a:lnTo>
                    <a:pt x="30213" y="115199"/>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27"/>
            <p:cNvSpPr/>
            <p:nvPr/>
          </p:nvSpPr>
          <p:spPr>
            <a:xfrm>
              <a:off x="5011673" y="5020818"/>
              <a:ext cx="598170" cy="208025"/>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27"/>
            <p:cNvSpPr/>
            <p:nvPr/>
          </p:nvSpPr>
          <p:spPr>
            <a:xfrm>
              <a:off x="5011673" y="5020818"/>
              <a:ext cx="594360" cy="187960"/>
            </a:xfrm>
            <a:custGeom>
              <a:rect b="b" l="l" r="r" t="t"/>
              <a:pathLst>
                <a:path extrusionOk="0" h="187960" w="594360">
                  <a:moveTo>
                    <a:pt x="0" y="93725"/>
                  </a:moveTo>
                  <a:lnTo>
                    <a:pt x="30213" y="52484"/>
                  </a:lnTo>
                  <a:lnTo>
                    <a:pt x="65300" y="35083"/>
                  </a:lnTo>
                  <a:lnTo>
                    <a:pt x="111327" y="20573"/>
                  </a:lnTo>
                  <a:lnTo>
                    <a:pt x="166506" y="9517"/>
                  </a:lnTo>
                  <a:lnTo>
                    <a:pt x="229053" y="2472"/>
                  </a:lnTo>
                  <a:lnTo>
                    <a:pt x="297179" y="0"/>
                  </a:lnTo>
                  <a:lnTo>
                    <a:pt x="365306" y="2472"/>
                  </a:lnTo>
                  <a:lnTo>
                    <a:pt x="427853" y="9517"/>
                  </a:lnTo>
                  <a:lnTo>
                    <a:pt x="483032" y="20573"/>
                  </a:lnTo>
                  <a:lnTo>
                    <a:pt x="529059" y="35083"/>
                  </a:lnTo>
                  <a:lnTo>
                    <a:pt x="564146" y="52484"/>
                  </a:lnTo>
                  <a:lnTo>
                    <a:pt x="594360" y="93725"/>
                  </a:lnTo>
                  <a:lnTo>
                    <a:pt x="586508" y="115233"/>
                  </a:lnTo>
                  <a:lnTo>
                    <a:pt x="529059" y="152368"/>
                  </a:lnTo>
                  <a:lnTo>
                    <a:pt x="483032" y="166877"/>
                  </a:lnTo>
                  <a:lnTo>
                    <a:pt x="427853" y="177934"/>
                  </a:lnTo>
                  <a:lnTo>
                    <a:pt x="365306" y="184979"/>
                  </a:lnTo>
                  <a:lnTo>
                    <a:pt x="297179" y="187451"/>
                  </a:lnTo>
                  <a:lnTo>
                    <a:pt x="229053" y="184979"/>
                  </a:lnTo>
                  <a:lnTo>
                    <a:pt x="166506" y="177934"/>
                  </a:lnTo>
                  <a:lnTo>
                    <a:pt x="111327" y="166877"/>
                  </a:lnTo>
                  <a:lnTo>
                    <a:pt x="65300" y="152368"/>
                  </a:lnTo>
                  <a:lnTo>
                    <a:pt x="30213" y="134967"/>
                  </a:lnTo>
                  <a:lnTo>
                    <a:pt x="0" y="93725"/>
                  </a:lnTo>
                  <a:close/>
                </a:path>
                <a:path extrusionOk="0" h="187960" w="594360">
                  <a:moveTo>
                    <a:pt x="118872" y="135635"/>
                  </a:moveTo>
                  <a:lnTo>
                    <a:pt x="223138" y="135635"/>
                  </a:lnTo>
                  <a:lnTo>
                    <a:pt x="327533" y="48767"/>
                  </a:lnTo>
                  <a:lnTo>
                    <a:pt x="455675"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27"/>
            <p:cNvSpPr/>
            <p:nvPr/>
          </p:nvSpPr>
          <p:spPr>
            <a:xfrm>
              <a:off x="5145023" y="5068824"/>
              <a:ext cx="306705" cy="86995"/>
            </a:xfrm>
            <a:custGeom>
              <a:rect b="b" l="l" r="r" t="t"/>
              <a:pathLst>
                <a:path extrusionOk="0" h="86995" w="306704">
                  <a:moveTo>
                    <a:pt x="0" y="0"/>
                  </a:moveTo>
                  <a:lnTo>
                    <a:pt x="104266" y="0"/>
                  </a:lnTo>
                  <a:lnTo>
                    <a:pt x="208534"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7"/>
            <p:cNvSpPr/>
            <p:nvPr/>
          </p:nvSpPr>
          <p:spPr>
            <a:xfrm>
              <a:off x="5014721" y="5107686"/>
              <a:ext cx="591820" cy="131445"/>
            </a:xfrm>
            <a:custGeom>
              <a:rect b="b" l="l" r="r" t="t"/>
              <a:pathLst>
                <a:path extrusionOk="0" h="131445" w="591820">
                  <a:moveTo>
                    <a:pt x="0" y="0"/>
                  </a:moveTo>
                  <a:lnTo>
                    <a:pt x="0" y="126491"/>
                  </a:lnTo>
                </a:path>
                <a:path extrusionOk="0" h="131445" w="591820">
                  <a:moveTo>
                    <a:pt x="591312" y="6095"/>
                  </a:moveTo>
                  <a:lnTo>
                    <a:pt x="591312"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7"/>
            <p:cNvSpPr/>
            <p:nvPr/>
          </p:nvSpPr>
          <p:spPr>
            <a:xfrm>
              <a:off x="4863084" y="5132832"/>
              <a:ext cx="184785" cy="0"/>
            </a:xfrm>
            <a:custGeom>
              <a:rect b="b" l="l" r="r" t="t"/>
              <a:pathLst>
                <a:path extrusionOk="0" h="120000" w="184785">
                  <a:moveTo>
                    <a:pt x="0" y="0"/>
                  </a:moveTo>
                  <a:lnTo>
                    <a:pt x="184404"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27"/>
            <p:cNvSpPr/>
            <p:nvPr/>
          </p:nvSpPr>
          <p:spPr>
            <a:xfrm>
              <a:off x="3457955" y="5139690"/>
              <a:ext cx="1590040" cy="5080"/>
            </a:xfrm>
            <a:custGeom>
              <a:rect b="b" l="l" r="r" t="t"/>
              <a:pathLst>
                <a:path extrusionOk="0" h="5079" w="1590039">
                  <a:moveTo>
                    <a:pt x="0" y="0"/>
                  </a:moveTo>
                  <a:lnTo>
                    <a:pt x="1589532" y="0"/>
                  </a:lnTo>
                </a:path>
                <a:path extrusionOk="0" h="5079" w="1590039">
                  <a:moveTo>
                    <a:pt x="0" y="4572"/>
                  </a:moveTo>
                  <a:lnTo>
                    <a:pt x="1589532" y="4572"/>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7"/>
            <p:cNvSpPr/>
            <p:nvPr/>
          </p:nvSpPr>
          <p:spPr>
            <a:xfrm>
              <a:off x="5353811" y="4892040"/>
              <a:ext cx="1976755" cy="1030605"/>
            </a:xfrm>
            <a:custGeom>
              <a:rect b="b" l="l" r="r" t="t"/>
              <a:pathLst>
                <a:path extrusionOk="0" h="1030604" w="1976754">
                  <a:moveTo>
                    <a:pt x="256032" y="271272"/>
                  </a:moveTo>
                  <a:lnTo>
                    <a:pt x="723900" y="7620"/>
                  </a:lnTo>
                </a:path>
                <a:path extrusionOk="0" h="1030604" w="1976754">
                  <a:moveTo>
                    <a:pt x="1222247" y="0"/>
                  </a:moveTo>
                  <a:lnTo>
                    <a:pt x="1653539" y="277368"/>
                  </a:lnTo>
                </a:path>
                <a:path extrusionOk="0" h="1030604" w="1976754">
                  <a:moveTo>
                    <a:pt x="156972" y="393192"/>
                  </a:moveTo>
                  <a:lnTo>
                    <a:pt x="637032" y="630936"/>
                  </a:lnTo>
                </a:path>
                <a:path extrusionOk="0" h="1030604" w="1976754">
                  <a:moveTo>
                    <a:pt x="1199388" y="617220"/>
                  </a:moveTo>
                  <a:lnTo>
                    <a:pt x="1758695" y="381000"/>
                  </a:lnTo>
                </a:path>
                <a:path extrusionOk="0" h="1030604" w="1976754">
                  <a:moveTo>
                    <a:pt x="1770888" y="931164"/>
                  </a:moveTo>
                  <a:lnTo>
                    <a:pt x="1976628" y="423672"/>
                  </a:lnTo>
                </a:path>
                <a:path extrusionOk="0" h="1030604" w="1976754">
                  <a:moveTo>
                    <a:pt x="1272539" y="1030224"/>
                  </a:moveTo>
                  <a:lnTo>
                    <a:pt x="536448" y="957072"/>
                  </a:lnTo>
                </a:path>
                <a:path extrusionOk="0" h="1030604" w="1976754">
                  <a:moveTo>
                    <a:pt x="178180" y="838631"/>
                  </a:moveTo>
                  <a:lnTo>
                    <a:pt x="193548" y="842772"/>
                  </a:lnTo>
                  <a:lnTo>
                    <a:pt x="0" y="416052"/>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27"/>
            <p:cNvSpPr/>
            <p:nvPr/>
          </p:nvSpPr>
          <p:spPr>
            <a:xfrm>
              <a:off x="7587996" y="5228844"/>
              <a:ext cx="1362710" cy="0"/>
            </a:xfrm>
            <a:custGeom>
              <a:rect b="b" l="l" r="r" t="t"/>
              <a:pathLst>
                <a:path extrusionOk="0" h="120000" w="1362709">
                  <a:moveTo>
                    <a:pt x="1362455" y="0"/>
                  </a:moveTo>
                  <a:lnTo>
                    <a:pt x="0" y="0"/>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7"/>
            <p:cNvSpPr/>
            <p:nvPr/>
          </p:nvSpPr>
          <p:spPr>
            <a:xfrm>
              <a:off x="6006846" y="4850130"/>
              <a:ext cx="595883" cy="15849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7"/>
            <p:cNvSpPr/>
            <p:nvPr/>
          </p:nvSpPr>
          <p:spPr>
            <a:xfrm>
              <a:off x="6006846" y="4850130"/>
              <a:ext cx="596265" cy="158750"/>
            </a:xfrm>
            <a:custGeom>
              <a:rect b="b" l="l" r="r" t="t"/>
              <a:pathLst>
                <a:path extrusionOk="0" h="158750" w="596265">
                  <a:moveTo>
                    <a:pt x="0" y="79248"/>
                  </a:moveTo>
                  <a:lnTo>
                    <a:pt x="30275" y="44375"/>
                  </a:lnTo>
                  <a:lnTo>
                    <a:pt x="65440" y="29662"/>
                  </a:lnTo>
                  <a:lnTo>
                    <a:pt x="111576" y="17394"/>
                  </a:lnTo>
                  <a:lnTo>
                    <a:pt x="166895" y="8046"/>
                  </a:lnTo>
                  <a:lnTo>
                    <a:pt x="229613" y="2090"/>
                  </a:lnTo>
                  <a:lnTo>
                    <a:pt x="297941" y="0"/>
                  </a:lnTo>
                  <a:lnTo>
                    <a:pt x="366270" y="2090"/>
                  </a:lnTo>
                  <a:lnTo>
                    <a:pt x="428988" y="8046"/>
                  </a:lnTo>
                  <a:lnTo>
                    <a:pt x="484307" y="17394"/>
                  </a:lnTo>
                  <a:lnTo>
                    <a:pt x="530443" y="29662"/>
                  </a:lnTo>
                  <a:lnTo>
                    <a:pt x="565608" y="44375"/>
                  </a:lnTo>
                  <a:lnTo>
                    <a:pt x="595883" y="79248"/>
                  </a:lnTo>
                  <a:lnTo>
                    <a:pt x="588017" y="97433"/>
                  </a:lnTo>
                  <a:lnTo>
                    <a:pt x="530443" y="128833"/>
                  </a:lnTo>
                  <a:lnTo>
                    <a:pt x="484307" y="141101"/>
                  </a:lnTo>
                  <a:lnTo>
                    <a:pt x="428988" y="150449"/>
                  </a:lnTo>
                  <a:lnTo>
                    <a:pt x="366270" y="156405"/>
                  </a:lnTo>
                  <a:lnTo>
                    <a:pt x="297941" y="158496"/>
                  </a:lnTo>
                  <a:lnTo>
                    <a:pt x="229613" y="156405"/>
                  </a:lnTo>
                  <a:lnTo>
                    <a:pt x="166895" y="150449"/>
                  </a:lnTo>
                  <a:lnTo>
                    <a:pt x="111576" y="141101"/>
                  </a:lnTo>
                  <a:lnTo>
                    <a:pt x="65440" y="128833"/>
                  </a:lnTo>
                  <a:lnTo>
                    <a:pt x="30275" y="114120"/>
                  </a:lnTo>
                  <a:lnTo>
                    <a:pt x="0" y="79248"/>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7"/>
            <p:cNvSpPr/>
            <p:nvPr/>
          </p:nvSpPr>
          <p:spPr>
            <a:xfrm>
              <a:off x="6005321" y="4722114"/>
              <a:ext cx="598170" cy="20802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7"/>
            <p:cNvSpPr/>
            <p:nvPr/>
          </p:nvSpPr>
          <p:spPr>
            <a:xfrm>
              <a:off x="6005321" y="4722114"/>
              <a:ext cx="594360" cy="187960"/>
            </a:xfrm>
            <a:custGeom>
              <a:rect b="b" l="l" r="r" t="t"/>
              <a:pathLst>
                <a:path extrusionOk="0" h="187960" w="594359">
                  <a:moveTo>
                    <a:pt x="0" y="93725"/>
                  </a:moveTo>
                  <a:lnTo>
                    <a:pt x="30213" y="52484"/>
                  </a:lnTo>
                  <a:lnTo>
                    <a:pt x="65300" y="35083"/>
                  </a:lnTo>
                  <a:lnTo>
                    <a:pt x="111327" y="20573"/>
                  </a:lnTo>
                  <a:lnTo>
                    <a:pt x="166506" y="9517"/>
                  </a:lnTo>
                  <a:lnTo>
                    <a:pt x="229053" y="2472"/>
                  </a:lnTo>
                  <a:lnTo>
                    <a:pt x="297179" y="0"/>
                  </a:lnTo>
                  <a:lnTo>
                    <a:pt x="365306" y="2472"/>
                  </a:lnTo>
                  <a:lnTo>
                    <a:pt x="427853" y="9517"/>
                  </a:lnTo>
                  <a:lnTo>
                    <a:pt x="483032" y="20574"/>
                  </a:lnTo>
                  <a:lnTo>
                    <a:pt x="529059" y="35083"/>
                  </a:lnTo>
                  <a:lnTo>
                    <a:pt x="564146" y="52484"/>
                  </a:lnTo>
                  <a:lnTo>
                    <a:pt x="594359" y="93725"/>
                  </a:lnTo>
                  <a:lnTo>
                    <a:pt x="586508" y="115233"/>
                  </a:lnTo>
                  <a:lnTo>
                    <a:pt x="529059" y="152368"/>
                  </a:lnTo>
                  <a:lnTo>
                    <a:pt x="483032" y="166878"/>
                  </a:lnTo>
                  <a:lnTo>
                    <a:pt x="427853" y="177934"/>
                  </a:lnTo>
                  <a:lnTo>
                    <a:pt x="365306" y="184979"/>
                  </a:lnTo>
                  <a:lnTo>
                    <a:pt x="297179" y="187452"/>
                  </a:lnTo>
                  <a:lnTo>
                    <a:pt x="229053" y="184979"/>
                  </a:lnTo>
                  <a:lnTo>
                    <a:pt x="166506" y="177934"/>
                  </a:lnTo>
                  <a:lnTo>
                    <a:pt x="111327" y="166878"/>
                  </a:lnTo>
                  <a:lnTo>
                    <a:pt x="65300" y="152368"/>
                  </a:lnTo>
                  <a:lnTo>
                    <a:pt x="30213" y="134967"/>
                  </a:lnTo>
                  <a:lnTo>
                    <a:pt x="0" y="93725"/>
                  </a:lnTo>
                  <a:close/>
                </a:path>
                <a:path extrusionOk="0" h="187960" w="594359">
                  <a:moveTo>
                    <a:pt x="118872" y="135636"/>
                  </a:moveTo>
                  <a:lnTo>
                    <a:pt x="223138" y="135636"/>
                  </a:lnTo>
                  <a:lnTo>
                    <a:pt x="327532"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7"/>
            <p:cNvSpPr/>
            <p:nvPr/>
          </p:nvSpPr>
          <p:spPr>
            <a:xfrm>
              <a:off x="6138671" y="4770120"/>
              <a:ext cx="306705" cy="86995"/>
            </a:xfrm>
            <a:custGeom>
              <a:rect b="b" l="l" r="r" t="t"/>
              <a:pathLst>
                <a:path extrusionOk="0" h="86995"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7"/>
            <p:cNvSpPr/>
            <p:nvPr/>
          </p:nvSpPr>
          <p:spPr>
            <a:xfrm>
              <a:off x="6008370" y="4808982"/>
              <a:ext cx="0" cy="128270"/>
            </a:xfrm>
            <a:custGeom>
              <a:rect b="b" l="l" r="r" t="t"/>
              <a:pathLst>
                <a:path extrusionOk="0" h="128270" w="120000">
                  <a:moveTo>
                    <a:pt x="0" y="0"/>
                  </a:moveTo>
                  <a:lnTo>
                    <a:pt x="0" y="128016"/>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7"/>
            <p:cNvSpPr/>
            <p:nvPr/>
          </p:nvSpPr>
          <p:spPr>
            <a:xfrm>
              <a:off x="6561582" y="5849874"/>
              <a:ext cx="594360" cy="16001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7"/>
            <p:cNvSpPr/>
            <p:nvPr/>
          </p:nvSpPr>
          <p:spPr>
            <a:xfrm>
              <a:off x="6561582" y="5849874"/>
              <a:ext cx="594360" cy="160020"/>
            </a:xfrm>
            <a:custGeom>
              <a:rect b="b" l="l" r="r" t="t"/>
              <a:pathLst>
                <a:path extrusionOk="0" h="160020" w="594359">
                  <a:moveTo>
                    <a:pt x="0" y="80009"/>
                  </a:moveTo>
                  <a:lnTo>
                    <a:pt x="30213" y="44825"/>
                  </a:lnTo>
                  <a:lnTo>
                    <a:pt x="65300" y="29969"/>
                  </a:lnTo>
                  <a:lnTo>
                    <a:pt x="111327" y="17578"/>
                  </a:lnTo>
                  <a:lnTo>
                    <a:pt x="166506" y="8133"/>
                  </a:lnTo>
                  <a:lnTo>
                    <a:pt x="229053" y="2113"/>
                  </a:lnTo>
                  <a:lnTo>
                    <a:pt x="297179" y="0"/>
                  </a:lnTo>
                  <a:lnTo>
                    <a:pt x="365306" y="2113"/>
                  </a:lnTo>
                  <a:lnTo>
                    <a:pt x="427853" y="8133"/>
                  </a:lnTo>
                  <a:lnTo>
                    <a:pt x="483032" y="17578"/>
                  </a:lnTo>
                  <a:lnTo>
                    <a:pt x="529059" y="29969"/>
                  </a:lnTo>
                  <a:lnTo>
                    <a:pt x="564146" y="44825"/>
                  </a:lnTo>
                  <a:lnTo>
                    <a:pt x="594360" y="80009"/>
                  </a:lnTo>
                  <a:lnTo>
                    <a:pt x="586508" y="98353"/>
                  </a:lnTo>
                  <a:lnTo>
                    <a:pt x="529059" y="130050"/>
                  </a:lnTo>
                  <a:lnTo>
                    <a:pt x="483032" y="142441"/>
                  </a:lnTo>
                  <a:lnTo>
                    <a:pt x="427853" y="151886"/>
                  </a:lnTo>
                  <a:lnTo>
                    <a:pt x="365306" y="157906"/>
                  </a:lnTo>
                  <a:lnTo>
                    <a:pt x="297179" y="160019"/>
                  </a:lnTo>
                  <a:lnTo>
                    <a:pt x="229053" y="157906"/>
                  </a:lnTo>
                  <a:lnTo>
                    <a:pt x="166506" y="151886"/>
                  </a:lnTo>
                  <a:lnTo>
                    <a:pt x="111327" y="142441"/>
                  </a:lnTo>
                  <a:lnTo>
                    <a:pt x="65300" y="130050"/>
                  </a:lnTo>
                  <a:lnTo>
                    <a:pt x="30213" y="115194"/>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7"/>
            <p:cNvSpPr/>
            <p:nvPr/>
          </p:nvSpPr>
          <p:spPr>
            <a:xfrm>
              <a:off x="6558534" y="5721858"/>
              <a:ext cx="599694" cy="208025"/>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7"/>
            <p:cNvSpPr/>
            <p:nvPr/>
          </p:nvSpPr>
          <p:spPr>
            <a:xfrm>
              <a:off x="6558534" y="5721858"/>
              <a:ext cx="596265" cy="187960"/>
            </a:xfrm>
            <a:custGeom>
              <a:rect b="b" l="l" r="r" t="t"/>
              <a:pathLst>
                <a:path extrusionOk="0" h="187960" w="596265">
                  <a:moveTo>
                    <a:pt x="0" y="93725"/>
                  </a:moveTo>
                  <a:lnTo>
                    <a:pt x="30275" y="52506"/>
                  </a:lnTo>
                  <a:lnTo>
                    <a:pt x="65440" y="35104"/>
                  </a:lnTo>
                  <a:lnTo>
                    <a:pt x="111576" y="20589"/>
                  </a:lnTo>
                  <a:lnTo>
                    <a:pt x="166895" y="9526"/>
                  </a:lnTo>
                  <a:lnTo>
                    <a:pt x="229613" y="2475"/>
                  </a:lnTo>
                  <a:lnTo>
                    <a:pt x="297942" y="0"/>
                  </a:lnTo>
                  <a:lnTo>
                    <a:pt x="366270" y="2475"/>
                  </a:lnTo>
                  <a:lnTo>
                    <a:pt x="428988" y="9526"/>
                  </a:lnTo>
                  <a:lnTo>
                    <a:pt x="484307" y="20589"/>
                  </a:lnTo>
                  <a:lnTo>
                    <a:pt x="530443" y="35104"/>
                  </a:lnTo>
                  <a:lnTo>
                    <a:pt x="565608" y="52506"/>
                  </a:lnTo>
                  <a:lnTo>
                    <a:pt x="595884" y="93725"/>
                  </a:lnTo>
                  <a:lnTo>
                    <a:pt x="588017" y="115217"/>
                  </a:lnTo>
                  <a:lnTo>
                    <a:pt x="530443" y="152347"/>
                  </a:lnTo>
                  <a:lnTo>
                    <a:pt x="484307" y="166862"/>
                  </a:lnTo>
                  <a:lnTo>
                    <a:pt x="428988" y="177925"/>
                  </a:lnTo>
                  <a:lnTo>
                    <a:pt x="366270" y="184976"/>
                  </a:lnTo>
                  <a:lnTo>
                    <a:pt x="297942" y="187451"/>
                  </a:lnTo>
                  <a:lnTo>
                    <a:pt x="229613" y="184976"/>
                  </a:lnTo>
                  <a:lnTo>
                    <a:pt x="166895" y="177925"/>
                  </a:lnTo>
                  <a:lnTo>
                    <a:pt x="111576" y="166862"/>
                  </a:lnTo>
                  <a:lnTo>
                    <a:pt x="65440" y="152347"/>
                  </a:lnTo>
                  <a:lnTo>
                    <a:pt x="30275" y="134945"/>
                  </a:lnTo>
                  <a:lnTo>
                    <a:pt x="0" y="93725"/>
                  </a:lnTo>
                  <a:close/>
                </a:path>
                <a:path extrusionOk="0" h="187960" w="596265">
                  <a:moveTo>
                    <a:pt x="120396" y="135635"/>
                  </a:moveTo>
                  <a:lnTo>
                    <a:pt x="224663" y="135635"/>
                  </a:lnTo>
                  <a:lnTo>
                    <a:pt x="329057" y="48767"/>
                  </a:lnTo>
                  <a:lnTo>
                    <a:pt x="457200"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7"/>
            <p:cNvSpPr/>
            <p:nvPr/>
          </p:nvSpPr>
          <p:spPr>
            <a:xfrm>
              <a:off x="6693408" y="5769864"/>
              <a:ext cx="306705" cy="86995"/>
            </a:xfrm>
            <a:custGeom>
              <a:rect b="b" l="l" r="r" t="t"/>
              <a:pathLst>
                <a:path extrusionOk="0" h="86995" w="306704">
                  <a:moveTo>
                    <a:pt x="0" y="0"/>
                  </a:moveTo>
                  <a:lnTo>
                    <a:pt x="104267" y="0"/>
                  </a:lnTo>
                  <a:lnTo>
                    <a:pt x="208534"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27"/>
            <p:cNvSpPr/>
            <p:nvPr/>
          </p:nvSpPr>
          <p:spPr>
            <a:xfrm>
              <a:off x="6561582" y="5808726"/>
              <a:ext cx="593090" cy="131445"/>
            </a:xfrm>
            <a:custGeom>
              <a:rect b="b" l="l" r="r" t="t"/>
              <a:pathLst>
                <a:path extrusionOk="0" h="131445" w="593090">
                  <a:moveTo>
                    <a:pt x="0" y="0"/>
                  </a:moveTo>
                  <a:lnTo>
                    <a:pt x="0" y="128015"/>
                  </a:lnTo>
                </a:path>
                <a:path extrusionOk="0" h="131445" w="593090">
                  <a:moveTo>
                    <a:pt x="592836" y="7620"/>
                  </a:moveTo>
                  <a:lnTo>
                    <a:pt x="592836"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7"/>
            <p:cNvSpPr/>
            <p:nvPr/>
          </p:nvSpPr>
          <p:spPr>
            <a:xfrm>
              <a:off x="5342382" y="5802630"/>
              <a:ext cx="594359" cy="158495"/>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7"/>
            <p:cNvSpPr/>
            <p:nvPr/>
          </p:nvSpPr>
          <p:spPr>
            <a:xfrm>
              <a:off x="5342382" y="5802630"/>
              <a:ext cx="594360" cy="158750"/>
            </a:xfrm>
            <a:custGeom>
              <a:rect b="b" l="l" r="r" t="t"/>
              <a:pathLst>
                <a:path extrusionOk="0" h="158750" w="594360">
                  <a:moveTo>
                    <a:pt x="0" y="79248"/>
                  </a:moveTo>
                  <a:lnTo>
                    <a:pt x="30213" y="44398"/>
                  </a:lnTo>
                  <a:lnTo>
                    <a:pt x="111327" y="17410"/>
                  </a:lnTo>
                  <a:lnTo>
                    <a:pt x="166506" y="8055"/>
                  </a:lnTo>
                  <a:lnTo>
                    <a:pt x="229053" y="2093"/>
                  </a:lnTo>
                  <a:lnTo>
                    <a:pt x="297179" y="0"/>
                  </a:lnTo>
                  <a:lnTo>
                    <a:pt x="365306" y="2093"/>
                  </a:lnTo>
                  <a:lnTo>
                    <a:pt x="427853" y="8055"/>
                  </a:lnTo>
                  <a:lnTo>
                    <a:pt x="483032" y="17410"/>
                  </a:lnTo>
                  <a:lnTo>
                    <a:pt x="529059" y="29683"/>
                  </a:lnTo>
                  <a:lnTo>
                    <a:pt x="586508" y="61078"/>
                  </a:lnTo>
                  <a:lnTo>
                    <a:pt x="594359" y="79248"/>
                  </a:lnTo>
                  <a:lnTo>
                    <a:pt x="586508" y="97417"/>
                  </a:lnTo>
                  <a:lnTo>
                    <a:pt x="529059" y="128812"/>
                  </a:lnTo>
                  <a:lnTo>
                    <a:pt x="483032" y="141085"/>
                  </a:lnTo>
                  <a:lnTo>
                    <a:pt x="427853" y="150440"/>
                  </a:lnTo>
                  <a:lnTo>
                    <a:pt x="365306" y="156402"/>
                  </a:lnTo>
                  <a:lnTo>
                    <a:pt x="297179" y="158496"/>
                  </a:lnTo>
                  <a:lnTo>
                    <a:pt x="229053" y="156402"/>
                  </a:lnTo>
                  <a:lnTo>
                    <a:pt x="166506" y="150440"/>
                  </a:lnTo>
                  <a:lnTo>
                    <a:pt x="111327" y="141085"/>
                  </a:lnTo>
                  <a:lnTo>
                    <a:pt x="65300" y="128812"/>
                  </a:lnTo>
                  <a:lnTo>
                    <a:pt x="7851" y="97417"/>
                  </a:lnTo>
                  <a:lnTo>
                    <a:pt x="0" y="79248"/>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7"/>
            <p:cNvSpPr/>
            <p:nvPr/>
          </p:nvSpPr>
          <p:spPr>
            <a:xfrm>
              <a:off x="5339334" y="5674614"/>
              <a:ext cx="599694" cy="208026"/>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7"/>
            <p:cNvSpPr/>
            <p:nvPr/>
          </p:nvSpPr>
          <p:spPr>
            <a:xfrm>
              <a:off x="5339334" y="5674614"/>
              <a:ext cx="596265" cy="187960"/>
            </a:xfrm>
            <a:custGeom>
              <a:rect b="b" l="l" r="r" t="t"/>
              <a:pathLst>
                <a:path extrusionOk="0" h="187960" w="596264">
                  <a:moveTo>
                    <a:pt x="0" y="93726"/>
                  </a:moveTo>
                  <a:lnTo>
                    <a:pt x="30275" y="52506"/>
                  </a:lnTo>
                  <a:lnTo>
                    <a:pt x="65440" y="35104"/>
                  </a:lnTo>
                  <a:lnTo>
                    <a:pt x="111576" y="20589"/>
                  </a:lnTo>
                  <a:lnTo>
                    <a:pt x="166895" y="9526"/>
                  </a:lnTo>
                  <a:lnTo>
                    <a:pt x="229613" y="2475"/>
                  </a:lnTo>
                  <a:lnTo>
                    <a:pt x="297941" y="0"/>
                  </a:lnTo>
                  <a:lnTo>
                    <a:pt x="366270" y="2475"/>
                  </a:lnTo>
                  <a:lnTo>
                    <a:pt x="428988" y="9526"/>
                  </a:lnTo>
                  <a:lnTo>
                    <a:pt x="484307" y="20589"/>
                  </a:lnTo>
                  <a:lnTo>
                    <a:pt x="530443" y="35104"/>
                  </a:lnTo>
                  <a:lnTo>
                    <a:pt x="565608" y="52506"/>
                  </a:lnTo>
                  <a:lnTo>
                    <a:pt x="595883" y="93726"/>
                  </a:lnTo>
                  <a:lnTo>
                    <a:pt x="588017" y="115217"/>
                  </a:lnTo>
                  <a:lnTo>
                    <a:pt x="530443" y="152347"/>
                  </a:lnTo>
                  <a:lnTo>
                    <a:pt x="484307" y="166862"/>
                  </a:lnTo>
                  <a:lnTo>
                    <a:pt x="428988" y="177925"/>
                  </a:lnTo>
                  <a:lnTo>
                    <a:pt x="366270" y="184976"/>
                  </a:lnTo>
                  <a:lnTo>
                    <a:pt x="297941" y="187452"/>
                  </a:lnTo>
                  <a:lnTo>
                    <a:pt x="229613" y="184976"/>
                  </a:lnTo>
                  <a:lnTo>
                    <a:pt x="166895" y="177925"/>
                  </a:lnTo>
                  <a:lnTo>
                    <a:pt x="111576" y="166862"/>
                  </a:lnTo>
                  <a:lnTo>
                    <a:pt x="65440" y="152347"/>
                  </a:lnTo>
                  <a:lnTo>
                    <a:pt x="30275" y="134945"/>
                  </a:lnTo>
                  <a:lnTo>
                    <a:pt x="0" y="93726"/>
                  </a:lnTo>
                  <a:close/>
                </a:path>
                <a:path extrusionOk="0" h="187960" w="596264">
                  <a:moveTo>
                    <a:pt x="120395" y="135636"/>
                  </a:moveTo>
                  <a:lnTo>
                    <a:pt x="224662" y="135636"/>
                  </a:lnTo>
                  <a:lnTo>
                    <a:pt x="329056" y="48768"/>
                  </a:lnTo>
                  <a:lnTo>
                    <a:pt x="457200"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7"/>
            <p:cNvSpPr/>
            <p:nvPr/>
          </p:nvSpPr>
          <p:spPr>
            <a:xfrm>
              <a:off x="5474208" y="5722620"/>
              <a:ext cx="306705" cy="86995"/>
            </a:xfrm>
            <a:custGeom>
              <a:rect b="b" l="l" r="r" t="t"/>
              <a:pathLst>
                <a:path extrusionOk="0" h="86995"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7"/>
            <p:cNvSpPr/>
            <p:nvPr/>
          </p:nvSpPr>
          <p:spPr>
            <a:xfrm>
              <a:off x="5342382" y="5761482"/>
              <a:ext cx="593090" cy="131445"/>
            </a:xfrm>
            <a:custGeom>
              <a:rect b="b" l="l" r="r" t="t"/>
              <a:pathLst>
                <a:path extrusionOk="0" h="131445" w="593089">
                  <a:moveTo>
                    <a:pt x="0" y="0"/>
                  </a:moveTo>
                  <a:lnTo>
                    <a:pt x="0" y="128016"/>
                  </a:lnTo>
                </a:path>
                <a:path extrusionOk="0" h="131445" w="593089">
                  <a:moveTo>
                    <a:pt x="592835" y="6096"/>
                  </a:moveTo>
                  <a:lnTo>
                    <a:pt x="592835"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27"/>
            <p:cNvSpPr/>
            <p:nvPr/>
          </p:nvSpPr>
          <p:spPr>
            <a:xfrm>
              <a:off x="3906011" y="4870704"/>
              <a:ext cx="365760" cy="271272"/>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7"/>
            <p:cNvSpPr/>
            <p:nvPr/>
          </p:nvSpPr>
          <p:spPr>
            <a:xfrm>
              <a:off x="4695444" y="4875276"/>
              <a:ext cx="367284" cy="271272"/>
            </a:xfrm>
            <a:prstGeom prst="rect">
              <a:avLst/>
            </a:prstGeom>
            <a:blipFill rotWithShape="1">
              <a:blip r:embed="rId2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7"/>
            <p:cNvSpPr/>
            <p:nvPr/>
          </p:nvSpPr>
          <p:spPr>
            <a:xfrm>
              <a:off x="6568440" y="4765548"/>
              <a:ext cx="365760" cy="271272"/>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7"/>
            <p:cNvSpPr/>
            <p:nvPr/>
          </p:nvSpPr>
          <p:spPr>
            <a:xfrm>
              <a:off x="6044184" y="5704332"/>
              <a:ext cx="365760" cy="271272"/>
            </a:xfrm>
            <a:prstGeom prst="rect">
              <a:avLst/>
            </a:prstGeom>
            <a:blipFill rotWithShape="1">
              <a:blip r:embed="rId2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7"/>
            <p:cNvSpPr/>
            <p:nvPr/>
          </p:nvSpPr>
          <p:spPr>
            <a:xfrm>
              <a:off x="5625084" y="5227320"/>
              <a:ext cx="365760" cy="271272"/>
            </a:xfrm>
            <a:prstGeom prst="rect">
              <a:avLst/>
            </a:prstGeom>
            <a:blipFill rotWithShape="1">
              <a:blip r:embed="rId2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7"/>
            <p:cNvSpPr/>
            <p:nvPr/>
          </p:nvSpPr>
          <p:spPr>
            <a:xfrm>
              <a:off x="7978140" y="4951476"/>
              <a:ext cx="365760" cy="271272"/>
            </a:xfrm>
            <a:prstGeom prst="rect">
              <a:avLst/>
            </a:prstGeom>
            <a:blipFill rotWithShape="1">
              <a:blip r:embed="rId2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2" name="Google Shape;442;p27"/>
          <p:cNvSpPr txBox="1"/>
          <p:nvPr/>
        </p:nvSpPr>
        <p:spPr>
          <a:xfrm>
            <a:off x="6901942" y="4402912"/>
            <a:ext cx="1949450"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CC0000"/>
                </a:solidFill>
                <a:latin typeface="Arial"/>
                <a:ea typeface="Arial"/>
                <a:cs typeface="Arial"/>
                <a:sym typeface="Arial"/>
              </a:rPr>
              <a:t>2. receive datagrams</a:t>
            </a:r>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txBox="1"/>
          <p:nvPr>
            <p:ph type="title"/>
          </p:nvPr>
        </p:nvSpPr>
        <p:spPr>
          <a:xfrm>
            <a:off x="2406776" y="189941"/>
            <a:ext cx="9251824" cy="627736"/>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0" lang="en-US" sz="4000">
                <a:latin typeface="Arial"/>
                <a:ea typeface="Arial"/>
                <a:cs typeface="Arial"/>
                <a:sym typeface="Arial"/>
              </a:rPr>
              <a:t>Datagram forwarding</a:t>
            </a:r>
            <a:r>
              <a:rPr i="0" lang="en-US" sz="4000"/>
              <a:t> </a:t>
            </a:r>
            <a:r>
              <a:rPr i="0" lang="en-US" sz="4000">
                <a:latin typeface="Arial"/>
                <a:ea typeface="Arial"/>
                <a:cs typeface="Arial"/>
                <a:sym typeface="Arial"/>
              </a:rPr>
              <a:t>table</a:t>
            </a:r>
            <a:endParaRPr i="0" sz="4000">
              <a:latin typeface="Arial"/>
              <a:ea typeface="Arial"/>
              <a:cs typeface="Arial"/>
              <a:sym typeface="Arial"/>
            </a:endParaRPr>
          </a:p>
        </p:txBody>
      </p:sp>
      <p:sp>
        <p:nvSpPr>
          <p:cNvPr id="448" name="Google Shape;448;p28"/>
          <p:cNvSpPr txBox="1"/>
          <p:nvPr/>
        </p:nvSpPr>
        <p:spPr>
          <a:xfrm>
            <a:off x="5632450"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449" name="Google Shape;449;p28"/>
          <p:cNvSpPr txBox="1"/>
          <p:nvPr/>
        </p:nvSpPr>
        <p:spPr>
          <a:xfrm>
            <a:off x="11198097"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4-14</a:t>
            </a:r>
            <a:endParaRPr sz="1200">
              <a:solidFill>
                <a:schemeClr val="dk1"/>
              </a:solidFill>
              <a:latin typeface="Arial"/>
              <a:ea typeface="Arial"/>
              <a:cs typeface="Arial"/>
              <a:sym typeface="Arial"/>
            </a:endParaRPr>
          </a:p>
        </p:txBody>
      </p:sp>
      <p:grpSp>
        <p:nvGrpSpPr>
          <p:cNvPr id="450" name="Google Shape;450;p28"/>
          <p:cNvGrpSpPr/>
          <p:nvPr/>
        </p:nvGrpSpPr>
        <p:grpSpPr>
          <a:xfrm>
            <a:off x="3701033" y="1195577"/>
            <a:ext cx="4435395" cy="4554827"/>
            <a:chOff x="3701033" y="1195577"/>
            <a:chExt cx="4435395" cy="4554827"/>
          </a:xfrm>
        </p:grpSpPr>
        <p:sp>
          <p:nvSpPr>
            <p:cNvPr id="451" name="Google Shape;451;p28"/>
            <p:cNvSpPr/>
            <p:nvPr/>
          </p:nvSpPr>
          <p:spPr>
            <a:xfrm>
              <a:off x="5383068" y="4311494"/>
              <a:ext cx="2753360" cy="1438910"/>
            </a:xfrm>
            <a:custGeom>
              <a:rect b="b" l="l" r="r" t="t"/>
              <a:pathLst>
                <a:path extrusionOk="0" h="1438910" w="2753359">
                  <a:moveTo>
                    <a:pt x="1628452" y="0"/>
                  </a:moveTo>
                  <a:lnTo>
                    <a:pt x="1576535" y="2124"/>
                  </a:lnTo>
                  <a:lnTo>
                    <a:pt x="1524557" y="6388"/>
                  </a:lnTo>
                  <a:lnTo>
                    <a:pt x="1472598" y="12498"/>
                  </a:lnTo>
                  <a:lnTo>
                    <a:pt x="1420736" y="20156"/>
                  </a:lnTo>
                  <a:lnTo>
                    <a:pt x="1369052" y="29068"/>
                  </a:lnTo>
                  <a:lnTo>
                    <a:pt x="1317625" y="38938"/>
                  </a:lnTo>
                  <a:lnTo>
                    <a:pt x="1266536" y="49470"/>
                  </a:lnTo>
                  <a:lnTo>
                    <a:pt x="1116093" y="82080"/>
                  </a:lnTo>
                  <a:lnTo>
                    <a:pt x="1067152" y="92303"/>
                  </a:lnTo>
                  <a:lnTo>
                    <a:pt x="1018948" y="101710"/>
                  </a:lnTo>
                  <a:lnTo>
                    <a:pt x="971561" y="110005"/>
                  </a:lnTo>
                  <a:lnTo>
                    <a:pt x="925070" y="116892"/>
                  </a:lnTo>
                  <a:lnTo>
                    <a:pt x="879555" y="122075"/>
                  </a:lnTo>
                  <a:lnTo>
                    <a:pt x="825231" y="125743"/>
                  </a:lnTo>
                  <a:lnTo>
                    <a:pt x="770429" y="126942"/>
                  </a:lnTo>
                  <a:lnTo>
                    <a:pt x="715477" y="126209"/>
                  </a:lnTo>
                  <a:lnTo>
                    <a:pt x="660701" y="124081"/>
                  </a:lnTo>
                  <a:lnTo>
                    <a:pt x="606429" y="121092"/>
                  </a:lnTo>
                  <a:lnTo>
                    <a:pt x="500710" y="114679"/>
                  </a:lnTo>
                  <a:lnTo>
                    <a:pt x="449917" y="112327"/>
                  </a:lnTo>
                  <a:lnTo>
                    <a:pt x="400939" y="111258"/>
                  </a:lnTo>
                  <a:lnTo>
                    <a:pt x="354104" y="112009"/>
                  </a:lnTo>
                  <a:lnTo>
                    <a:pt x="309738" y="115117"/>
                  </a:lnTo>
                  <a:lnTo>
                    <a:pt x="268171" y="121116"/>
                  </a:lnTo>
                  <a:lnTo>
                    <a:pt x="229728" y="130544"/>
                  </a:lnTo>
                  <a:lnTo>
                    <a:pt x="163529" y="161826"/>
                  </a:lnTo>
                  <a:lnTo>
                    <a:pt x="131927" y="188306"/>
                  </a:lnTo>
                  <a:lnTo>
                    <a:pt x="104376" y="220361"/>
                  </a:lnTo>
                  <a:lnTo>
                    <a:pt x="80639" y="257254"/>
                  </a:lnTo>
                  <a:lnTo>
                    <a:pt x="60483" y="298249"/>
                  </a:lnTo>
                  <a:lnTo>
                    <a:pt x="43675" y="342608"/>
                  </a:lnTo>
                  <a:lnTo>
                    <a:pt x="29979" y="389594"/>
                  </a:lnTo>
                  <a:lnTo>
                    <a:pt x="19162" y="438470"/>
                  </a:lnTo>
                  <a:lnTo>
                    <a:pt x="10990" y="488500"/>
                  </a:lnTo>
                  <a:lnTo>
                    <a:pt x="5228" y="538946"/>
                  </a:lnTo>
                  <a:lnTo>
                    <a:pt x="1643" y="589071"/>
                  </a:lnTo>
                  <a:lnTo>
                    <a:pt x="0" y="638138"/>
                  </a:lnTo>
                  <a:lnTo>
                    <a:pt x="65" y="685411"/>
                  </a:lnTo>
                  <a:lnTo>
                    <a:pt x="1604" y="730151"/>
                  </a:lnTo>
                  <a:lnTo>
                    <a:pt x="3156" y="785937"/>
                  </a:lnTo>
                  <a:lnTo>
                    <a:pt x="9120" y="841117"/>
                  </a:lnTo>
                  <a:lnTo>
                    <a:pt x="19076" y="895347"/>
                  </a:lnTo>
                  <a:lnTo>
                    <a:pt x="32606" y="948287"/>
                  </a:lnTo>
                  <a:lnTo>
                    <a:pt x="49289" y="999594"/>
                  </a:lnTo>
                  <a:lnTo>
                    <a:pt x="68707" y="1048926"/>
                  </a:lnTo>
                  <a:lnTo>
                    <a:pt x="90440" y="1095941"/>
                  </a:lnTo>
                  <a:lnTo>
                    <a:pt x="114069" y="1140297"/>
                  </a:lnTo>
                  <a:lnTo>
                    <a:pt x="139174" y="1181652"/>
                  </a:lnTo>
                  <a:lnTo>
                    <a:pt x="165337" y="1219664"/>
                  </a:lnTo>
                  <a:lnTo>
                    <a:pt x="192136" y="1253991"/>
                  </a:lnTo>
                  <a:lnTo>
                    <a:pt x="219155" y="1284290"/>
                  </a:lnTo>
                  <a:lnTo>
                    <a:pt x="256275" y="1317444"/>
                  </a:lnTo>
                  <a:lnTo>
                    <a:pt x="295757" y="1342654"/>
                  </a:lnTo>
                  <a:lnTo>
                    <a:pt x="337735" y="1361264"/>
                  </a:lnTo>
                  <a:lnTo>
                    <a:pt x="382340" y="1374622"/>
                  </a:lnTo>
                  <a:lnTo>
                    <a:pt x="429706" y="1384073"/>
                  </a:lnTo>
                  <a:lnTo>
                    <a:pt x="479966" y="1390963"/>
                  </a:lnTo>
                  <a:lnTo>
                    <a:pt x="589695" y="1402445"/>
                  </a:lnTo>
                  <a:lnTo>
                    <a:pt x="692843" y="1415204"/>
                  </a:lnTo>
                  <a:lnTo>
                    <a:pt x="738025" y="1419943"/>
                  </a:lnTo>
                  <a:lnTo>
                    <a:pt x="784887" y="1423996"/>
                  </a:lnTo>
                  <a:lnTo>
                    <a:pt x="833336" y="1427417"/>
                  </a:lnTo>
                  <a:lnTo>
                    <a:pt x="883281" y="1430257"/>
                  </a:lnTo>
                  <a:lnTo>
                    <a:pt x="934630" y="1432567"/>
                  </a:lnTo>
                  <a:lnTo>
                    <a:pt x="987292" y="1434401"/>
                  </a:lnTo>
                  <a:lnTo>
                    <a:pt x="1041176" y="1435810"/>
                  </a:lnTo>
                  <a:lnTo>
                    <a:pt x="1096189" y="1436847"/>
                  </a:lnTo>
                  <a:lnTo>
                    <a:pt x="1152240" y="1437562"/>
                  </a:lnTo>
                  <a:lnTo>
                    <a:pt x="1209237" y="1438008"/>
                  </a:lnTo>
                  <a:lnTo>
                    <a:pt x="1325706" y="1438303"/>
                  </a:lnTo>
                  <a:lnTo>
                    <a:pt x="1525893" y="1437729"/>
                  </a:lnTo>
                  <a:lnTo>
                    <a:pt x="1635686" y="1436663"/>
                  </a:lnTo>
                  <a:lnTo>
                    <a:pt x="1747417" y="1434767"/>
                  </a:lnTo>
                  <a:lnTo>
                    <a:pt x="1802947" y="1433435"/>
                  </a:lnTo>
                  <a:lnTo>
                    <a:pt x="1857687" y="1431809"/>
                  </a:lnTo>
                  <a:lnTo>
                    <a:pt x="1911212" y="1429858"/>
                  </a:lnTo>
                  <a:lnTo>
                    <a:pt x="1963099" y="1427555"/>
                  </a:lnTo>
                  <a:lnTo>
                    <a:pt x="2012922" y="1424870"/>
                  </a:lnTo>
                  <a:lnTo>
                    <a:pt x="2060256" y="1421774"/>
                  </a:lnTo>
                  <a:lnTo>
                    <a:pt x="2104678" y="1418237"/>
                  </a:lnTo>
                  <a:lnTo>
                    <a:pt x="2145761" y="1414232"/>
                  </a:lnTo>
                  <a:lnTo>
                    <a:pt x="2183083" y="1409728"/>
                  </a:lnTo>
                  <a:lnTo>
                    <a:pt x="2244634" y="1403584"/>
                  </a:lnTo>
                  <a:lnTo>
                    <a:pt x="2296849" y="1401400"/>
                  </a:lnTo>
                  <a:lnTo>
                    <a:pt x="2341216" y="1400550"/>
                  </a:lnTo>
                  <a:lnTo>
                    <a:pt x="2379228" y="1398408"/>
                  </a:lnTo>
                  <a:lnTo>
                    <a:pt x="2442144" y="1379739"/>
                  </a:lnTo>
                  <a:lnTo>
                    <a:pt x="2497521" y="1324382"/>
                  </a:lnTo>
                  <a:lnTo>
                    <a:pt x="2526110" y="1276378"/>
                  </a:lnTo>
                  <a:lnTo>
                    <a:pt x="2558155" y="1213030"/>
                  </a:lnTo>
                  <a:lnTo>
                    <a:pt x="2576519" y="1174505"/>
                  </a:lnTo>
                  <a:lnTo>
                    <a:pt x="2595877" y="1132130"/>
                  </a:lnTo>
                  <a:lnTo>
                    <a:pt x="2615805" y="1086443"/>
                  </a:lnTo>
                  <a:lnTo>
                    <a:pt x="2635877" y="1037979"/>
                  </a:lnTo>
                  <a:lnTo>
                    <a:pt x="2655669" y="987278"/>
                  </a:lnTo>
                  <a:lnTo>
                    <a:pt x="2674755" y="934877"/>
                  </a:lnTo>
                  <a:lnTo>
                    <a:pt x="2692710" y="881312"/>
                  </a:lnTo>
                  <a:lnTo>
                    <a:pt x="2709111" y="827123"/>
                  </a:lnTo>
                  <a:lnTo>
                    <a:pt x="2723531" y="772845"/>
                  </a:lnTo>
                  <a:lnTo>
                    <a:pt x="2735546" y="719016"/>
                  </a:lnTo>
                  <a:lnTo>
                    <a:pt x="2744731" y="666175"/>
                  </a:lnTo>
                  <a:lnTo>
                    <a:pt x="2750660" y="614858"/>
                  </a:lnTo>
                  <a:lnTo>
                    <a:pt x="2752910" y="565603"/>
                  </a:lnTo>
                  <a:lnTo>
                    <a:pt x="2751055" y="518947"/>
                  </a:lnTo>
                  <a:lnTo>
                    <a:pt x="2744669" y="475428"/>
                  </a:lnTo>
                  <a:lnTo>
                    <a:pt x="2733329" y="435584"/>
                  </a:lnTo>
                  <a:lnTo>
                    <a:pt x="2716610" y="399951"/>
                  </a:lnTo>
                  <a:lnTo>
                    <a:pt x="2671403" y="341735"/>
                  </a:lnTo>
                  <a:lnTo>
                    <a:pt x="2641989" y="314231"/>
                  </a:lnTo>
                  <a:lnTo>
                    <a:pt x="2608532" y="287804"/>
                  </a:lnTo>
                  <a:lnTo>
                    <a:pt x="2571405" y="262462"/>
                  </a:lnTo>
                  <a:lnTo>
                    <a:pt x="2530983" y="238210"/>
                  </a:lnTo>
                  <a:lnTo>
                    <a:pt x="2487638" y="215053"/>
                  </a:lnTo>
                  <a:lnTo>
                    <a:pt x="2441744" y="193000"/>
                  </a:lnTo>
                  <a:lnTo>
                    <a:pt x="2393674" y="172054"/>
                  </a:lnTo>
                  <a:lnTo>
                    <a:pt x="2343801" y="152224"/>
                  </a:lnTo>
                  <a:lnTo>
                    <a:pt x="2292500" y="133514"/>
                  </a:lnTo>
                  <a:lnTo>
                    <a:pt x="2240143" y="115932"/>
                  </a:lnTo>
                  <a:lnTo>
                    <a:pt x="2187103" y="99483"/>
                  </a:lnTo>
                  <a:lnTo>
                    <a:pt x="2133755" y="84173"/>
                  </a:lnTo>
                  <a:lnTo>
                    <a:pt x="2080471" y="70009"/>
                  </a:lnTo>
                  <a:lnTo>
                    <a:pt x="2027625" y="56996"/>
                  </a:lnTo>
                  <a:lnTo>
                    <a:pt x="1975591" y="45142"/>
                  </a:lnTo>
                  <a:lnTo>
                    <a:pt x="1924741" y="34451"/>
                  </a:lnTo>
                  <a:lnTo>
                    <a:pt x="1875449" y="24931"/>
                  </a:lnTo>
                  <a:lnTo>
                    <a:pt x="1828088" y="16587"/>
                  </a:lnTo>
                  <a:lnTo>
                    <a:pt x="1783033" y="9426"/>
                  </a:lnTo>
                  <a:lnTo>
                    <a:pt x="1731780" y="3355"/>
                  </a:lnTo>
                  <a:lnTo>
                    <a:pt x="1680227" y="311"/>
                  </a:lnTo>
                  <a:lnTo>
                    <a:pt x="1628452" y="0"/>
                  </a:lnTo>
                  <a:close/>
                </a:path>
              </a:pathLst>
            </a:custGeom>
            <a:solidFill>
              <a:srgbClr val="66CC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8"/>
            <p:cNvSpPr/>
            <p:nvPr/>
          </p:nvSpPr>
          <p:spPr>
            <a:xfrm>
              <a:off x="7500365" y="4812029"/>
              <a:ext cx="594359" cy="15849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8"/>
            <p:cNvSpPr/>
            <p:nvPr/>
          </p:nvSpPr>
          <p:spPr>
            <a:xfrm>
              <a:off x="7500365" y="4812029"/>
              <a:ext cx="594360" cy="158750"/>
            </a:xfrm>
            <a:custGeom>
              <a:rect b="b" l="l" r="r" t="t"/>
              <a:pathLst>
                <a:path extrusionOk="0" h="158750" w="594359">
                  <a:moveTo>
                    <a:pt x="0" y="79248"/>
                  </a:moveTo>
                  <a:lnTo>
                    <a:pt x="30213" y="44375"/>
                  </a:lnTo>
                  <a:lnTo>
                    <a:pt x="111327" y="17394"/>
                  </a:lnTo>
                  <a:lnTo>
                    <a:pt x="166506" y="8046"/>
                  </a:lnTo>
                  <a:lnTo>
                    <a:pt x="229053" y="2090"/>
                  </a:lnTo>
                  <a:lnTo>
                    <a:pt x="297179" y="0"/>
                  </a:lnTo>
                  <a:lnTo>
                    <a:pt x="365306" y="2090"/>
                  </a:lnTo>
                  <a:lnTo>
                    <a:pt x="427853" y="8046"/>
                  </a:lnTo>
                  <a:lnTo>
                    <a:pt x="483032" y="17394"/>
                  </a:lnTo>
                  <a:lnTo>
                    <a:pt x="529059" y="29662"/>
                  </a:lnTo>
                  <a:lnTo>
                    <a:pt x="586508" y="61062"/>
                  </a:lnTo>
                  <a:lnTo>
                    <a:pt x="594359" y="79248"/>
                  </a:lnTo>
                  <a:lnTo>
                    <a:pt x="586508" y="97433"/>
                  </a:lnTo>
                  <a:lnTo>
                    <a:pt x="529059" y="128833"/>
                  </a:lnTo>
                  <a:lnTo>
                    <a:pt x="483032" y="141101"/>
                  </a:lnTo>
                  <a:lnTo>
                    <a:pt x="427853" y="150449"/>
                  </a:lnTo>
                  <a:lnTo>
                    <a:pt x="365306" y="156405"/>
                  </a:lnTo>
                  <a:lnTo>
                    <a:pt x="297179" y="158496"/>
                  </a:lnTo>
                  <a:lnTo>
                    <a:pt x="229053" y="156405"/>
                  </a:lnTo>
                  <a:lnTo>
                    <a:pt x="166506" y="150449"/>
                  </a:lnTo>
                  <a:lnTo>
                    <a:pt x="111327" y="141101"/>
                  </a:lnTo>
                  <a:lnTo>
                    <a:pt x="65300" y="128833"/>
                  </a:lnTo>
                  <a:lnTo>
                    <a:pt x="7851" y="97433"/>
                  </a:lnTo>
                  <a:lnTo>
                    <a:pt x="0" y="79248"/>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8"/>
            <p:cNvSpPr/>
            <p:nvPr/>
          </p:nvSpPr>
          <p:spPr>
            <a:xfrm>
              <a:off x="7497317" y="4684014"/>
              <a:ext cx="599693" cy="20802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8"/>
            <p:cNvSpPr/>
            <p:nvPr/>
          </p:nvSpPr>
          <p:spPr>
            <a:xfrm>
              <a:off x="7497317" y="4684014"/>
              <a:ext cx="596265" cy="187960"/>
            </a:xfrm>
            <a:custGeom>
              <a:rect b="b" l="l" r="r" t="t"/>
              <a:pathLst>
                <a:path extrusionOk="0" h="187960" w="596265">
                  <a:moveTo>
                    <a:pt x="0" y="93725"/>
                  </a:moveTo>
                  <a:lnTo>
                    <a:pt x="30275" y="52484"/>
                  </a:lnTo>
                  <a:lnTo>
                    <a:pt x="65440" y="35083"/>
                  </a:lnTo>
                  <a:lnTo>
                    <a:pt x="111576" y="20573"/>
                  </a:lnTo>
                  <a:lnTo>
                    <a:pt x="166895" y="9517"/>
                  </a:lnTo>
                  <a:lnTo>
                    <a:pt x="229613" y="2472"/>
                  </a:lnTo>
                  <a:lnTo>
                    <a:pt x="297941" y="0"/>
                  </a:lnTo>
                  <a:lnTo>
                    <a:pt x="366270" y="2472"/>
                  </a:lnTo>
                  <a:lnTo>
                    <a:pt x="428988" y="9517"/>
                  </a:lnTo>
                  <a:lnTo>
                    <a:pt x="484307" y="20574"/>
                  </a:lnTo>
                  <a:lnTo>
                    <a:pt x="530443" y="35083"/>
                  </a:lnTo>
                  <a:lnTo>
                    <a:pt x="565608" y="52484"/>
                  </a:lnTo>
                  <a:lnTo>
                    <a:pt x="595883" y="93725"/>
                  </a:lnTo>
                  <a:lnTo>
                    <a:pt x="588017" y="115233"/>
                  </a:lnTo>
                  <a:lnTo>
                    <a:pt x="530443" y="152368"/>
                  </a:lnTo>
                  <a:lnTo>
                    <a:pt x="484307" y="166878"/>
                  </a:lnTo>
                  <a:lnTo>
                    <a:pt x="428988" y="177934"/>
                  </a:lnTo>
                  <a:lnTo>
                    <a:pt x="366270" y="184979"/>
                  </a:lnTo>
                  <a:lnTo>
                    <a:pt x="297941" y="187452"/>
                  </a:lnTo>
                  <a:lnTo>
                    <a:pt x="229613" y="184979"/>
                  </a:lnTo>
                  <a:lnTo>
                    <a:pt x="166895" y="177934"/>
                  </a:lnTo>
                  <a:lnTo>
                    <a:pt x="111576" y="166878"/>
                  </a:lnTo>
                  <a:lnTo>
                    <a:pt x="65440" y="152368"/>
                  </a:lnTo>
                  <a:lnTo>
                    <a:pt x="30275" y="134967"/>
                  </a:lnTo>
                  <a:lnTo>
                    <a:pt x="0" y="93725"/>
                  </a:lnTo>
                  <a:close/>
                </a:path>
                <a:path extrusionOk="0" h="187960" w="596265">
                  <a:moveTo>
                    <a:pt x="118872" y="135636"/>
                  </a:moveTo>
                  <a:lnTo>
                    <a:pt x="223138" y="135636"/>
                  </a:lnTo>
                  <a:lnTo>
                    <a:pt x="327532"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28"/>
            <p:cNvSpPr/>
            <p:nvPr/>
          </p:nvSpPr>
          <p:spPr>
            <a:xfrm>
              <a:off x="7630667" y="4732020"/>
              <a:ext cx="306705" cy="86995"/>
            </a:xfrm>
            <a:custGeom>
              <a:rect b="b" l="l" r="r" t="t"/>
              <a:pathLst>
                <a:path extrusionOk="0" h="86995"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8"/>
            <p:cNvSpPr/>
            <p:nvPr/>
          </p:nvSpPr>
          <p:spPr>
            <a:xfrm>
              <a:off x="7500365" y="4770882"/>
              <a:ext cx="593090" cy="131445"/>
            </a:xfrm>
            <a:custGeom>
              <a:rect b="b" l="l" r="r" t="t"/>
              <a:pathLst>
                <a:path extrusionOk="0" h="131445" w="593090">
                  <a:moveTo>
                    <a:pt x="0" y="0"/>
                  </a:moveTo>
                  <a:lnTo>
                    <a:pt x="0" y="128016"/>
                  </a:lnTo>
                </a:path>
                <a:path extrusionOk="0" h="131445" w="593090">
                  <a:moveTo>
                    <a:pt x="592835" y="6096"/>
                  </a:moveTo>
                  <a:lnTo>
                    <a:pt x="592835"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28"/>
            <p:cNvSpPr/>
            <p:nvPr/>
          </p:nvSpPr>
          <p:spPr>
            <a:xfrm>
              <a:off x="6445757" y="5182361"/>
              <a:ext cx="594360" cy="16001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8"/>
            <p:cNvSpPr/>
            <p:nvPr/>
          </p:nvSpPr>
          <p:spPr>
            <a:xfrm>
              <a:off x="6445757" y="5182361"/>
              <a:ext cx="594360" cy="160020"/>
            </a:xfrm>
            <a:custGeom>
              <a:rect b="b" l="l" r="r" t="t"/>
              <a:pathLst>
                <a:path extrusionOk="0" h="160020" w="594359">
                  <a:moveTo>
                    <a:pt x="0" y="80009"/>
                  </a:moveTo>
                  <a:lnTo>
                    <a:pt x="30213" y="44820"/>
                  </a:lnTo>
                  <a:lnTo>
                    <a:pt x="65300" y="29964"/>
                  </a:lnTo>
                  <a:lnTo>
                    <a:pt x="111327" y="17574"/>
                  </a:lnTo>
                  <a:lnTo>
                    <a:pt x="166506" y="8130"/>
                  </a:lnTo>
                  <a:lnTo>
                    <a:pt x="229053" y="2112"/>
                  </a:lnTo>
                  <a:lnTo>
                    <a:pt x="297180" y="0"/>
                  </a:lnTo>
                  <a:lnTo>
                    <a:pt x="365306" y="2112"/>
                  </a:lnTo>
                  <a:lnTo>
                    <a:pt x="427853" y="8130"/>
                  </a:lnTo>
                  <a:lnTo>
                    <a:pt x="483032" y="17574"/>
                  </a:lnTo>
                  <a:lnTo>
                    <a:pt x="529059" y="29964"/>
                  </a:lnTo>
                  <a:lnTo>
                    <a:pt x="564146" y="44820"/>
                  </a:lnTo>
                  <a:lnTo>
                    <a:pt x="594360" y="80009"/>
                  </a:lnTo>
                  <a:lnTo>
                    <a:pt x="586508" y="98357"/>
                  </a:lnTo>
                  <a:lnTo>
                    <a:pt x="529059" y="130055"/>
                  </a:lnTo>
                  <a:lnTo>
                    <a:pt x="483032" y="142445"/>
                  </a:lnTo>
                  <a:lnTo>
                    <a:pt x="427853" y="151889"/>
                  </a:lnTo>
                  <a:lnTo>
                    <a:pt x="365306" y="157907"/>
                  </a:lnTo>
                  <a:lnTo>
                    <a:pt x="297180" y="160019"/>
                  </a:lnTo>
                  <a:lnTo>
                    <a:pt x="229053" y="157907"/>
                  </a:lnTo>
                  <a:lnTo>
                    <a:pt x="166506" y="151889"/>
                  </a:lnTo>
                  <a:lnTo>
                    <a:pt x="111327" y="142445"/>
                  </a:lnTo>
                  <a:lnTo>
                    <a:pt x="65300" y="130055"/>
                  </a:lnTo>
                  <a:lnTo>
                    <a:pt x="30213" y="115199"/>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8"/>
            <p:cNvSpPr/>
            <p:nvPr/>
          </p:nvSpPr>
          <p:spPr>
            <a:xfrm>
              <a:off x="6442709" y="5055870"/>
              <a:ext cx="599693" cy="20802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28"/>
            <p:cNvSpPr/>
            <p:nvPr/>
          </p:nvSpPr>
          <p:spPr>
            <a:xfrm>
              <a:off x="6442709" y="5055870"/>
              <a:ext cx="596265" cy="187960"/>
            </a:xfrm>
            <a:custGeom>
              <a:rect b="b" l="l" r="r" t="t"/>
              <a:pathLst>
                <a:path extrusionOk="0" h="187960" w="596265">
                  <a:moveTo>
                    <a:pt x="0" y="93725"/>
                  </a:moveTo>
                  <a:lnTo>
                    <a:pt x="30275" y="52484"/>
                  </a:lnTo>
                  <a:lnTo>
                    <a:pt x="65440" y="35083"/>
                  </a:lnTo>
                  <a:lnTo>
                    <a:pt x="111576" y="20573"/>
                  </a:lnTo>
                  <a:lnTo>
                    <a:pt x="166895" y="9517"/>
                  </a:lnTo>
                  <a:lnTo>
                    <a:pt x="229613" y="2472"/>
                  </a:lnTo>
                  <a:lnTo>
                    <a:pt x="297941" y="0"/>
                  </a:lnTo>
                  <a:lnTo>
                    <a:pt x="366270" y="2472"/>
                  </a:lnTo>
                  <a:lnTo>
                    <a:pt x="428988" y="9517"/>
                  </a:lnTo>
                  <a:lnTo>
                    <a:pt x="484307" y="20573"/>
                  </a:lnTo>
                  <a:lnTo>
                    <a:pt x="530443" y="35083"/>
                  </a:lnTo>
                  <a:lnTo>
                    <a:pt x="565608" y="52484"/>
                  </a:lnTo>
                  <a:lnTo>
                    <a:pt x="595884" y="93725"/>
                  </a:lnTo>
                  <a:lnTo>
                    <a:pt x="588017" y="115233"/>
                  </a:lnTo>
                  <a:lnTo>
                    <a:pt x="530443" y="152368"/>
                  </a:lnTo>
                  <a:lnTo>
                    <a:pt x="484307" y="166877"/>
                  </a:lnTo>
                  <a:lnTo>
                    <a:pt x="428988" y="177934"/>
                  </a:lnTo>
                  <a:lnTo>
                    <a:pt x="366270" y="184979"/>
                  </a:lnTo>
                  <a:lnTo>
                    <a:pt x="297941" y="187451"/>
                  </a:lnTo>
                  <a:lnTo>
                    <a:pt x="229613" y="184979"/>
                  </a:lnTo>
                  <a:lnTo>
                    <a:pt x="166895" y="177934"/>
                  </a:lnTo>
                  <a:lnTo>
                    <a:pt x="111576" y="166877"/>
                  </a:lnTo>
                  <a:lnTo>
                    <a:pt x="65440" y="152368"/>
                  </a:lnTo>
                  <a:lnTo>
                    <a:pt x="30275" y="134967"/>
                  </a:lnTo>
                  <a:lnTo>
                    <a:pt x="0" y="93725"/>
                  </a:lnTo>
                  <a:close/>
                </a:path>
                <a:path extrusionOk="0" h="187960" w="596265">
                  <a:moveTo>
                    <a:pt x="120395" y="135635"/>
                  </a:moveTo>
                  <a:lnTo>
                    <a:pt x="224282" y="135635"/>
                  </a:lnTo>
                  <a:lnTo>
                    <a:pt x="328040" y="48767"/>
                  </a:lnTo>
                  <a:lnTo>
                    <a:pt x="455675"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8"/>
            <p:cNvSpPr/>
            <p:nvPr/>
          </p:nvSpPr>
          <p:spPr>
            <a:xfrm>
              <a:off x="6577583" y="5103876"/>
              <a:ext cx="306705" cy="86995"/>
            </a:xfrm>
            <a:custGeom>
              <a:rect b="b" l="l" r="r" t="t"/>
              <a:pathLst>
                <a:path extrusionOk="0" h="86995" w="306704">
                  <a:moveTo>
                    <a:pt x="0" y="0"/>
                  </a:moveTo>
                  <a:lnTo>
                    <a:pt x="104267" y="0"/>
                  </a:lnTo>
                  <a:lnTo>
                    <a:pt x="208534"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8"/>
            <p:cNvSpPr/>
            <p:nvPr/>
          </p:nvSpPr>
          <p:spPr>
            <a:xfrm>
              <a:off x="6445757" y="5142738"/>
              <a:ext cx="593090" cy="131445"/>
            </a:xfrm>
            <a:custGeom>
              <a:rect b="b" l="l" r="r" t="t"/>
              <a:pathLst>
                <a:path extrusionOk="0" h="131445" w="593090">
                  <a:moveTo>
                    <a:pt x="0" y="0"/>
                  </a:moveTo>
                  <a:lnTo>
                    <a:pt x="0" y="126492"/>
                  </a:lnTo>
                </a:path>
                <a:path extrusionOk="0" h="131445" w="593090">
                  <a:moveTo>
                    <a:pt x="592836" y="6095"/>
                  </a:moveTo>
                  <a:lnTo>
                    <a:pt x="592836"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28"/>
            <p:cNvSpPr/>
            <p:nvPr/>
          </p:nvSpPr>
          <p:spPr>
            <a:xfrm>
              <a:off x="5493257" y="4815077"/>
              <a:ext cx="594359" cy="16002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8"/>
            <p:cNvSpPr/>
            <p:nvPr/>
          </p:nvSpPr>
          <p:spPr>
            <a:xfrm>
              <a:off x="5493257" y="4815077"/>
              <a:ext cx="594360" cy="160020"/>
            </a:xfrm>
            <a:custGeom>
              <a:rect b="b" l="l" r="r" t="t"/>
              <a:pathLst>
                <a:path extrusionOk="0" h="160020" w="594360">
                  <a:moveTo>
                    <a:pt x="0" y="80010"/>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59" y="80010"/>
                  </a:lnTo>
                  <a:lnTo>
                    <a:pt x="586508" y="98357"/>
                  </a:lnTo>
                  <a:lnTo>
                    <a:pt x="529059" y="130055"/>
                  </a:lnTo>
                  <a:lnTo>
                    <a:pt x="483032" y="142445"/>
                  </a:lnTo>
                  <a:lnTo>
                    <a:pt x="427853" y="151889"/>
                  </a:lnTo>
                  <a:lnTo>
                    <a:pt x="365306" y="157907"/>
                  </a:lnTo>
                  <a:lnTo>
                    <a:pt x="297179" y="160020"/>
                  </a:lnTo>
                  <a:lnTo>
                    <a:pt x="229053" y="157907"/>
                  </a:lnTo>
                  <a:lnTo>
                    <a:pt x="166506" y="151889"/>
                  </a:lnTo>
                  <a:lnTo>
                    <a:pt x="111327" y="142445"/>
                  </a:lnTo>
                  <a:lnTo>
                    <a:pt x="65300" y="130055"/>
                  </a:lnTo>
                  <a:lnTo>
                    <a:pt x="30213" y="115199"/>
                  </a:lnTo>
                  <a:lnTo>
                    <a:pt x="0" y="80010"/>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8"/>
            <p:cNvSpPr/>
            <p:nvPr/>
          </p:nvSpPr>
          <p:spPr>
            <a:xfrm>
              <a:off x="5490209" y="4687061"/>
              <a:ext cx="599694" cy="20802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8"/>
            <p:cNvSpPr/>
            <p:nvPr/>
          </p:nvSpPr>
          <p:spPr>
            <a:xfrm>
              <a:off x="5490209" y="4687061"/>
              <a:ext cx="596265" cy="187960"/>
            </a:xfrm>
            <a:custGeom>
              <a:rect b="b" l="l" r="r" t="t"/>
              <a:pathLst>
                <a:path extrusionOk="0" h="187960" w="596264">
                  <a:moveTo>
                    <a:pt x="0" y="93725"/>
                  </a:moveTo>
                  <a:lnTo>
                    <a:pt x="30275" y="52484"/>
                  </a:lnTo>
                  <a:lnTo>
                    <a:pt x="65440" y="35083"/>
                  </a:lnTo>
                  <a:lnTo>
                    <a:pt x="111576" y="20573"/>
                  </a:lnTo>
                  <a:lnTo>
                    <a:pt x="166895" y="9517"/>
                  </a:lnTo>
                  <a:lnTo>
                    <a:pt x="229613" y="2472"/>
                  </a:lnTo>
                  <a:lnTo>
                    <a:pt x="297941" y="0"/>
                  </a:lnTo>
                  <a:lnTo>
                    <a:pt x="366270" y="2472"/>
                  </a:lnTo>
                  <a:lnTo>
                    <a:pt x="428988" y="9517"/>
                  </a:lnTo>
                  <a:lnTo>
                    <a:pt x="484307" y="20574"/>
                  </a:lnTo>
                  <a:lnTo>
                    <a:pt x="530443" y="35083"/>
                  </a:lnTo>
                  <a:lnTo>
                    <a:pt x="565608" y="52484"/>
                  </a:lnTo>
                  <a:lnTo>
                    <a:pt x="595884" y="93725"/>
                  </a:lnTo>
                  <a:lnTo>
                    <a:pt x="588017" y="115233"/>
                  </a:lnTo>
                  <a:lnTo>
                    <a:pt x="530443" y="152368"/>
                  </a:lnTo>
                  <a:lnTo>
                    <a:pt x="484307" y="166878"/>
                  </a:lnTo>
                  <a:lnTo>
                    <a:pt x="428988" y="177934"/>
                  </a:lnTo>
                  <a:lnTo>
                    <a:pt x="366270" y="184979"/>
                  </a:lnTo>
                  <a:lnTo>
                    <a:pt x="297941" y="187451"/>
                  </a:lnTo>
                  <a:lnTo>
                    <a:pt x="229613" y="184979"/>
                  </a:lnTo>
                  <a:lnTo>
                    <a:pt x="166895" y="177934"/>
                  </a:lnTo>
                  <a:lnTo>
                    <a:pt x="111576" y="166877"/>
                  </a:lnTo>
                  <a:lnTo>
                    <a:pt x="65440" y="152368"/>
                  </a:lnTo>
                  <a:lnTo>
                    <a:pt x="30275" y="134967"/>
                  </a:lnTo>
                  <a:lnTo>
                    <a:pt x="0" y="93725"/>
                  </a:lnTo>
                  <a:close/>
                </a:path>
                <a:path extrusionOk="0" h="187960" w="596264">
                  <a:moveTo>
                    <a:pt x="120395" y="135636"/>
                  </a:moveTo>
                  <a:lnTo>
                    <a:pt x="224281" y="135636"/>
                  </a:lnTo>
                  <a:lnTo>
                    <a:pt x="328040"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28"/>
            <p:cNvSpPr/>
            <p:nvPr/>
          </p:nvSpPr>
          <p:spPr>
            <a:xfrm>
              <a:off x="5625083" y="4735067"/>
              <a:ext cx="306705" cy="86995"/>
            </a:xfrm>
            <a:custGeom>
              <a:rect b="b" l="l" r="r" t="t"/>
              <a:pathLst>
                <a:path extrusionOk="0" h="86995"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8"/>
            <p:cNvSpPr/>
            <p:nvPr/>
          </p:nvSpPr>
          <p:spPr>
            <a:xfrm>
              <a:off x="5493257" y="4773929"/>
              <a:ext cx="593090" cy="131445"/>
            </a:xfrm>
            <a:custGeom>
              <a:rect b="b" l="l" r="r" t="t"/>
              <a:pathLst>
                <a:path extrusionOk="0" h="131445" w="593089">
                  <a:moveTo>
                    <a:pt x="0" y="0"/>
                  </a:moveTo>
                  <a:lnTo>
                    <a:pt x="0" y="128016"/>
                  </a:lnTo>
                </a:path>
                <a:path extrusionOk="0" h="131445" w="593089">
                  <a:moveTo>
                    <a:pt x="592836" y="7620"/>
                  </a:moveTo>
                  <a:lnTo>
                    <a:pt x="592836"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28"/>
            <p:cNvSpPr/>
            <p:nvPr/>
          </p:nvSpPr>
          <p:spPr>
            <a:xfrm>
              <a:off x="5832347" y="4559808"/>
              <a:ext cx="1978660" cy="1030605"/>
            </a:xfrm>
            <a:custGeom>
              <a:rect b="b" l="l" r="r" t="t"/>
              <a:pathLst>
                <a:path extrusionOk="0" h="1030604" w="1978659">
                  <a:moveTo>
                    <a:pt x="257555" y="269748"/>
                  </a:moveTo>
                  <a:lnTo>
                    <a:pt x="723900" y="6096"/>
                  </a:lnTo>
                </a:path>
                <a:path extrusionOk="0" h="1030604" w="1978659">
                  <a:moveTo>
                    <a:pt x="1222248" y="0"/>
                  </a:moveTo>
                  <a:lnTo>
                    <a:pt x="1655063" y="275844"/>
                  </a:lnTo>
                </a:path>
                <a:path extrusionOk="0" h="1030604" w="1978659">
                  <a:moveTo>
                    <a:pt x="156972" y="391668"/>
                  </a:moveTo>
                  <a:lnTo>
                    <a:pt x="638555" y="629412"/>
                  </a:lnTo>
                </a:path>
                <a:path extrusionOk="0" h="1030604" w="1978659">
                  <a:moveTo>
                    <a:pt x="1200911" y="615696"/>
                  </a:moveTo>
                  <a:lnTo>
                    <a:pt x="1758696" y="381000"/>
                  </a:lnTo>
                </a:path>
                <a:path extrusionOk="0" h="1030604" w="1978659">
                  <a:moveTo>
                    <a:pt x="1772411" y="929640"/>
                  </a:moveTo>
                  <a:lnTo>
                    <a:pt x="1978152" y="422148"/>
                  </a:lnTo>
                </a:path>
                <a:path extrusionOk="0" h="1030604" w="1978659">
                  <a:moveTo>
                    <a:pt x="1274063" y="1030224"/>
                  </a:moveTo>
                  <a:lnTo>
                    <a:pt x="536448" y="955548"/>
                  </a:lnTo>
                </a:path>
                <a:path extrusionOk="0" h="1030604" w="1978659">
                  <a:moveTo>
                    <a:pt x="178180" y="837057"/>
                  </a:moveTo>
                  <a:lnTo>
                    <a:pt x="193548" y="841248"/>
                  </a:lnTo>
                  <a:lnTo>
                    <a:pt x="0" y="416052"/>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8"/>
            <p:cNvSpPr/>
            <p:nvPr/>
          </p:nvSpPr>
          <p:spPr>
            <a:xfrm>
              <a:off x="6486905" y="4516373"/>
              <a:ext cx="594360" cy="160019"/>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8"/>
            <p:cNvSpPr/>
            <p:nvPr/>
          </p:nvSpPr>
          <p:spPr>
            <a:xfrm>
              <a:off x="6486905" y="4516373"/>
              <a:ext cx="594360" cy="160020"/>
            </a:xfrm>
            <a:custGeom>
              <a:rect b="b" l="l" r="r" t="t"/>
              <a:pathLst>
                <a:path extrusionOk="0" h="160020" w="594359">
                  <a:moveTo>
                    <a:pt x="0" y="80009"/>
                  </a:moveTo>
                  <a:lnTo>
                    <a:pt x="30213" y="44820"/>
                  </a:lnTo>
                  <a:lnTo>
                    <a:pt x="65300" y="29964"/>
                  </a:lnTo>
                  <a:lnTo>
                    <a:pt x="111327" y="17574"/>
                  </a:lnTo>
                  <a:lnTo>
                    <a:pt x="166506" y="8130"/>
                  </a:lnTo>
                  <a:lnTo>
                    <a:pt x="229053" y="2112"/>
                  </a:lnTo>
                  <a:lnTo>
                    <a:pt x="297179" y="0"/>
                  </a:lnTo>
                  <a:lnTo>
                    <a:pt x="365306" y="2112"/>
                  </a:lnTo>
                  <a:lnTo>
                    <a:pt x="427853" y="8130"/>
                  </a:lnTo>
                  <a:lnTo>
                    <a:pt x="483032" y="17574"/>
                  </a:lnTo>
                  <a:lnTo>
                    <a:pt x="529059" y="29964"/>
                  </a:lnTo>
                  <a:lnTo>
                    <a:pt x="564146" y="44820"/>
                  </a:lnTo>
                  <a:lnTo>
                    <a:pt x="594360" y="80009"/>
                  </a:lnTo>
                  <a:lnTo>
                    <a:pt x="586508" y="98357"/>
                  </a:lnTo>
                  <a:lnTo>
                    <a:pt x="529059" y="130055"/>
                  </a:lnTo>
                  <a:lnTo>
                    <a:pt x="483032" y="142445"/>
                  </a:lnTo>
                  <a:lnTo>
                    <a:pt x="427853" y="151889"/>
                  </a:lnTo>
                  <a:lnTo>
                    <a:pt x="365306" y="157907"/>
                  </a:lnTo>
                  <a:lnTo>
                    <a:pt x="297179" y="160019"/>
                  </a:lnTo>
                  <a:lnTo>
                    <a:pt x="229053" y="157907"/>
                  </a:lnTo>
                  <a:lnTo>
                    <a:pt x="166506" y="151889"/>
                  </a:lnTo>
                  <a:lnTo>
                    <a:pt x="111327" y="142445"/>
                  </a:lnTo>
                  <a:lnTo>
                    <a:pt x="65300" y="130055"/>
                  </a:lnTo>
                  <a:lnTo>
                    <a:pt x="30213" y="115199"/>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8"/>
            <p:cNvSpPr/>
            <p:nvPr/>
          </p:nvSpPr>
          <p:spPr>
            <a:xfrm>
              <a:off x="6483857" y="4388357"/>
              <a:ext cx="599693" cy="208025"/>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8"/>
            <p:cNvSpPr/>
            <p:nvPr/>
          </p:nvSpPr>
          <p:spPr>
            <a:xfrm>
              <a:off x="6483857" y="4388357"/>
              <a:ext cx="596265" cy="187960"/>
            </a:xfrm>
            <a:custGeom>
              <a:rect b="b" l="l" r="r" t="t"/>
              <a:pathLst>
                <a:path extrusionOk="0" h="187960" w="596265">
                  <a:moveTo>
                    <a:pt x="0" y="93726"/>
                  </a:moveTo>
                  <a:lnTo>
                    <a:pt x="30275" y="52484"/>
                  </a:lnTo>
                  <a:lnTo>
                    <a:pt x="65440" y="35083"/>
                  </a:lnTo>
                  <a:lnTo>
                    <a:pt x="111576" y="20574"/>
                  </a:lnTo>
                  <a:lnTo>
                    <a:pt x="166895" y="9517"/>
                  </a:lnTo>
                  <a:lnTo>
                    <a:pt x="229613" y="2472"/>
                  </a:lnTo>
                  <a:lnTo>
                    <a:pt x="297941" y="0"/>
                  </a:lnTo>
                  <a:lnTo>
                    <a:pt x="366270" y="2472"/>
                  </a:lnTo>
                  <a:lnTo>
                    <a:pt x="428988" y="9517"/>
                  </a:lnTo>
                  <a:lnTo>
                    <a:pt x="484307" y="20574"/>
                  </a:lnTo>
                  <a:lnTo>
                    <a:pt x="530443" y="35083"/>
                  </a:lnTo>
                  <a:lnTo>
                    <a:pt x="565608" y="52484"/>
                  </a:lnTo>
                  <a:lnTo>
                    <a:pt x="595884" y="93726"/>
                  </a:lnTo>
                  <a:lnTo>
                    <a:pt x="588017" y="115233"/>
                  </a:lnTo>
                  <a:lnTo>
                    <a:pt x="530443" y="152368"/>
                  </a:lnTo>
                  <a:lnTo>
                    <a:pt x="484307" y="166878"/>
                  </a:lnTo>
                  <a:lnTo>
                    <a:pt x="428988" y="177934"/>
                  </a:lnTo>
                  <a:lnTo>
                    <a:pt x="366270" y="184979"/>
                  </a:lnTo>
                  <a:lnTo>
                    <a:pt x="297941" y="187452"/>
                  </a:lnTo>
                  <a:lnTo>
                    <a:pt x="229613" y="184979"/>
                  </a:lnTo>
                  <a:lnTo>
                    <a:pt x="166895" y="177934"/>
                  </a:lnTo>
                  <a:lnTo>
                    <a:pt x="111576" y="166878"/>
                  </a:lnTo>
                  <a:lnTo>
                    <a:pt x="65440" y="152368"/>
                  </a:lnTo>
                  <a:lnTo>
                    <a:pt x="30275" y="134967"/>
                  </a:lnTo>
                  <a:lnTo>
                    <a:pt x="0" y="93726"/>
                  </a:lnTo>
                  <a:close/>
                </a:path>
                <a:path extrusionOk="0" h="187960" w="596265">
                  <a:moveTo>
                    <a:pt x="120395" y="135636"/>
                  </a:moveTo>
                  <a:lnTo>
                    <a:pt x="224662" y="135636"/>
                  </a:lnTo>
                  <a:lnTo>
                    <a:pt x="329057" y="48768"/>
                  </a:lnTo>
                  <a:lnTo>
                    <a:pt x="457199"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28"/>
            <p:cNvSpPr/>
            <p:nvPr/>
          </p:nvSpPr>
          <p:spPr>
            <a:xfrm>
              <a:off x="6618731" y="4436363"/>
              <a:ext cx="306705" cy="86995"/>
            </a:xfrm>
            <a:custGeom>
              <a:rect b="b" l="l" r="r" t="t"/>
              <a:pathLst>
                <a:path extrusionOk="0" h="86995" w="306704">
                  <a:moveTo>
                    <a:pt x="0" y="0"/>
                  </a:moveTo>
                  <a:lnTo>
                    <a:pt x="104267" y="0"/>
                  </a:lnTo>
                  <a:lnTo>
                    <a:pt x="208534" y="86868"/>
                  </a:lnTo>
                  <a:lnTo>
                    <a:pt x="306324"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28"/>
            <p:cNvSpPr/>
            <p:nvPr/>
          </p:nvSpPr>
          <p:spPr>
            <a:xfrm>
              <a:off x="6488429" y="4475226"/>
              <a:ext cx="591820" cy="131445"/>
            </a:xfrm>
            <a:custGeom>
              <a:rect b="b" l="l" r="r" t="t"/>
              <a:pathLst>
                <a:path extrusionOk="0" h="131445" w="591820">
                  <a:moveTo>
                    <a:pt x="0" y="0"/>
                  </a:moveTo>
                  <a:lnTo>
                    <a:pt x="0" y="128016"/>
                  </a:lnTo>
                </a:path>
                <a:path extrusionOk="0" h="131445" w="591820">
                  <a:moveTo>
                    <a:pt x="591312" y="7619"/>
                  </a:moveTo>
                  <a:lnTo>
                    <a:pt x="591312"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8"/>
            <p:cNvSpPr/>
            <p:nvPr/>
          </p:nvSpPr>
          <p:spPr>
            <a:xfrm>
              <a:off x="7040117" y="5516117"/>
              <a:ext cx="595883" cy="16001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8"/>
            <p:cNvSpPr/>
            <p:nvPr/>
          </p:nvSpPr>
          <p:spPr>
            <a:xfrm>
              <a:off x="7040117" y="5516117"/>
              <a:ext cx="596265" cy="160020"/>
            </a:xfrm>
            <a:custGeom>
              <a:rect b="b" l="l" r="r" t="t"/>
              <a:pathLst>
                <a:path extrusionOk="0" h="160020" w="596265">
                  <a:moveTo>
                    <a:pt x="0" y="80009"/>
                  </a:moveTo>
                  <a:lnTo>
                    <a:pt x="30275" y="44820"/>
                  </a:lnTo>
                  <a:lnTo>
                    <a:pt x="65440" y="29964"/>
                  </a:lnTo>
                  <a:lnTo>
                    <a:pt x="111576" y="17574"/>
                  </a:lnTo>
                  <a:lnTo>
                    <a:pt x="166895" y="8130"/>
                  </a:lnTo>
                  <a:lnTo>
                    <a:pt x="229613" y="2112"/>
                  </a:lnTo>
                  <a:lnTo>
                    <a:pt x="297941" y="0"/>
                  </a:lnTo>
                  <a:lnTo>
                    <a:pt x="366270" y="2112"/>
                  </a:lnTo>
                  <a:lnTo>
                    <a:pt x="428988" y="8130"/>
                  </a:lnTo>
                  <a:lnTo>
                    <a:pt x="484307" y="17574"/>
                  </a:lnTo>
                  <a:lnTo>
                    <a:pt x="530443" y="29964"/>
                  </a:lnTo>
                  <a:lnTo>
                    <a:pt x="565608" y="44820"/>
                  </a:lnTo>
                  <a:lnTo>
                    <a:pt x="595883" y="80009"/>
                  </a:lnTo>
                  <a:lnTo>
                    <a:pt x="588017" y="98353"/>
                  </a:lnTo>
                  <a:lnTo>
                    <a:pt x="530443" y="130050"/>
                  </a:lnTo>
                  <a:lnTo>
                    <a:pt x="484307" y="142441"/>
                  </a:lnTo>
                  <a:lnTo>
                    <a:pt x="428988" y="151886"/>
                  </a:lnTo>
                  <a:lnTo>
                    <a:pt x="366270" y="157906"/>
                  </a:lnTo>
                  <a:lnTo>
                    <a:pt x="297941" y="160019"/>
                  </a:lnTo>
                  <a:lnTo>
                    <a:pt x="229613" y="157906"/>
                  </a:lnTo>
                  <a:lnTo>
                    <a:pt x="166895" y="151886"/>
                  </a:lnTo>
                  <a:lnTo>
                    <a:pt x="111576" y="142441"/>
                  </a:lnTo>
                  <a:lnTo>
                    <a:pt x="65440" y="130050"/>
                  </a:lnTo>
                  <a:lnTo>
                    <a:pt x="30275" y="115194"/>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8"/>
            <p:cNvSpPr/>
            <p:nvPr/>
          </p:nvSpPr>
          <p:spPr>
            <a:xfrm>
              <a:off x="7038594" y="5388102"/>
              <a:ext cx="598169" cy="208025"/>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8"/>
            <p:cNvSpPr/>
            <p:nvPr/>
          </p:nvSpPr>
          <p:spPr>
            <a:xfrm>
              <a:off x="7038594" y="5388102"/>
              <a:ext cx="596265" cy="189230"/>
            </a:xfrm>
            <a:custGeom>
              <a:rect b="b" l="l" r="r" t="t"/>
              <a:pathLst>
                <a:path extrusionOk="0" h="189229" w="596265">
                  <a:moveTo>
                    <a:pt x="0" y="94488"/>
                  </a:moveTo>
                  <a:lnTo>
                    <a:pt x="30275" y="52929"/>
                  </a:lnTo>
                  <a:lnTo>
                    <a:pt x="65440" y="35385"/>
                  </a:lnTo>
                  <a:lnTo>
                    <a:pt x="111576" y="20753"/>
                  </a:lnTo>
                  <a:lnTo>
                    <a:pt x="166895" y="9601"/>
                  </a:lnTo>
                  <a:lnTo>
                    <a:pt x="229613" y="2494"/>
                  </a:lnTo>
                  <a:lnTo>
                    <a:pt x="297941" y="0"/>
                  </a:lnTo>
                  <a:lnTo>
                    <a:pt x="366270" y="2494"/>
                  </a:lnTo>
                  <a:lnTo>
                    <a:pt x="428988" y="9601"/>
                  </a:lnTo>
                  <a:lnTo>
                    <a:pt x="484307" y="20753"/>
                  </a:lnTo>
                  <a:lnTo>
                    <a:pt x="530443" y="35385"/>
                  </a:lnTo>
                  <a:lnTo>
                    <a:pt x="565608" y="52929"/>
                  </a:lnTo>
                  <a:lnTo>
                    <a:pt x="595883" y="94488"/>
                  </a:lnTo>
                  <a:lnTo>
                    <a:pt x="588017" y="116157"/>
                  </a:lnTo>
                  <a:lnTo>
                    <a:pt x="530443" y="153590"/>
                  </a:lnTo>
                  <a:lnTo>
                    <a:pt x="484307" y="168222"/>
                  </a:lnTo>
                  <a:lnTo>
                    <a:pt x="428988" y="179374"/>
                  </a:lnTo>
                  <a:lnTo>
                    <a:pt x="366270" y="186481"/>
                  </a:lnTo>
                  <a:lnTo>
                    <a:pt x="297941" y="188976"/>
                  </a:lnTo>
                  <a:lnTo>
                    <a:pt x="229613" y="186481"/>
                  </a:lnTo>
                  <a:lnTo>
                    <a:pt x="166895" y="179374"/>
                  </a:lnTo>
                  <a:lnTo>
                    <a:pt x="111576" y="168222"/>
                  </a:lnTo>
                  <a:lnTo>
                    <a:pt x="65440" y="153590"/>
                  </a:lnTo>
                  <a:lnTo>
                    <a:pt x="30275" y="136046"/>
                  </a:lnTo>
                  <a:lnTo>
                    <a:pt x="0" y="94488"/>
                  </a:lnTo>
                  <a:close/>
                </a:path>
                <a:path extrusionOk="0" h="189229" w="596265">
                  <a:moveTo>
                    <a:pt x="118872" y="135636"/>
                  </a:moveTo>
                  <a:lnTo>
                    <a:pt x="223138" y="135636"/>
                  </a:lnTo>
                  <a:lnTo>
                    <a:pt x="327532" y="48768"/>
                  </a:lnTo>
                  <a:lnTo>
                    <a:pt x="455675" y="48768"/>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8"/>
            <p:cNvSpPr/>
            <p:nvPr/>
          </p:nvSpPr>
          <p:spPr>
            <a:xfrm>
              <a:off x="7171944" y="5436108"/>
              <a:ext cx="306705" cy="86995"/>
            </a:xfrm>
            <a:custGeom>
              <a:rect b="b" l="l" r="r" t="t"/>
              <a:pathLst>
                <a:path extrusionOk="0" h="86995" w="306704">
                  <a:moveTo>
                    <a:pt x="0" y="0"/>
                  </a:moveTo>
                  <a:lnTo>
                    <a:pt x="104266" y="0"/>
                  </a:lnTo>
                  <a:lnTo>
                    <a:pt x="208533" y="86867"/>
                  </a:lnTo>
                  <a:lnTo>
                    <a:pt x="306324" y="86867"/>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8"/>
            <p:cNvSpPr/>
            <p:nvPr/>
          </p:nvSpPr>
          <p:spPr>
            <a:xfrm>
              <a:off x="7041641" y="5474970"/>
              <a:ext cx="593090" cy="131445"/>
            </a:xfrm>
            <a:custGeom>
              <a:rect b="b" l="l" r="r" t="t"/>
              <a:pathLst>
                <a:path extrusionOk="0" h="131445" w="593090">
                  <a:moveTo>
                    <a:pt x="0" y="0"/>
                  </a:moveTo>
                  <a:lnTo>
                    <a:pt x="0" y="128015"/>
                  </a:lnTo>
                </a:path>
                <a:path extrusionOk="0" h="131445" w="593090">
                  <a:moveTo>
                    <a:pt x="592835" y="7619"/>
                  </a:moveTo>
                  <a:lnTo>
                    <a:pt x="592835" y="131063"/>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8"/>
            <p:cNvSpPr/>
            <p:nvPr/>
          </p:nvSpPr>
          <p:spPr>
            <a:xfrm>
              <a:off x="5820917" y="5468873"/>
              <a:ext cx="595884" cy="1600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8"/>
            <p:cNvSpPr/>
            <p:nvPr/>
          </p:nvSpPr>
          <p:spPr>
            <a:xfrm>
              <a:off x="5820917" y="5468873"/>
              <a:ext cx="596265" cy="160020"/>
            </a:xfrm>
            <a:custGeom>
              <a:rect b="b" l="l" r="r" t="t"/>
              <a:pathLst>
                <a:path extrusionOk="0" h="160020" w="596264">
                  <a:moveTo>
                    <a:pt x="0" y="80009"/>
                  </a:moveTo>
                  <a:lnTo>
                    <a:pt x="30275" y="44820"/>
                  </a:lnTo>
                  <a:lnTo>
                    <a:pt x="65440" y="29964"/>
                  </a:lnTo>
                  <a:lnTo>
                    <a:pt x="111576" y="17574"/>
                  </a:lnTo>
                  <a:lnTo>
                    <a:pt x="166895" y="8130"/>
                  </a:lnTo>
                  <a:lnTo>
                    <a:pt x="229613" y="2112"/>
                  </a:lnTo>
                  <a:lnTo>
                    <a:pt x="297942" y="0"/>
                  </a:lnTo>
                  <a:lnTo>
                    <a:pt x="366270" y="2112"/>
                  </a:lnTo>
                  <a:lnTo>
                    <a:pt x="428988" y="8130"/>
                  </a:lnTo>
                  <a:lnTo>
                    <a:pt x="484307" y="17574"/>
                  </a:lnTo>
                  <a:lnTo>
                    <a:pt x="530443" y="29964"/>
                  </a:lnTo>
                  <a:lnTo>
                    <a:pt x="565608" y="44820"/>
                  </a:lnTo>
                  <a:lnTo>
                    <a:pt x="595884" y="80009"/>
                  </a:lnTo>
                  <a:lnTo>
                    <a:pt x="588017" y="98353"/>
                  </a:lnTo>
                  <a:lnTo>
                    <a:pt x="530443" y="130050"/>
                  </a:lnTo>
                  <a:lnTo>
                    <a:pt x="484307" y="142441"/>
                  </a:lnTo>
                  <a:lnTo>
                    <a:pt x="428988" y="151886"/>
                  </a:lnTo>
                  <a:lnTo>
                    <a:pt x="366270" y="157906"/>
                  </a:lnTo>
                  <a:lnTo>
                    <a:pt x="297942" y="160019"/>
                  </a:lnTo>
                  <a:lnTo>
                    <a:pt x="229613" y="157906"/>
                  </a:lnTo>
                  <a:lnTo>
                    <a:pt x="166895" y="151886"/>
                  </a:lnTo>
                  <a:lnTo>
                    <a:pt x="111576" y="142441"/>
                  </a:lnTo>
                  <a:lnTo>
                    <a:pt x="65440" y="130050"/>
                  </a:lnTo>
                  <a:lnTo>
                    <a:pt x="30275" y="115194"/>
                  </a:lnTo>
                  <a:lnTo>
                    <a:pt x="0" y="80009"/>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8"/>
            <p:cNvSpPr/>
            <p:nvPr/>
          </p:nvSpPr>
          <p:spPr>
            <a:xfrm>
              <a:off x="5819394" y="5340858"/>
              <a:ext cx="598169" cy="208025"/>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28"/>
            <p:cNvSpPr/>
            <p:nvPr/>
          </p:nvSpPr>
          <p:spPr>
            <a:xfrm>
              <a:off x="5819394" y="5340858"/>
              <a:ext cx="596265" cy="187960"/>
            </a:xfrm>
            <a:custGeom>
              <a:rect b="b" l="l" r="r" t="t"/>
              <a:pathLst>
                <a:path extrusionOk="0" h="187960" w="596264">
                  <a:moveTo>
                    <a:pt x="0" y="93725"/>
                  </a:moveTo>
                  <a:lnTo>
                    <a:pt x="30275" y="52484"/>
                  </a:lnTo>
                  <a:lnTo>
                    <a:pt x="65440" y="35083"/>
                  </a:lnTo>
                  <a:lnTo>
                    <a:pt x="111576" y="20573"/>
                  </a:lnTo>
                  <a:lnTo>
                    <a:pt x="166895" y="9517"/>
                  </a:lnTo>
                  <a:lnTo>
                    <a:pt x="229613" y="2472"/>
                  </a:lnTo>
                  <a:lnTo>
                    <a:pt x="297941" y="0"/>
                  </a:lnTo>
                  <a:lnTo>
                    <a:pt x="366270" y="2472"/>
                  </a:lnTo>
                  <a:lnTo>
                    <a:pt x="428988" y="9517"/>
                  </a:lnTo>
                  <a:lnTo>
                    <a:pt x="484307" y="20573"/>
                  </a:lnTo>
                  <a:lnTo>
                    <a:pt x="530443" y="35083"/>
                  </a:lnTo>
                  <a:lnTo>
                    <a:pt x="565608" y="52484"/>
                  </a:lnTo>
                  <a:lnTo>
                    <a:pt x="595883" y="93725"/>
                  </a:lnTo>
                  <a:lnTo>
                    <a:pt x="588017" y="115233"/>
                  </a:lnTo>
                  <a:lnTo>
                    <a:pt x="530443" y="152368"/>
                  </a:lnTo>
                  <a:lnTo>
                    <a:pt x="484307" y="166877"/>
                  </a:lnTo>
                  <a:lnTo>
                    <a:pt x="428988" y="177934"/>
                  </a:lnTo>
                  <a:lnTo>
                    <a:pt x="366270" y="184979"/>
                  </a:lnTo>
                  <a:lnTo>
                    <a:pt x="297941" y="187451"/>
                  </a:lnTo>
                  <a:lnTo>
                    <a:pt x="229613" y="184979"/>
                  </a:lnTo>
                  <a:lnTo>
                    <a:pt x="166895" y="177934"/>
                  </a:lnTo>
                  <a:lnTo>
                    <a:pt x="111576" y="166877"/>
                  </a:lnTo>
                  <a:lnTo>
                    <a:pt x="65440" y="152368"/>
                  </a:lnTo>
                  <a:lnTo>
                    <a:pt x="30275" y="134967"/>
                  </a:lnTo>
                  <a:lnTo>
                    <a:pt x="0" y="93725"/>
                  </a:lnTo>
                  <a:close/>
                </a:path>
                <a:path extrusionOk="0" h="187960" w="596264">
                  <a:moveTo>
                    <a:pt x="118871" y="135635"/>
                  </a:moveTo>
                  <a:lnTo>
                    <a:pt x="223138" y="135635"/>
                  </a:lnTo>
                  <a:lnTo>
                    <a:pt x="327532" y="48767"/>
                  </a:lnTo>
                  <a:lnTo>
                    <a:pt x="455675" y="48767"/>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28"/>
            <p:cNvSpPr/>
            <p:nvPr/>
          </p:nvSpPr>
          <p:spPr>
            <a:xfrm>
              <a:off x="5952744" y="5388864"/>
              <a:ext cx="306705" cy="86995"/>
            </a:xfrm>
            <a:custGeom>
              <a:rect b="b" l="l" r="r" t="t"/>
              <a:pathLst>
                <a:path extrusionOk="0" h="86995" w="306704">
                  <a:moveTo>
                    <a:pt x="0" y="0"/>
                  </a:moveTo>
                  <a:lnTo>
                    <a:pt x="104266" y="0"/>
                  </a:lnTo>
                  <a:lnTo>
                    <a:pt x="208533" y="86868"/>
                  </a:lnTo>
                  <a:lnTo>
                    <a:pt x="306323" y="86868"/>
                  </a:lnTo>
                </a:path>
              </a:pathLst>
            </a:custGeom>
            <a:noFill/>
            <a:ln cap="flat" cmpd="sng" w="12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8"/>
            <p:cNvSpPr/>
            <p:nvPr/>
          </p:nvSpPr>
          <p:spPr>
            <a:xfrm>
              <a:off x="5822441" y="5427726"/>
              <a:ext cx="593090" cy="131445"/>
            </a:xfrm>
            <a:custGeom>
              <a:rect b="b" l="l" r="r" t="t"/>
              <a:pathLst>
                <a:path extrusionOk="0" h="131445" w="593089">
                  <a:moveTo>
                    <a:pt x="0" y="0"/>
                  </a:moveTo>
                  <a:lnTo>
                    <a:pt x="0" y="128015"/>
                  </a:lnTo>
                </a:path>
                <a:path extrusionOk="0" h="131445" w="593089">
                  <a:moveTo>
                    <a:pt x="592836" y="7620"/>
                  </a:moveTo>
                  <a:lnTo>
                    <a:pt x="592836" y="131064"/>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8"/>
            <p:cNvSpPr/>
            <p:nvPr/>
          </p:nvSpPr>
          <p:spPr>
            <a:xfrm>
              <a:off x="3921251" y="3520439"/>
              <a:ext cx="2290572" cy="1266642"/>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28"/>
            <p:cNvSpPr/>
            <p:nvPr/>
          </p:nvSpPr>
          <p:spPr>
            <a:xfrm>
              <a:off x="3701033" y="1195577"/>
              <a:ext cx="2529840" cy="2334895"/>
            </a:xfrm>
            <a:custGeom>
              <a:rect b="b" l="l" r="r" t="t"/>
              <a:pathLst>
                <a:path extrusionOk="0" h="2334895" w="2529840">
                  <a:moveTo>
                    <a:pt x="2529840" y="0"/>
                  </a:moveTo>
                  <a:lnTo>
                    <a:pt x="0" y="0"/>
                  </a:lnTo>
                  <a:lnTo>
                    <a:pt x="0" y="2334768"/>
                  </a:lnTo>
                  <a:lnTo>
                    <a:pt x="2529840" y="2334768"/>
                  </a:lnTo>
                  <a:lnTo>
                    <a:pt x="2529840"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28"/>
            <p:cNvSpPr/>
            <p:nvPr/>
          </p:nvSpPr>
          <p:spPr>
            <a:xfrm>
              <a:off x="3701033" y="1195577"/>
              <a:ext cx="2529840" cy="2334895"/>
            </a:xfrm>
            <a:custGeom>
              <a:rect b="b" l="l" r="r" t="t"/>
              <a:pathLst>
                <a:path extrusionOk="0" h="2334895" w="2529840">
                  <a:moveTo>
                    <a:pt x="0" y="2334768"/>
                  </a:moveTo>
                  <a:lnTo>
                    <a:pt x="2529840" y="2334768"/>
                  </a:lnTo>
                  <a:lnTo>
                    <a:pt x="2529840" y="0"/>
                  </a:lnTo>
                  <a:lnTo>
                    <a:pt x="0" y="0"/>
                  </a:lnTo>
                  <a:lnTo>
                    <a:pt x="0" y="2334768"/>
                  </a:lnTo>
                  <a:close/>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28"/>
            <p:cNvSpPr/>
            <p:nvPr/>
          </p:nvSpPr>
          <p:spPr>
            <a:xfrm>
              <a:off x="4037075" y="1248155"/>
              <a:ext cx="2095500" cy="605155"/>
            </a:xfrm>
            <a:custGeom>
              <a:rect b="b" l="l" r="r" t="t"/>
              <a:pathLst>
                <a:path extrusionOk="0" h="605155" w="2095500">
                  <a:moveTo>
                    <a:pt x="1047750" y="0"/>
                  </a:moveTo>
                  <a:lnTo>
                    <a:pt x="976019" y="697"/>
                  </a:lnTo>
                  <a:lnTo>
                    <a:pt x="905585" y="2760"/>
                  </a:lnTo>
                  <a:lnTo>
                    <a:pt x="836604" y="6143"/>
                  </a:lnTo>
                  <a:lnTo>
                    <a:pt x="769231" y="10802"/>
                  </a:lnTo>
                  <a:lnTo>
                    <a:pt x="703624" y="16690"/>
                  </a:lnTo>
                  <a:lnTo>
                    <a:pt x="639937" y="23764"/>
                  </a:lnTo>
                  <a:lnTo>
                    <a:pt x="578327" y="31979"/>
                  </a:lnTo>
                  <a:lnTo>
                    <a:pt x="518950" y="41289"/>
                  </a:lnTo>
                  <a:lnTo>
                    <a:pt x="461962" y="51649"/>
                  </a:lnTo>
                  <a:lnTo>
                    <a:pt x="407520" y="63014"/>
                  </a:lnTo>
                  <a:lnTo>
                    <a:pt x="355779" y="75340"/>
                  </a:lnTo>
                  <a:lnTo>
                    <a:pt x="306895" y="88582"/>
                  </a:lnTo>
                  <a:lnTo>
                    <a:pt x="261025" y="102694"/>
                  </a:lnTo>
                  <a:lnTo>
                    <a:pt x="218325" y="117631"/>
                  </a:lnTo>
                  <a:lnTo>
                    <a:pt x="178950" y="133350"/>
                  </a:lnTo>
                  <a:lnTo>
                    <a:pt x="143058" y="149803"/>
                  </a:lnTo>
                  <a:lnTo>
                    <a:pt x="82343" y="184737"/>
                  </a:lnTo>
                  <a:lnTo>
                    <a:pt x="37429" y="222073"/>
                  </a:lnTo>
                  <a:lnTo>
                    <a:pt x="9565" y="261452"/>
                  </a:lnTo>
                  <a:lnTo>
                    <a:pt x="0" y="302514"/>
                  </a:lnTo>
                  <a:lnTo>
                    <a:pt x="2417" y="323232"/>
                  </a:lnTo>
                  <a:lnTo>
                    <a:pt x="21288" y="363497"/>
                  </a:lnTo>
                  <a:lnTo>
                    <a:pt x="57833" y="401900"/>
                  </a:lnTo>
                  <a:lnTo>
                    <a:pt x="110803" y="438080"/>
                  </a:lnTo>
                  <a:lnTo>
                    <a:pt x="178950" y="471677"/>
                  </a:lnTo>
                  <a:lnTo>
                    <a:pt x="218325" y="487396"/>
                  </a:lnTo>
                  <a:lnTo>
                    <a:pt x="261025" y="502333"/>
                  </a:lnTo>
                  <a:lnTo>
                    <a:pt x="306895" y="516445"/>
                  </a:lnTo>
                  <a:lnTo>
                    <a:pt x="355779" y="529687"/>
                  </a:lnTo>
                  <a:lnTo>
                    <a:pt x="407520" y="542013"/>
                  </a:lnTo>
                  <a:lnTo>
                    <a:pt x="461962" y="553378"/>
                  </a:lnTo>
                  <a:lnTo>
                    <a:pt x="518950" y="563738"/>
                  </a:lnTo>
                  <a:lnTo>
                    <a:pt x="578327" y="573048"/>
                  </a:lnTo>
                  <a:lnTo>
                    <a:pt x="639937" y="581263"/>
                  </a:lnTo>
                  <a:lnTo>
                    <a:pt x="703624" y="588337"/>
                  </a:lnTo>
                  <a:lnTo>
                    <a:pt x="769231" y="594225"/>
                  </a:lnTo>
                  <a:lnTo>
                    <a:pt x="836604" y="598884"/>
                  </a:lnTo>
                  <a:lnTo>
                    <a:pt x="905585" y="602267"/>
                  </a:lnTo>
                  <a:lnTo>
                    <a:pt x="976019" y="604330"/>
                  </a:lnTo>
                  <a:lnTo>
                    <a:pt x="1047750" y="605028"/>
                  </a:lnTo>
                  <a:lnTo>
                    <a:pt x="1119480" y="604330"/>
                  </a:lnTo>
                  <a:lnTo>
                    <a:pt x="1189914" y="602267"/>
                  </a:lnTo>
                  <a:lnTo>
                    <a:pt x="1258895" y="598884"/>
                  </a:lnTo>
                  <a:lnTo>
                    <a:pt x="1326268" y="594225"/>
                  </a:lnTo>
                  <a:lnTo>
                    <a:pt x="1391875" y="588337"/>
                  </a:lnTo>
                  <a:lnTo>
                    <a:pt x="1455562" y="581263"/>
                  </a:lnTo>
                  <a:lnTo>
                    <a:pt x="1517172" y="573048"/>
                  </a:lnTo>
                  <a:lnTo>
                    <a:pt x="1576549" y="563738"/>
                  </a:lnTo>
                  <a:lnTo>
                    <a:pt x="1633537" y="553378"/>
                  </a:lnTo>
                  <a:lnTo>
                    <a:pt x="1687979" y="542013"/>
                  </a:lnTo>
                  <a:lnTo>
                    <a:pt x="1739720" y="529687"/>
                  </a:lnTo>
                  <a:lnTo>
                    <a:pt x="1788604" y="516445"/>
                  </a:lnTo>
                  <a:lnTo>
                    <a:pt x="1834474" y="502333"/>
                  </a:lnTo>
                  <a:lnTo>
                    <a:pt x="1877174" y="487396"/>
                  </a:lnTo>
                  <a:lnTo>
                    <a:pt x="1916549" y="471677"/>
                  </a:lnTo>
                  <a:lnTo>
                    <a:pt x="1952441" y="455224"/>
                  </a:lnTo>
                  <a:lnTo>
                    <a:pt x="2013156" y="420290"/>
                  </a:lnTo>
                  <a:lnTo>
                    <a:pt x="2058070" y="382954"/>
                  </a:lnTo>
                  <a:lnTo>
                    <a:pt x="2085934" y="343575"/>
                  </a:lnTo>
                  <a:lnTo>
                    <a:pt x="2095500" y="302514"/>
                  </a:lnTo>
                  <a:lnTo>
                    <a:pt x="2093082" y="281795"/>
                  </a:lnTo>
                  <a:lnTo>
                    <a:pt x="2074211" y="241530"/>
                  </a:lnTo>
                  <a:lnTo>
                    <a:pt x="2037666" y="203127"/>
                  </a:lnTo>
                  <a:lnTo>
                    <a:pt x="1984696" y="166947"/>
                  </a:lnTo>
                  <a:lnTo>
                    <a:pt x="1916549" y="133350"/>
                  </a:lnTo>
                  <a:lnTo>
                    <a:pt x="1877174" y="117631"/>
                  </a:lnTo>
                  <a:lnTo>
                    <a:pt x="1834474" y="102694"/>
                  </a:lnTo>
                  <a:lnTo>
                    <a:pt x="1788604" y="88582"/>
                  </a:lnTo>
                  <a:lnTo>
                    <a:pt x="1739720" y="75340"/>
                  </a:lnTo>
                  <a:lnTo>
                    <a:pt x="1687979" y="63014"/>
                  </a:lnTo>
                  <a:lnTo>
                    <a:pt x="1633537" y="51649"/>
                  </a:lnTo>
                  <a:lnTo>
                    <a:pt x="1576549" y="41289"/>
                  </a:lnTo>
                  <a:lnTo>
                    <a:pt x="1517172" y="31979"/>
                  </a:lnTo>
                  <a:lnTo>
                    <a:pt x="1455562" y="23764"/>
                  </a:lnTo>
                  <a:lnTo>
                    <a:pt x="1391875" y="16690"/>
                  </a:lnTo>
                  <a:lnTo>
                    <a:pt x="1326268" y="10802"/>
                  </a:lnTo>
                  <a:lnTo>
                    <a:pt x="1258895" y="6143"/>
                  </a:lnTo>
                  <a:lnTo>
                    <a:pt x="1189914" y="2760"/>
                  </a:lnTo>
                  <a:lnTo>
                    <a:pt x="1119480" y="697"/>
                  </a:lnTo>
                  <a:lnTo>
                    <a:pt x="104775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8"/>
            <p:cNvSpPr/>
            <p:nvPr/>
          </p:nvSpPr>
          <p:spPr>
            <a:xfrm>
              <a:off x="4037075" y="1248155"/>
              <a:ext cx="2095500" cy="605155"/>
            </a:xfrm>
            <a:custGeom>
              <a:rect b="b" l="l" r="r" t="t"/>
              <a:pathLst>
                <a:path extrusionOk="0" h="605155" w="2095500">
                  <a:moveTo>
                    <a:pt x="0" y="302514"/>
                  </a:moveTo>
                  <a:lnTo>
                    <a:pt x="9565" y="261452"/>
                  </a:lnTo>
                  <a:lnTo>
                    <a:pt x="37429" y="222073"/>
                  </a:lnTo>
                  <a:lnTo>
                    <a:pt x="82343" y="184737"/>
                  </a:lnTo>
                  <a:lnTo>
                    <a:pt x="143058" y="149803"/>
                  </a:lnTo>
                  <a:lnTo>
                    <a:pt x="178950" y="133350"/>
                  </a:lnTo>
                  <a:lnTo>
                    <a:pt x="218325" y="117631"/>
                  </a:lnTo>
                  <a:lnTo>
                    <a:pt x="261025" y="102694"/>
                  </a:lnTo>
                  <a:lnTo>
                    <a:pt x="306895" y="88582"/>
                  </a:lnTo>
                  <a:lnTo>
                    <a:pt x="355779" y="75340"/>
                  </a:lnTo>
                  <a:lnTo>
                    <a:pt x="407520" y="63014"/>
                  </a:lnTo>
                  <a:lnTo>
                    <a:pt x="461962" y="51649"/>
                  </a:lnTo>
                  <a:lnTo>
                    <a:pt x="518950" y="41289"/>
                  </a:lnTo>
                  <a:lnTo>
                    <a:pt x="578327" y="31979"/>
                  </a:lnTo>
                  <a:lnTo>
                    <a:pt x="639937" y="23764"/>
                  </a:lnTo>
                  <a:lnTo>
                    <a:pt x="703624" y="16690"/>
                  </a:lnTo>
                  <a:lnTo>
                    <a:pt x="769231" y="10802"/>
                  </a:lnTo>
                  <a:lnTo>
                    <a:pt x="836604" y="6143"/>
                  </a:lnTo>
                  <a:lnTo>
                    <a:pt x="905585" y="2760"/>
                  </a:lnTo>
                  <a:lnTo>
                    <a:pt x="976019" y="697"/>
                  </a:lnTo>
                  <a:lnTo>
                    <a:pt x="1047750" y="0"/>
                  </a:lnTo>
                  <a:lnTo>
                    <a:pt x="1119480" y="697"/>
                  </a:lnTo>
                  <a:lnTo>
                    <a:pt x="1189914" y="2760"/>
                  </a:lnTo>
                  <a:lnTo>
                    <a:pt x="1258895" y="6143"/>
                  </a:lnTo>
                  <a:lnTo>
                    <a:pt x="1326268" y="10802"/>
                  </a:lnTo>
                  <a:lnTo>
                    <a:pt x="1391875" y="16690"/>
                  </a:lnTo>
                  <a:lnTo>
                    <a:pt x="1455562" y="23764"/>
                  </a:lnTo>
                  <a:lnTo>
                    <a:pt x="1517172" y="31979"/>
                  </a:lnTo>
                  <a:lnTo>
                    <a:pt x="1576549" y="41289"/>
                  </a:lnTo>
                  <a:lnTo>
                    <a:pt x="1633537" y="51649"/>
                  </a:lnTo>
                  <a:lnTo>
                    <a:pt x="1687979" y="63014"/>
                  </a:lnTo>
                  <a:lnTo>
                    <a:pt x="1739720" y="75340"/>
                  </a:lnTo>
                  <a:lnTo>
                    <a:pt x="1788604" y="88582"/>
                  </a:lnTo>
                  <a:lnTo>
                    <a:pt x="1834474" y="102694"/>
                  </a:lnTo>
                  <a:lnTo>
                    <a:pt x="1877174" y="117631"/>
                  </a:lnTo>
                  <a:lnTo>
                    <a:pt x="1916549" y="133350"/>
                  </a:lnTo>
                  <a:lnTo>
                    <a:pt x="1952441" y="149803"/>
                  </a:lnTo>
                  <a:lnTo>
                    <a:pt x="2013156" y="184737"/>
                  </a:lnTo>
                  <a:lnTo>
                    <a:pt x="2058070" y="222073"/>
                  </a:lnTo>
                  <a:lnTo>
                    <a:pt x="2085934" y="261452"/>
                  </a:lnTo>
                  <a:lnTo>
                    <a:pt x="2095500" y="302514"/>
                  </a:lnTo>
                  <a:lnTo>
                    <a:pt x="2093082" y="323232"/>
                  </a:lnTo>
                  <a:lnTo>
                    <a:pt x="2074211" y="363497"/>
                  </a:lnTo>
                  <a:lnTo>
                    <a:pt x="2037666" y="401900"/>
                  </a:lnTo>
                  <a:lnTo>
                    <a:pt x="1984696" y="438080"/>
                  </a:lnTo>
                  <a:lnTo>
                    <a:pt x="1916549" y="471677"/>
                  </a:lnTo>
                  <a:lnTo>
                    <a:pt x="1877174" y="487396"/>
                  </a:lnTo>
                  <a:lnTo>
                    <a:pt x="1834474" y="502333"/>
                  </a:lnTo>
                  <a:lnTo>
                    <a:pt x="1788604" y="516445"/>
                  </a:lnTo>
                  <a:lnTo>
                    <a:pt x="1739720" y="529687"/>
                  </a:lnTo>
                  <a:lnTo>
                    <a:pt x="1687979" y="542013"/>
                  </a:lnTo>
                  <a:lnTo>
                    <a:pt x="1633537" y="553378"/>
                  </a:lnTo>
                  <a:lnTo>
                    <a:pt x="1576549" y="563738"/>
                  </a:lnTo>
                  <a:lnTo>
                    <a:pt x="1517172" y="573048"/>
                  </a:lnTo>
                  <a:lnTo>
                    <a:pt x="1455562" y="581263"/>
                  </a:lnTo>
                  <a:lnTo>
                    <a:pt x="1391875" y="588337"/>
                  </a:lnTo>
                  <a:lnTo>
                    <a:pt x="1326268" y="594225"/>
                  </a:lnTo>
                  <a:lnTo>
                    <a:pt x="1258895" y="598884"/>
                  </a:lnTo>
                  <a:lnTo>
                    <a:pt x="1189914" y="602267"/>
                  </a:lnTo>
                  <a:lnTo>
                    <a:pt x="1119480" y="604330"/>
                  </a:lnTo>
                  <a:lnTo>
                    <a:pt x="1047750" y="605028"/>
                  </a:lnTo>
                  <a:lnTo>
                    <a:pt x="976019" y="604330"/>
                  </a:lnTo>
                  <a:lnTo>
                    <a:pt x="905585" y="602267"/>
                  </a:lnTo>
                  <a:lnTo>
                    <a:pt x="836604" y="598884"/>
                  </a:lnTo>
                  <a:lnTo>
                    <a:pt x="769231" y="594225"/>
                  </a:lnTo>
                  <a:lnTo>
                    <a:pt x="703624" y="588337"/>
                  </a:lnTo>
                  <a:lnTo>
                    <a:pt x="639937" y="581263"/>
                  </a:lnTo>
                  <a:lnTo>
                    <a:pt x="578327" y="573048"/>
                  </a:lnTo>
                  <a:lnTo>
                    <a:pt x="518950" y="563738"/>
                  </a:lnTo>
                  <a:lnTo>
                    <a:pt x="461962" y="553378"/>
                  </a:lnTo>
                  <a:lnTo>
                    <a:pt x="407520" y="542013"/>
                  </a:lnTo>
                  <a:lnTo>
                    <a:pt x="355779" y="529687"/>
                  </a:lnTo>
                  <a:lnTo>
                    <a:pt x="306895" y="516445"/>
                  </a:lnTo>
                  <a:lnTo>
                    <a:pt x="261025" y="502333"/>
                  </a:lnTo>
                  <a:lnTo>
                    <a:pt x="218325" y="487396"/>
                  </a:lnTo>
                  <a:lnTo>
                    <a:pt x="178950" y="471677"/>
                  </a:lnTo>
                  <a:lnTo>
                    <a:pt x="143058" y="455224"/>
                  </a:lnTo>
                  <a:lnTo>
                    <a:pt x="82343" y="420290"/>
                  </a:lnTo>
                  <a:lnTo>
                    <a:pt x="37429" y="382954"/>
                  </a:lnTo>
                  <a:lnTo>
                    <a:pt x="9565" y="343575"/>
                  </a:lnTo>
                  <a:lnTo>
                    <a:pt x="0" y="30251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28"/>
            <p:cNvSpPr/>
            <p:nvPr/>
          </p:nvSpPr>
          <p:spPr>
            <a:xfrm>
              <a:off x="3982212" y="4584191"/>
              <a:ext cx="1155700" cy="239395"/>
            </a:xfrm>
            <a:custGeom>
              <a:rect b="b" l="l" r="r" t="t"/>
              <a:pathLst>
                <a:path extrusionOk="0" h="239395" w="1155700">
                  <a:moveTo>
                    <a:pt x="1155192" y="0"/>
                  </a:moveTo>
                  <a:lnTo>
                    <a:pt x="0" y="0"/>
                  </a:lnTo>
                  <a:lnTo>
                    <a:pt x="0" y="24384"/>
                  </a:lnTo>
                  <a:lnTo>
                    <a:pt x="0" y="239268"/>
                  </a:lnTo>
                  <a:lnTo>
                    <a:pt x="1155192" y="239268"/>
                  </a:lnTo>
                  <a:lnTo>
                    <a:pt x="1155192" y="24384"/>
                  </a:lnTo>
                  <a:lnTo>
                    <a:pt x="1155192" y="0"/>
                  </a:lnTo>
                  <a:close/>
                </a:path>
              </a:pathLst>
            </a:custGeom>
            <a:solidFill>
              <a:srgbClr val="EDEB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28"/>
            <p:cNvSpPr/>
            <p:nvPr/>
          </p:nvSpPr>
          <p:spPr>
            <a:xfrm>
              <a:off x="3957827" y="4608576"/>
              <a:ext cx="1148080" cy="238125"/>
            </a:xfrm>
            <a:custGeom>
              <a:rect b="b" l="l" r="r" t="t"/>
              <a:pathLst>
                <a:path extrusionOk="0" h="238125" w="1148079">
                  <a:moveTo>
                    <a:pt x="1147572" y="0"/>
                  </a:moveTo>
                  <a:lnTo>
                    <a:pt x="0" y="0"/>
                  </a:lnTo>
                  <a:lnTo>
                    <a:pt x="0" y="237744"/>
                  </a:lnTo>
                  <a:lnTo>
                    <a:pt x="1147572" y="237744"/>
                  </a:lnTo>
                  <a:lnTo>
                    <a:pt x="1147572"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28"/>
            <p:cNvSpPr/>
            <p:nvPr/>
          </p:nvSpPr>
          <p:spPr>
            <a:xfrm>
              <a:off x="3957827" y="4608576"/>
              <a:ext cx="1148080" cy="238125"/>
            </a:xfrm>
            <a:custGeom>
              <a:rect b="b" l="l" r="r" t="t"/>
              <a:pathLst>
                <a:path extrusionOk="0" h="238125" w="1148079">
                  <a:moveTo>
                    <a:pt x="0" y="237744"/>
                  </a:moveTo>
                  <a:lnTo>
                    <a:pt x="1147572" y="237744"/>
                  </a:lnTo>
                  <a:lnTo>
                    <a:pt x="1147572" y="0"/>
                  </a:lnTo>
                  <a:lnTo>
                    <a:pt x="0" y="0"/>
                  </a:lnTo>
                  <a:lnTo>
                    <a:pt x="0" y="23774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8"/>
            <p:cNvSpPr/>
            <p:nvPr/>
          </p:nvSpPr>
          <p:spPr>
            <a:xfrm>
              <a:off x="4983479" y="4701539"/>
              <a:ext cx="422275" cy="76200"/>
            </a:xfrm>
            <a:custGeom>
              <a:rect b="b" l="l" r="r" t="t"/>
              <a:pathLst>
                <a:path extrusionOk="0" h="76200" w="422275">
                  <a:moveTo>
                    <a:pt x="345948" y="0"/>
                  </a:moveTo>
                  <a:lnTo>
                    <a:pt x="345948" y="76200"/>
                  </a:lnTo>
                  <a:lnTo>
                    <a:pt x="409448" y="44450"/>
                  </a:lnTo>
                  <a:lnTo>
                    <a:pt x="358648" y="44450"/>
                  </a:lnTo>
                  <a:lnTo>
                    <a:pt x="358648" y="31750"/>
                  </a:lnTo>
                  <a:lnTo>
                    <a:pt x="409448" y="31750"/>
                  </a:lnTo>
                  <a:lnTo>
                    <a:pt x="345948" y="0"/>
                  </a:lnTo>
                  <a:close/>
                </a:path>
                <a:path extrusionOk="0" h="76200" w="422275">
                  <a:moveTo>
                    <a:pt x="345948" y="31750"/>
                  </a:moveTo>
                  <a:lnTo>
                    <a:pt x="0" y="31750"/>
                  </a:lnTo>
                  <a:lnTo>
                    <a:pt x="0" y="44450"/>
                  </a:lnTo>
                  <a:lnTo>
                    <a:pt x="345948" y="44450"/>
                  </a:lnTo>
                  <a:lnTo>
                    <a:pt x="345948" y="31750"/>
                  </a:lnTo>
                  <a:close/>
                </a:path>
                <a:path extrusionOk="0" h="76200" w="422275">
                  <a:moveTo>
                    <a:pt x="409448" y="31750"/>
                  </a:moveTo>
                  <a:lnTo>
                    <a:pt x="358648" y="31750"/>
                  </a:lnTo>
                  <a:lnTo>
                    <a:pt x="358648" y="44450"/>
                  </a:lnTo>
                  <a:lnTo>
                    <a:pt x="409448" y="44450"/>
                  </a:lnTo>
                  <a:lnTo>
                    <a:pt x="422148" y="38100"/>
                  </a:lnTo>
                  <a:lnTo>
                    <a:pt x="409448" y="3175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8"/>
            <p:cNvSpPr/>
            <p:nvPr/>
          </p:nvSpPr>
          <p:spPr>
            <a:xfrm>
              <a:off x="4585715" y="4611623"/>
              <a:ext cx="428625" cy="239395"/>
            </a:xfrm>
            <a:custGeom>
              <a:rect b="b" l="l" r="r" t="t"/>
              <a:pathLst>
                <a:path extrusionOk="0" h="239395" w="428625">
                  <a:moveTo>
                    <a:pt x="428243" y="0"/>
                  </a:moveTo>
                  <a:lnTo>
                    <a:pt x="0" y="0"/>
                  </a:lnTo>
                  <a:lnTo>
                    <a:pt x="0" y="239268"/>
                  </a:lnTo>
                  <a:lnTo>
                    <a:pt x="428243" y="239268"/>
                  </a:lnTo>
                  <a:lnTo>
                    <a:pt x="428243"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8"/>
            <p:cNvSpPr/>
            <p:nvPr/>
          </p:nvSpPr>
          <p:spPr>
            <a:xfrm>
              <a:off x="4585715" y="4611623"/>
              <a:ext cx="428625" cy="239395"/>
            </a:xfrm>
            <a:custGeom>
              <a:rect b="b" l="l" r="r" t="t"/>
              <a:pathLst>
                <a:path extrusionOk="0" h="239395" w="428625">
                  <a:moveTo>
                    <a:pt x="0" y="239268"/>
                  </a:moveTo>
                  <a:lnTo>
                    <a:pt x="428243" y="239268"/>
                  </a:lnTo>
                  <a:lnTo>
                    <a:pt x="428243" y="0"/>
                  </a:lnTo>
                  <a:lnTo>
                    <a:pt x="0" y="0"/>
                  </a:lnTo>
                  <a:lnTo>
                    <a:pt x="0" y="23926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0" name="Google Shape;500;p28"/>
          <p:cNvSpPr txBox="1"/>
          <p:nvPr/>
        </p:nvSpPr>
        <p:spPr>
          <a:xfrm>
            <a:off x="2901823" y="3934714"/>
            <a:ext cx="3291204" cy="12839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Arial"/>
                <a:ea typeface="Arial"/>
                <a:cs typeface="Arial"/>
                <a:sym typeface="Arial"/>
              </a:rPr>
              <a:t>IP destination address in</a:t>
            </a:r>
            <a:endParaRPr sz="1600">
              <a:solidFill>
                <a:schemeClr val="dk1"/>
              </a:solidFill>
              <a:latin typeface="Arial"/>
              <a:ea typeface="Arial"/>
              <a:cs typeface="Arial"/>
              <a:sym typeface="Arial"/>
            </a:endParaRPr>
          </a:p>
          <a:p>
            <a:pPr indent="0" lvl="0" marL="12700" marR="0" rtl="0" algn="l">
              <a:lnSpc>
                <a:spcPct val="100000"/>
              </a:lnSpc>
              <a:spcBef>
                <a:spcPts val="25"/>
              </a:spcBef>
              <a:spcAft>
                <a:spcPts val="0"/>
              </a:spcAft>
              <a:buNone/>
            </a:pPr>
            <a:r>
              <a:rPr lang="en-US" sz="1600">
                <a:solidFill>
                  <a:schemeClr val="dk1"/>
                </a:solidFill>
                <a:latin typeface="Arial"/>
                <a:ea typeface="Arial"/>
                <a:cs typeface="Arial"/>
                <a:sym typeface="Arial"/>
              </a:rPr>
              <a:t>arriving packet’s header</a:t>
            </a:r>
            <a:endParaRPr sz="1600">
              <a:solidFill>
                <a:schemeClr val="dk1"/>
              </a:solidFill>
              <a:latin typeface="Arial"/>
              <a:ea typeface="Arial"/>
              <a:cs typeface="Arial"/>
              <a:sym typeface="Arial"/>
            </a:endParaRPr>
          </a:p>
          <a:p>
            <a:pPr indent="0" lvl="0" marL="3162300" marR="0" rtl="0" algn="l">
              <a:lnSpc>
                <a:spcPct val="100000"/>
              </a:lnSpc>
              <a:spcBef>
                <a:spcPts val="565"/>
              </a:spcBef>
              <a:spcAft>
                <a:spcPts val="0"/>
              </a:spcAft>
              <a:buNone/>
            </a:pPr>
            <a:r>
              <a:rPr lang="en-US" sz="1800">
                <a:solidFill>
                  <a:schemeClr val="dk1"/>
                </a:solidFill>
                <a:latin typeface="Arial"/>
                <a:ea typeface="Arial"/>
                <a:cs typeface="Arial"/>
                <a:sym typeface="Arial"/>
              </a:rPr>
              <a:t>1</a:t>
            </a:r>
            <a:endParaRPr sz="1800">
              <a:solidFill>
                <a:schemeClr val="dk1"/>
              </a:solidFill>
              <a:latin typeface="Arial"/>
              <a:ea typeface="Arial"/>
              <a:cs typeface="Arial"/>
              <a:sym typeface="Arial"/>
            </a:endParaRPr>
          </a:p>
          <a:p>
            <a:pPr indent="0" lvl="0" marL="0" marR="92710" rtl="0" algn="r">
              <a:lnSpc>
                <a:spcPct val="100000"/>
              </a:lnSpc>
              <a:spcBef>
                <a:spcPts val="1400"/>
              </a:spcBef>
              <a:spcAft>
                <a:spcPts val="0"/>
              </a:spcAft>
              <a:buNone/>
            </a:pPr>
            <a:r>
              <a:rPr baseline="30000" lang="en-US" sz="2400">
                <a:solidFill>
                  <a:schemeClr val="dk1"/>
                </a:solidFill>
                <a:latin typeface="Arial"/>
                <a:ea typeface="Arial"/>
                <a:cs typeface="Arial"/>
                <a:sym typeface="Arial"/>
              </a:rPr>
              <a:t>3	</a:t>
            </a:r>
            <a:r>
              <a:rPr lang="en-US" sz="1600">
                <a:solidFill>
                  <a:schemeClr val="dk1"/>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501" name="Google Shape;501;p28"/>
          <p:cNvSpPr/>
          <p:nvPr/>
        </p:nvSpPr>
        <p:spPr>
          <a:xfrm>
            <a:off x="2129027" y="771144"/>
            <a:ext cx="5942076" cy="173736"/>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28"/>
          <p:cNvSpPr/>
          <p:nvPr/>
        </p:nvSpPr>
        <p:spPr>
          <a:xfrm>
            <a:off x="4204715" y="4870703"/>
            <a:ext cx="1350645" cy="0"/>
          </a:xfrm>
          <a:custGeom>
            <a:rect b="b" l="l" r="r" t="t"/>
            <a:pathLst>
              <a:path extrusionOk="0" h="120000" w="1350645">
                <a:moveTo>
                  <a:pt x="1350264" y="0"/>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8"/>
          <p:cNvSpPr txBox="1"/>
          <p:nvPr/>
        </p:nvSpPr>
        <p:spPr>
          <a:xfrm>
            <a:off x="4451350" y="1425651"/>
            <a:ext cx="1292860" cy="24002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Arial"/>
                <a:ea typeface="Arial"/>
                <a:cs typeface="Arial"/>
                <a:sym typeface="Arial"/>
              </a:rPr>
              <a:t>routing algorithm</a:t>
            </a:r>
            <a:endParaRPr sz="1400">
              <a:solidFill>
                <a:schemeClr val="dk1"/>
              </a:solidFill>
              <a:latin typeface="Arial"/>
              <a:ea typeface="Arial"/>
              <a:cs typeface="Arial"/>
              <a:sym typeface="Arial"/>
            </a:endParaRPr>
          </a:p>
        </p:txBody>
      </p:sp>
      <p:graphicFrame>
        <p:nvGraphicFramePr>
          <p:cNvPr id="504" name="Google Shape;504;p28"/>
          <p:cNvGraphicFramePr/>
          <p:nvPr/>
        </p:nvGraphicFramePr>
        <p:xfrm>
          <a:off x="3907535" y="2136648"/>
          <a:ext cx="3000000" cy="3000000"/>
        </p:xfrm>
        <a:graphic>
          <a:graphicData uri="http://schemas.openxmlformats.org/drawingml/2006/table">
            <a:tbl>
              <a:tblPr bandRow="1" firstRow="1">
                <a:noFill/>
                <a:tableStyleId>{0E2E355C-DBFC-4D74-83BD-ED6A477D55ED}</a:tableStyleId>
              </a:tblPr>
              <a:tblGrid>
                <a:gridCol w="1311275"/>
                <a:gridCol w="872500"/>
              </a:tblGrid>
              <a:tr h="230875">
                <a:tc gridSpan="2">
                  <a:txBody>
                    <a:bodyPr/>
                    <a:lstStyle/>
                    <a:p>
                      <a:pPr indent="0" lvl="0" marL="351155" marR="0" rtl="0" algn="l">
                        <a:lnSpc>
                          <a:spcPct val="118857"/>
                        </a:lnSpc>
                        <a:spcBef>
                          <a:spcPts val="0"/>
                        </a:spcBef>
                        <a:spcAft>
                          <a:spcPts val="0"/>
                        </a:spcAft>
                        <a:buNone/>
                      </a:pPr>
                      <a:r>
                        <a:rPr lang="en-US" sz="1400" u="none" cap="none" strike="noStrike">
                          <a:latin typeface="Arial"/>
                          <a:ea typeface="Arial"/>
                          <a:cs typeface="Arial"/>
                          <a:sym typeface="Arial"/>
                        </a:rPr>
                        <a:t>local forwarding table</a:t>
                      </a:r>
                      <a:endParaRPr sz="14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248400">
                <a:tc>
                  <a:txBody>
                    <a:bodyPr/>
                    <a:lstStyle/>
                    <a:p>
                      <a:pPr indent="0" lvl="0" marL="244475" marR="0" rtl="0" algn="l">
                        <a:lnSpc>
                          <a:spcPct val="100000"/>
                        </a:lnSpc>
                        <a:spcBef>
                          <a:spcPts val="0"/>
                        </a:spcBef>
                        <a:spcAft>
                          <a:spcPts val="0"/>
                        </a:spcAft>
                        <a:buNone/>
                      </a:pPr>
                      <a:r>
                        <a:rPr lang="en-US" sz="1400" u="none" cap="none" strike="noStrike">
                          <a:latin typeface="Arial"/>
                          <a:ea typeface="Arial"/>
                          <a:cs typeface="Arial"/>
                          <a:sym typeface="Arial"/>
                        </a:rPr>
                        <a:t>dest address</a:t>
                      </a:r>
                      <a:endParaRPr sz="1400" u="none" cap="none" strike="noStrike">
                        <a:latin typeface="Arial"/>
                        <a:ea typeface="Arial"/>
                        <a:cs typeface="Arial"/>
                        <a:sym typeface="Arial"/>
                      </a:endParaRPr>
                    </a:p>
                  </a:txBody>
                  <a:tcPr marT="14600" marB="0" marR="0" marL="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3810" marR="0" rtl="0" algn="l">
                        <a:lnSpc>
                          <a:spcPct val="100000"/>
                        </a:lnSpc>
                        <a:spcBef>
                          <a:spcPts val="0"/>
                        </a:spcBef>
                        <a:spcAft>
                          <a:spcPts val="0"/>
                        </a:spcAft>
                        <a:buNone/>
                      </a:pPr>
                      <a:r>
                        <a:rPr lang="en-US" sz="1400" u="none" cap="none" strike="noStrike">
                          <a:latin typeface="Arial"/>
                          <a:ea typeface="Arial"/>
                          <a:cs typeface="Arial"/>
                          <a:sym typeface="Arial"/>
                        </a:rPr>
                        <a:t>output link</a:t>
                      </a:r>
                      <a:endParaRPr sz="1400" u="none" cap="none" strike="noStrike">
                        <a:latin typeface="Arial"/>
                        <a:ea typeface="Arial"/>
                        <a:cs typeface="Arial"/>
                        <a:sym typeface="Arial"/>
                      </a:endParaRPr>
                    </a:p>
                  </a:txBody>
                  <a:tcPr marT="16500" marB="0" marR="0" marL="0">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59200">
                <a:tc>
                  <a:txBody>
                    <a:bodyPr/>
                    <a:lstStyle/>
                    <a:p>
                      <a:pPr indent="0" lvl="0" marL="240665" marR="0" rtl="0" algn="l">
                        <a:lnSpc>
                          <a:spcPct val="100000"/>
                        </a:lnSpc>
                        <a:spcBef>
                          <a:spcPts val="0"/>
                        </a:spcBef>
                        <a:spcAft>
                          <a:spcPts val="0"/>
                        </a:spcAft>
                        <a:buNone/>
                      </a:pPr>
                      <a:r>
                        <a:rPr lang="en-US" sz="1200" u="none" cap="none" strike="noStrike">
                          <a:latin typeface="Arial"/>
                          <a:ea typeface="Arial"/>
                          <a:cs typeface="Arial"/>
                          <a:sym typeface="Arial"/>
                        </a:rPr>
                        <a:t>address-range 1</a:t>
                      </a:r>
                      <a:endParaRPr sz="1200" u="none" cap="none" strike="noStrike">
                        <a:latin typeface="Arial"/>
                        <a:ea typeface="Arial"/>
                        <a:cs typeface="Arial"/>
                        <a:sym typeface="Arial"/>
                      </a:endParaRPr>
                    </a:p>
                  </a:txBody>
                  <a:tcPr marT="53350" marB="0" marR="0" marL="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solidFill>
                      <a:srgbClr val="FFFFFF"/>
                    </a:solidFill>
                  </a:tcPr>
                </a:tc>
                <a:tc>
                  <a:txBody>
                    <a:bodyPr/>
                    <a:lstStyle/>
                    <a:p>
                      <a:pPr indent="0" lvl="0" marL="106679" marR="0" rtl="0" algn="l">
                        <a:lnSpc>
                          <a:spcPct val="100000"/>
                        </a:lnSpc>
                        <a:spcBef>
                          <a:spcPts val="0"/>
                        </a:spcBef>
                        <a:spcAft>
                          <a:spcPts val="0"/>
                        </a:spcAft>
                        <a:buNone/>
                      </a:pPr>
                      <a:r>
                        <a:rPr lang="en-US" sz="1200" u="none" cap="none" strike="noStrike">
                          <a:latin typeface="Arial"/>
                          <a:ea typeface="Arial"/>
                          <a:cs typeface="Arial"/>
                          <a:sym typeface="Arial"/>
                        </a:rPr>
                        <a:t>3</a:t>
                      </a:r>
                      <a:endParaRPr sz="1200" u="none" cap="none" strike="noStrike">
                        <a:latin typeface="Arial"/>
                        <a:ea typeface="Arial"/>
                        <a:cs typeface="Arial"/>
                        <a:sym typeface="Arial"/>
                      </a:endParaRPr>
                    </a:p>
                  </a:txBody>
                  <a:tcPr marT="53350" marB="0" marR="0" marL="0">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solidFill>
                      <a:srgbClr val="FFFFFF"/>
                    </a:solidFill>
                  </a:tcPr>
                </a:tc>
              </a:tr>
              <a:tr h="182875">
                <a:tc>
                  <a:txBody>
                    <a:bodyPr/>
                    <a:lstStyle/>
                    <a:p>
                      <a:pPr indent="0" lvl="0" marL="240665" marR="0" rtl="0" algn="l">
                        <a:lnSpc>
                          <a:spcPct val="104999"/>
                        </a:lnSpc>
                        <a:spcBef>
                          <a:spcPts val="0"/>
                        </a:spcBef>
                        <a:spcAft>
                          <a:spcPts val="0"/>
                        </a:spcAft>
                        <a:buNone/>
                      </a:pPr>
                      <a:r>
                        <a:rPr lang="en-US" sz="1200" u="none" cap="none" strike="noStrike">
                          <a:latin typeface="Arial"/>
                          <a:ea typeface="Arial"/>
                          <a:cs typeface="Arial"/>
                          <a:sym typeface="Arial"/>
                        </a:rPr>
                        <a:t>address-range 2</a:t>
                      </a:r>
                      <a:endParaRPr sz="12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solidFill>
                      <a:srgbClr val="FFFFFF"/>
                    </a:solidFill>
                  </a:tcPr>
                </a:tc>
                <a:tc>
                  <a:txBody>
                    <a:bodyPr/>
                    <a:lstStyle/>
                    <a:p>
                      <a:pPr indent="0" lvl="0" marL="106679" marR="0" rtl="0" algn="l">
                        <a:lnSpc>
                          <a:spcPct val="104999"/>
                        </a:lnSpc>
                        <a:spcBef>
                          <a:spcPts val="0"/>
                        </a:spcBef>
                        <a:spcAft>
                          <a:spcPts val="0"/>
                        </a:spcAft>
                        <a:buNone/>
                      </a:pPr>
                      <a:r>
                        <a:rPr lang="en-US" sz="1200" u="none" cap="none" strike="noStrike">
                          <a:latin typeface="Arial"/>
                          <a:ea typeface="Arial"/>
                          <a:cs typeface="Arial"/>
                          <a:sym typeface="Arial"/>
                        </a:rPr>
                        <a:t>2</a:t>
                      </a:r>
                      <a:endParaRPr sz="1200" u="none" cap="none" strike="noStrike">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solidFill>
                      <a:srgbClr val="FFFFFF"/>
                    </a:solidFill>
                  </a:tcPr>
                </a:tc>
              </a:tr>
              <a:tr h="182875">
                <a:tc>
                  <a:txBody>
                    <a:bodyPr/>
                    <a:lstStyle/>
                    <a:p>
                      <a:pPr indent="0" lvl="0" marL="240665" marR="0" rtl="0" algn="l">
                        <a:lnSpc>
                          <a:spcPct val="104999"/>
                        </a:lnSpc>
                        <a:spcBef>
                          <a:spcPts val="0"/>
                        </a:spcBef>
                        <a:spcAft>
                          <a:spcPts val="0"/>
                        </a:spcAft>
                        <a:buNone/>
                      </a:pPr>
                      <a:r>
                        <a:rPr lang="en-US" sz="1200" u="none" cap="none" strike="noStrike">
                          <a:latin typeface="Arial"/>
                          <a:ea typeface="Arial"/>
                          <a:cs typeface="Arial"/>
                          <a:sym typeface="Arial"/>
                        </a:rPr>
                        <a:t>address-range 3</a:t>
                      </a:r>
                      <a:endParaRPr sz="12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solidFill>
                      <a:srgbClr val="FFFFFF"/>
                    </a:solidFill>
                  </a:tcPr>
                </a:tc>
                <a:tc>
                  <a:txBody>
                    <a:bodyPr/>
                    <a:lstStyle/>
                    <a:p>
                      <a:pPr indent="0" lvl="0" marL="106679" marR="0" rtl="0" algn="l">
                        <a:lnSpc>
                          <a:spcPct val="104999"/>
                        </a:lnSpc>
                        <a:spcBef>
                          <a:spcPts val="0"/>
                        </a:spcBef>
                        <a:spcAft>
                          <a:spcPts val="0"/>
                        </a:spcAft>
                        <a:buNone/>
                      </a:pPr>
                      <a:r>
                        <a:rPr lang="en-US" sz="1200" u="none" cap="none" strike="noStrike">
                          <a:latin typeface="Arial"/>
                          <a:ea typeface="Arial"/>
                          <a:cs typeface="Arial"/>
                          <a:sym typeface="Arial"/>
                        </a:rPr>
                        <a:t>2</a:t>
                      </a:r>
                      <a:endParaRPr sz="1200" u="none" cap="none" strike="noStrike">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solidFill>
                      <a:srgbClr val="FFFFFF"/>
                    </a:solidFill>
                  </a:tcPr>
                </a:tc>
              </a:tr>
              <a:tr h="194175">
                <a:tc>
                  <a:txBody>
                    <a:bodyPr/>
                    <a:lstStyle/>
                    <a:p>
                      <a:pPr indent="0" lvl="0" marL="240665" marR="0" rtl="0" algn="l">
                        <a:lnSpc>
                          <a:spcPct val="104999"/>
                        </a:lnSpc>
                        <a:spcBef>
                          <a:spcPts val="0"/>
                        </a:spcBef>
                        <a:spcAft>
                          <a:spcPts val="0"/>
                        </a:spcAft>
                        <a:buNone/>
                      </a:pPr>
                      <a:r>
                        <a:rPr lang="en-US" sz="1200" u="none" cap="none" strike="noStrike">
                          <a:latin typeface="Arial"/>
                          <a:ea typeface="Arial"/>
                          <a:cs typeface="Arial"/>
                          <a:sym typeface="Arial"/>
                        </a:rPr>
                        <a:t>address-range 4</a:t>
                      </a:r>
                      <a:endParaRPr sz="12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solidFill>
                      <a:srgbClr val="FFFFFF"/>
                    </a:solidFill>
                  </a:tcPr>
                </a:tc>
                <a:tc>
                  <a:txBody>
                    <a:bodyPr/>
                    <a:lstStyle/>
                    <a:p>
                      <a:pPr indent="0" lvl="0" marL="106679" marR="0" rtl="0" algn="l">
                        <a:lnSpc>
                          <a:spcPct val="104999"/>
                        </a:lnSpc>
                        <a:spcBef>
                          <a:spcPts val="0"/>
                        </a:spcBef>
                        <a:spcAft>
                          <a:spcPts val="0"/>
                        </a:spcAft>
                        <a:buNone/>
                      </a:pPr>
                      <a:r>
                        <a:rPr lang="en-US" sz="1200" u="none" cap="none" strike="noStrike">
                          <a:latin typeface="Arial"/>
                          <a:ea typeface="Arial"/>
                          <a:cs typeface="Arial"/>
                          <a:sym typeface="Arial"/>
                        </a:rPr>
                        <a:t>1</a:t>
                      </a:r>
                      <a:endParaRPr sz="1200" u="none" cap="none" strike="noStrike">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solidFill>
                      <a:srgbClr val="FFFFFF"/>
                    </a:solidFill>
                  </a:tcPr>
                </a:tc>
              </a:tr>
            </a:tbl>
          </a:graphicData>
        </a:graphic>
      </p:graphicFrame>
      <p:grpSp>
        <p:nvGrpSpPr>
          <p:cNvPr id="505" name="Google Shape;505;p28"/>
          <p:cNvGrpSpPr/>
          <p:nvPr/>
        </p:nvGrpSpPr>
        <p:grpSpPr>
          <a:xfrm>
            <a:off x="4363465" y="1876044"/>
            <a:ext cx="3988054" cy="4564506"/>
            <a:chOff x="4363465" y="1876044"/>
            <a:chExt cx="3988054" cy="4564506"/>
          </a:xfrm>
        </p:grpSpPr>
        <p:sp>
          <p:nvSpPr>
            <p:cNvPr id="506" name="Google Shape;506;p28"/>
            <p:cNvSpPr/>
            <p:nvPr/>
          </p:nvSpPr>
          <p:spPr>
            <a:xfrm>
              <a:off x="4974335" y="1876044"/>
              <a:ext cx="273050" cy="241300"/>
            </a:xfrm>
            <a:custGeom>
              <a:rect b="b" l="l" r="r" t="t"/>
              <a:pathLst>
                <a:path extrusionOk="0" h="241300" w="273050">
                  <a:moveTo>
                    <a:pt x="206248" y="0"/>
                  </a:moveTo>
                  <a:lnTo>
                    <a:pt x="66548" y="0"/>
                  </a:lnTo>
                  <a:lnTo>
                    <a:pt x="66548" y="145160"/>
                  </a:lnTo>
                  <a:lnTo>
                    <a:pt x="0" y="145160"/>
                  </a:lnTo>
                  <a:lnTo>
                    <a:pt x="136398" y="240791"/>
                  </a:lnTo>
                  <a:lnTo>
                    <a:pt x="272796" y="145160"/>
                  </a:lnTo>
                  <a:lnTo>
                    <a:pt x="206248" y="145160"/>
                  </a:lnTo>
                  <a:lnTo>
                    <a:pt x="206248"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28"/>
            <p:cNvSpPr/>
            <p:nvPr/>
          </p:nvSpPr>
          <p:spPr>
            <a:xfrm>
              <a:off x="4974335" y="1876044"/>
              <a:ext cx="273050" cy="241300"/>
            </a:xfrm>
            <a:custGeom>
              <a:rect b="b" l="l" r="r" t="t"/>
              <a:pathLst>
                <a:path extrusionOk="0" h="241300" w="273050">
                  <a:moveTo>
                    <a:pt x="206248" y="0"/>
                  </a:moveTo>
                  <a:lnTo>
                    <a:pt x="206248" y="145160"/>
                  </a:lnTo>
                  <a:lnTo>
                    <a:pt x="272796" y="145160"/>
                  </a:lnTo>
                  <a:lnTo>
                    <a:pt x="136398" y="240791"/>
                  </a:lnTo>
                  <a:lnTo>
                    <a:pt x="0" y="145160"/>
                  </a:lnTo>
                  <a:lnTo>
                    <a:pt x="66548" y="145160"/>
                  </a:lnTo>
                  <a:lnTo>
                    <a:pt x="66548" y="0"/>
                  </a:lnTo>
                  <a:lnTo>
                    <a:pt x="206248"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28"/>
            <p:cNvSpPr/>
            <p:nvPr/>
          </p:nvSpPr>
          <p:spPr>
            <a:xfrm>
              <a:off x="4363465" y="4297679"/>
              <a:ext cx="367030" cy="347980"/>
            </a:xfrm>
            <a:custGeom>
              <a:rect b="b" l="l" r="r" t="t"/>
              <a:pathLst>
                <a:path extrusionOk="0" h="347979" w="367029">
                  <a:moveTo>
                    <a:pt x="307281" y="299779"/>
                  </a:moveTo>
                  <a:lnTo>
                    <a:pt x="285496" y="322834"/>
                  </a:lnTo>
                  <a:lnTo>
                    <a:pt x="367030" y="347472"/>
                  </a:lnTo>
                  <a:lnTo>
                    <a:pt x="352795" y="308483"/>
                  </a:lnTo>
                  <a:lnTo>
                    <a:pt x="316484" y="308483"/>
                  </a:lnTo>
                  <a:lnTo>
                    <a:pt x="307281" y="299779"/>
                  </a:lnTo>
                  <a:close/>
                </a:path>
                <a:path extrusionOk="0" h="347979" w="367029">
                  <a:moveTo>
                    <a:pt x="316039" y="290510"/>
                  </a:moveTo>
                  <a:lnTo>
                    <a:pt x="307281" y="299779"/>
                  </a:lnTo>
                  <a:lnTo>
                    <a:pt x="316484" y="308483"/>
                  </a:lnTo>
                  <a:lnTo>
                    <a:pt x="325247" y="299212"/>
                  </a:lnTo>
                  <a:lnTo>
                    <a:pt x="316039" y="290510"/>
                  </a:lnTo>
                  <a:close/>
                </a:path>
                <a:path extrusionOk="0" h="347979" w="367029">
                  <a:moveTo>
                    <a:pt x="337820" y="267462"/>
                  </a:moveTo>
                  <a:lnTo>
                    <a:pt x="316039" y="290510"/>
                  </a:lnTo>
                  <a:lnTo>
                    <a:pt x="325247" y="299212"/>
                  </a:lnTo>
                  <a:lnTo>
                    <a:pt x="316484" y="308483"/>
                  </a:lnTo>
                  <a:lnTo>
                    <a:pt x="352795" y="308483"/>
                  </a:lnTo>
                  <a:lnTo>
                    <a:pt x="337820" y="267462"/>
                  </a:lnTo>
                  <a:close/>
                </a:path>
                <a:path extrusionOk="0" h="347979" w="367029">
                  <a:moveTo>
                    <a:pt x="8636" y="0"/>
                  </a:moveTo>
                  <a:lnTo>
                    <a:pt x="0" y="9144"/>
                  </a:lnTo>
                  <a:lnTo>
                    <a:pt x="307281" y="299779"/>
                  </a:lnTo>
                  <a:lnTo>
                    <a:pt x="316039" y="290510"/>
                  </a:lnTo>
                  <a:lnTo>
                    <a:pt x="863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28"/>
            <p:cNvSpPr/>
            <p:nvPr/>
          </p:nvSpPr>
          <p:spPr>
            <a:xfrm>
              <a:off x="5438139" y="4772025"/>
              <a:ext cx="882015" cy="286385"/>
            </a:xfrm>
            <a:custGeom>
              <a:rect b="b" l="l" r="r" t="t"/>
              <a:pathLst>
                <a:path extrusionOk="0" h="286385" w="882014">
                  <a:moveTo>
                    <a:pt x="727572" y="200924"/>
                  </a:moveTo>
                  <a:lnTo>
                    <a:pt x="692023" y="245237"/>
                  </a:lnTo>
                  <a:lnTo>
                    <a:pt x="881888" y="286131"/>
                  </a:lnTo>
                  <a:lnTo>
                    <a:pt x="850922" y="218820"/>
                  </a:lnTo>
                  <a:lnTo>
                    <a:pt x="751713" y="218820"/>
                  </a:lnTo>
                  <a:lnTo>
                    <a:pt x="727572" y="200924"/>
                  </a:lnTo>
                  <a:close/>
                </a:path>
                <a:path extrusionOk="0" h="286385" w="882014">
                  <a:moveTo>
                    <a:pt x="763767" y="155807"/>
                  </a:moveTo>
                  <a:lnTo>
                    <a:pt x="727572" y="200924"/>
                  </a:lnTo>
                  <a:lnTo>
                    <a:pt x="751713" y="218820"/>
                  </a:lnTo>
                  <a:lnTo>
                    <a:pt x="786130" y="172338"/>
                  </a:lnTo>
                  <a:lnTo>
                    <a:pt x="763767" y="155807"/>
                  </a:lnTo>
                  <a:close/>
                </a:path>
                <a:path extrusionOk="0" h="286385" w="882014">
                  <a:moveTo>
                    <a:pt x="800735" y="109727"/>
                  </a:moveTo>
                  <a:lnTo>
                    <a:pt x="763767" y="155807"/>
                  </a:lnTo>
                  <a:lnTo>
                    <a:pt x="786130" y="172338"/>
                  </a:lnTo>
                  <a:lnTo>
                    <a:pt x="751713" y="218820"/>
                  </a:lnTo>
                  <a:lnTo>
                    <a:pt x="850922" y="218820"/>
                  </a:lnTo>
                  <a:lnTo>
                    <a:pt x="800735" y="109727"/>
                  </a:lnTo>
                  <a:close/>
                </a:path>
                <a:path extrusionOk="0" h="286385" w="882014">
                  <a:moveTo>
                    <a:pt x="591540" y="57912"/>
                  </a:moveTo>
                  <a:lnTo>
                    <a:pt x="167132" y="57912"/>
                  </a:lnTo>
                  <a:lnTo>
                    <a:pt x="201168" y="58038"/>
                  </a:lnTo>
                  <a:lnTo>
                    <a:pt x="235331" y="58800"/>
                  </a:lnTo>
                  <a:lnTo>
                    <a:pt x="303022" y="61849"/>
                  </a:lnTo>
                  <a:lnTo>
                    <a:pt x="368554" y="67182"/>
                  </a:lnTo>
                  <a:lnTo>
                    <a:pt x="429768" y="74930"/>
                  </a:lnTo>
                  <a:lnTo>
                    <a:pt x="485394" y="84708"/>
                  </a:lnTo>
                  <a:lnTo>
                    <a:pt x="535559" y="98425"/>
                  </a:lnTo>
                  <a:lnTo>
                    <a:pt x="586486" y="118618"/>
                  </a:lnTo>
                  <a:lnTo>
                    <a:pt x="636397" y="143129"/>
                  </a:lnTo>
                  <a:lnTo>
                    <a:pt x="684402" y="171195"/>
                  </a:lnTo>
                  <a:lnTo>
                    <a:pt x="727572" y="200924"/>
                  </a:lnTo>
                  <a:lnTo>
                    <a:pt x="763767" y="155807"/>
                  </a:lnTo>
                  <a:lnTo>
                    <a:pt x="714375" y="121666"/>
                  </a:lnTo>
                  <a:lnTo>
                    <a:pt x="662939" y="91693"/>
                  </a:lnTo>
                  <a:lnTo>
                    <a:pt x="608964" y="65277"/>
                  </a:lnTo>
                  <a:lnTo>
                    <a:pt x="591540" y="57912"/>
                  </a:lnTo>
                  <a:close/>
                </a:path>
                <a:path extrusionOk="0" h="286385" w="882014">
                  <a:moveTo>
                    <a:pt x="166370" y="0"/>
                  </a:moveTo>
                  <a:lnTo>
                    <a:pt x="97409" y="1524"/>
                  </a:lnTo>
                  <a:lnTo>
                    <a:pt x="30987" y="5333"/>
                  </a:lnTo>
                  <a:lnTo>
                    <a:pt x="0" y="8000"/>
                  </a:lnTo>
                  <a:lnTo>
                    <a:pt x="5080" y="65658"/>
                  </a:lnTo>
                  <a:lnTo>
                    <a:pt x="35940" y="62992"/>
                  </a:lnTo>
                  <a:lnTo>
                    <a:pt x="67690" y="60832"/>
                  </a:lnTo>
                  <a:lnTo>
                    <a:pt x="100075" y="59436"/>
                  </a:lnTo>
                  <a:lnTo>
                    <a:pt x="133350" y="58419"/>
                  </a:lnTo>
                  <a:lnTo>
                    <a:pt x="167132" y="57912"/>
                  </a:lnTo>
                  <a:lnTo>
                    <a:pt x="591540" y="57912"/>
                  </a:lnTo>
                  <a:lnTo>
                    <a:pt x="581025" y="53467"/>
                  </a:lnTo>
                  <a:lnTo>
                    <a:pt x="523367" y="34036"/>
                  </a:lnTo>
                  <a:lnTo>
                    <a:pt x="467740" y="22351"/>
                  </a:lnTo>
                  <a:lnTo>
                    <a:pt x="406273" y="13207"/>
                  </a:lnTo>
                  <a:lnTo>
                    <a:pt x="340360" y="6604"/>
                  </a:lnTo>
                  <a:lnTo>
                    <a:pt x="271652" y="2158"/>
                  </a:lnTo>
                  <a:lnTo>
                    <a:pt x="201549" y="126"/>
                  </a:lnTo>
                  <a:lnTo>
                    <a:pt x="166370" y="0"/>
                  </a:lnTo>
                  <a:close/>
                </a:path>
              </a:pathLst>
            </a:custGeom>
            <a:solidFill>
              <a:srgbClr val="FF33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8"/>
            <p:cNvSpPr/>
            <p:nvPr/>
          </p:nvSpPr>
          <p:spPr>
            <a:xfrm>
              <a:off x="7773923" y="4355592"/>
              <a:ext cx="577596" cy="363630"/>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8"/>
            <p:cNvSpPr/>
            <p:nvPr/>
          </p:nvSpPr>
          <p:spPr>
            <a:xfrm>
              <a:off x="6765035" y="4082795"/>
              <a:ext cx="577596" cy="363630"/>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28"/>
            <p:cNvSpPr/>
            <p:nvPr/>
          </p:nvSpPr>
          <p:spPr>
            <a:xfrm>
              <a:off x="7432547" y="5637909"/>
              <a:ext cx="542544" cy="363602"/>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8"/>
            <p:cNvSpPr/>
            <p:nvPr/>
          </p:nvSpPr>
          <p:spPr>
            <a:xfrm>
              <a:off x="6083807" y="5621145"/>
              <a:ext cx="542543" cy="363602"/>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28"/>
            <p:cNvSpPr/>
            <p:nvPr/>
          </p:nvSpPr>
          <p:spPr>
            <a:xfrm>
              <a:off x="6722363" y="5331835"/>
              <a:ext cx="544067" cy="442600"/>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8"/>
            <p:cNvSpPr/>
            <p:nvPr/>
          </p:nvSpPr>
          <p:spPr>
            <a:xfrm>
              <a:off x="6772655" y="3639311"/>
              <a:ext cx="550545" cy="451484"/>
            </a:xfrm>
            <a:custGeom>
              <a:rect b="b" l="l" r="r" t="t"/>
              <a:pathLst>
                <a:path extrusionOk="0" h="451485" w="550545">
                  <a:moveTo>
                    <a:pt x="550164" y="0"/>
                  </a:moveTo>
                  <a:lnTo>
                    <a:pt x="0" y="0"/>
                  </a:lnTo>
                  <a:lnTo>
                    <a:pt x="0" y="451104"/>
                  </a:lnTo>
                  <a:lnTo>
                    <a:pt x="550164" y="451104"/>
                  </a:lnTo>
                  <a:lnTo>
                    <a:pt x="550164"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8"/>
            <p:cNvSpPr/>
            <p:nvPr/>
          </p:nvSpPr>
          <p:spPr>
            <a:xfrm>
              <a:off x="6772655" y="3639311"/>
              <a:ext cx="550545" cy="451484"/>
            </a:xfrm>
            <a:custGeom>
              <a:rect b="b" l="l" r="r" t="t"/>
              <a:pathLst>
                <a:path extrusionOk="0" h="451485" w="550545">
                  <a:moveTo>
                    <a:pt x="0" y="451104"/>
                  </a:moveTo>
                  <a:lnTo>
                    <a:pt x="550164" y="451104"/>
                  </a:lnTo>
                  <a:lnTo>
                    <a:pt x="550164" y="0"/>
                  </a:lnTo>
                  <a:lnTo>
                    <a:pt x="0" y="0"/>
                  </a:lnTo>
                  <a:lnTo>
                    <a:pt x="0" y="45110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8"/>
            <p:cNvSpPr/>
            <p:nvPr/>
          </p:nvSpPr>
          <p:spPr>
            <a:xfrm>
              <a:off x="6803135" y="3648455"/>
              <a:ext cx="498475" cy="117475"/>
            </a:xfrm>
            <a:custGeom>
              <a:rect b="b" l="l" r="r" t="t"/>
              <a:pathLst>
                <a:path extrusionOk="0" h="117475" w="498475">
                  <a:moveTo>
                    <a:pt x="249174" y="0"/>
                  </a:moveTo>
                  <a:lnTo>
                    <a:pt x="182915" y="2097"/>
                  </a:lnTo>
                  <a:lnTo>
                    <a:pt x="123387" y="8015"/>
                  </a:lnTo>
                  <a:lnTo>
                    <a:pt x="72961" y="17192"/>
                  </a:lnTo>
                  <a:lnTo>
                    <a:pt x="34007" y="29068"/>
                  </a:lnTo>
                  <a:lnTo>
                    <a:pt x="0" y="58674"/>
                  </a:lnTo>
                  <a:lnTo>
                    <a:pt x="8897" y="74265"/>
                  </a:lnTo>
                  <a:lnTo>
                    <a:pt x="72961" y="100155"/>
                  </a:lnTo>
                  <a:lnTo>
                    <a:pt x="123387" y="109332"/>
                  </a:lnTo>
                  <a:lnTo>
                    <a:pt x="182915" y="115250"/>
                  </a:lnTo>
                  <a:lnTo>
                    <a:pt x="249174" y="117348"/>
                  </a:lnTo>
                  <a:lnTo>
                    <a:pt x="315432" y="115250"/>
                  </a:lnTo>
                  <a:lnTo>
                    <a:pt x="374960" y="109332"/>
                  </a:lnTo>
                  <a:lnTo>
                    <a:pt x="425386" y="100155"/>
                  </a:lnTo>
                  <a:lnTo>
                    <a:pt x="464340" y="88279"/>
                  </a:lnTo>
                  <a:lnTo>
                    <a:pt x="498348" y="58674"/>
                  </a:lnTo>
                  <a:lnTo>
                    <a:pt x="489450" y="43082"/>
                  </a:lnTo>
                  <a:lnTo>
                    <a:pt x="425386" y="17192"/>
                  </a:lnTo>
                  <a:lnTo>
                    <a:pt x="374960" y="8015"/>
                  </a:lnTo>
                  <a:lnTo>
                    <a:pt x="315432" y="2097"/>
                  </a:lnTo>
                  <a:lnTo>
                    <a:pt x="24917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28"/>
            <p:cNvSpPr/>
            <p:nvPr/>
          </p:nvSpPr>
          <p:spPr>
            <a:xfrm>
              <a:off x="6803135" y="3648455"/>
              <a:ext cx="498475" cy="117475"/>
            </a:xfrm>
            <a:custGeom>
              <a:rect b="b" l="l" r="r" t="t"/>
              <a:pathLst>
                <a:path extrusionOk="0" h="117475" w="498475">
                  <a:moveTo>
                    <a:pt x="0" y="58674"/>
                  </a:moveTo>
                  <a:lnTo>
                    <a:pt x="34007" y="29068"/>
                  </a:lnTo>
                  <a:lnTo>
                    <a:pt x="72961" y="17192"/>
                  </a:lnTo>
                  <a:lnTo>
                    <a:pt x="123387" y="8015"/>
                  </a:lnTo>
                  <a:lnTo>
                    <a:pt x="182915" y="2097"/>
                  </a:lnTo>
                  <a:lnTo>
                    <a:pt x="249174" y="0"/>
                  </a:lnTo>
                  <a:lnTo>
                    <a:pt x="315432" y="2097"/>
                  </a:lnTo>
                  <a:lnTo>
                    <a:pt x="374960" y="8015"/>
                  </a:lnTo>
                  <a:lnTo>
                    <a:pt x="425386" y="17192"/>
                  </a:lnTo>
                  <a:lnTo>
                    <a:pt x="464340" y="29068"/>
                  </a:lnTo>
                  <a:lnTo>
                    <a:pt x="498348" y="58674"/>
                  </a:lnTo>
                  <a:lnTo>
                    <a:pt x="489450" y="74265"/>
                  </a:lnTo>
                  <a:lnTo>
                    <a:pt x="425386" y="100155"/>
                  </a:lnTo>
                  <a:lnTo>
                    <a:pt x="374960" y="109332"/>
                  </a:lnTo>
                  <a:lnTo>
                    <a:pt x="315432" y="115250"/>
                  </a:lnTo>
                  <a:lnTo>
                    <a:pt x="249174" y="117348"/>
                  </a:lnTo>
                  <a:lnTo>
                    <a:pt x="182915" y="115250"/>
                  </a:lnTo>
                  <a:lnTo>
                    <a:pt x="123387" y="109332"/>
                  </a:lnTo>
                  <a:lnTo>
                    <a:pt x="72961" y="100155"/>
                  </a:lnTo>
                  <a:lnTo>
                    <a:pt x="34007" y="88279"/>
                  </a:lnTo>
                  <a:lnTo>
                    <a:pt x="0" y="5867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28"/>
            <p:cNvSpPr/>
            <p:nvPr/>
          </p:nvSpPr>
          <p:spPr>
            <a:xfrm>
              <a:off x="6815327" y="3823716"/>
              <a:ext cx="475615" cy="248920"/>
            </a:xfrm>
            <a:custGeom>
              <a:rect b="b" l="l" r="r" t="t"/>
              <a:pathLst>
                <a:path extrusionOk="0" h="248920" w="475615">
                  <a:moveTo>
                    <a:pt x="475487" y="0"/>
                  </a:moveTo>
                  <a:lnTo>
                    <a:pt x="0" y="0"/>
                  </a:lnTo>
                  <a:lnTo>
                    <a:pt x="0" y="248412"/>
                  </a:lnTo>
                  <a:lnTo>
                    <a:pt x="475487" y="248412"/>
                  </a:lnTo>
                  <a:lnTo>
                    <a:pt x="475487"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28"/>
            <p:cNvSpPr/>
            <p:nvPr/>
          </p:nvSpPr>
          <p:spPr>
            <a:xfrm>
              <a:off x="6815327" y="3823716"/>
              <a:ext cx="475615" cy="248920"/>
            </a:xfrm>
            <a:custGeom>
              <a:rect b="b" l="l" r="r" t="t"/>
              <a:pathLst>
                <a:path extrusionOk="0" h="248920" w="475615">
                  <a:moveTo>
                    <a:pt x="0" y="248412"/>
                  </a:moveTo>
                  <a:lnTo>
                    <a:pt x="475487" y="248412"/>
                  </a:lnTo>
                  <a:lnTo>
                    <a:pt x="475487" y="0"/>
                  </a:lnTo>
                  <a:lnTo>
                    <a:pt x="0" y="0"/>
                  </a:lnTo>
                  <a:lnTo>
                    <a:pt x="0" y="248412"/>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28"/>
            <p:cNvSpPr/>
            <p:nvPr/>
          </p:nvSpPr>
          <p:spPr>
            <a:xfrm>
              <a:off x="6813803" y="3864864"/>
              <a:ext cx="477520" cy="207645"/>
            </a:xfrm>
            <a:custGeom>
              <a:rect b="b" l="l" r="r" t="t"/>
              <a:pathLst>
                <a:path extrusionOk="0" h="207645" w="477520">
                  <a:moveTo>
                    <a:pt x="269748" y="0"/>
                  </a:moveTo>
                  <a:lnTo>
                    <a:pt x="271272" y="207263"/>
                  </a:lnTo>
                </a:path>
                <a:path extrusionOk="0" h="207645" w="477520">
                  <a:moveTo>
                    <a:pt x="1524" y="50292"/>
                  </a:moveTo>
                  <a:lnTo>
                    <a:pt x="477012" y="50292"/>
                  </a:lnTo>
                </a:path>
                <a:path extrusionOk="0" h="207645" w="477520">
                  <a:moveTo>
                    <a:pt x="0" y="3048"/>
                  </a:moveTo>
                  <a:lnTo>
                    <a:pt x="475488" y="304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8"/>
            <p:cNvSpPr/>
            <p:nvPr/>
          </p:nvSpPr>
          <p:spPr>
            <a:xfrm>
              <a:off x="7024115" y="3770376"/>
              <a:ext cx="66040" cy="45720"/>
            </a:xfrm>
            <a:custGeom>
              <a:rect b="b" l="l" r="r" t="t"/>
              <a:pathLst>
                <a:path extrusionOk="0" h="45720" w="66040">
                  <a:moveTo>
                    <a:pt x="49529" y="0"/>
                  </a:moveTo>
                  <a:lnTo>
                    <a:pt x="16001" y="0"/>
                  </a:lnTo>
                  <a:lnTo>
                    <a:pt x="16001" y="27559"/>
                  </a:lnTo>
                  <a:lnTo>
                    <a:pt x="0" y="27559"/>
                  </a:lnTo>
                  <a:lnTo>
                    <a:pt x="32765" y="45719"/>
                  </a:lnTo>
                  <a:lnTo>
                    <a:pt x="65531" y="27559"/>
                  </a:lnTo>
                  <a:lnTo>
                    <a:pt x="49529" y="27559"/>
                  </a:lnTo>
                  <a:lnTo>
                    <a:pt x="49529"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28"/>
            <p:cNvSpPr/>
            <p:nvPr/>
          </p:nvSpPr>
          <p:spPr>
            <a:xfrm>
              <a:off x="7024115" y="3770376"/>
              <a:ext cx="66040" cy="45720"/>
            </a:xfrm>
            <a:custGeom>
              <a:rect b="b" l="l" r="r" t="t"/>
              <a:pathLst>
                <a:path extrusionOk="0" h="45720" w="66040">
                  <a:moveTo>
                    <a:pt x="49529" y="0"/>
                  </a:moveTo>
                  <a:lnTo>
                    <a:pt x="49529" y="27559"/>
                  </a:lnTo>
                  <a:lnTo>
                    <a:pt x="65531" y="27559"/>
                  </a:lnTo>
                  <a:lnTo>
                    <a:pt x="32765" y="45719"/>
                  </a:lnTo>
                  <a:lnTo>
                    <a:pt x="0" y="27559"/>
                  </a:lnTo>
                  <a:lnTo>
                    <a:pt x="16001" y="27559"/>
                  </a:lnTo>
                  <a:lnTo>
                    <a:pt x="16001" y="0"/>
                  </a:lnTo>
                  <a:lnTo>
                    <a:pt x="4952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8"/>
            <p:cNvSpPr/>
            <p:nvPr/>
          </p:nvSpPr>
          <p:spPr>
            <a:xfrm>
              <a:off x="7784591" y="3912107"/>
              <a:ext cx="551815" cy="452755"/>
            </a:xfrm>
            <a:custGeom>
              <a:rect b="b" l="l" r="r" t="t"/>
              <a:pathLst>
                <a:path extrusionOk="0" h="452754" w="551815">
                  <a:moveTo>
                    <a:pt x="551688" y="0"/>
                  </a:moveTo>
                  <a:lnTo>
                    <a:pt x="0" y="0"/>
                  </a:lnTo>
                  <a:lnTo>
                    <a:pt x="0" y="452627"/>
                  </a:lnTo>
                  <a:lnTo>
                    <a:pt x="551688" y="452627"/>
                  </a:lnTo>
                  <a:lnTo>
                    <a:pt x="551688"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28"/>
            <p:cNvSpPr/>
            <p:nvPr/>
          </p:nvSpPr>
          <p:spPr>
            <a:xfrm>
              <a:off x="7784591" y="3912107"/>
              <a:ext cx="551815" cy="452755"/>
            </a:xfrm>
            <a:custGeom>
              <a:rect b="b" l="l" r="r" t="t"/>
              <a:pathLst>
                <a:path extrusionOk="0" h="452754" w="551815">
                  <a:moveTo>
                    <a:pt x="0" y="452627"/>
                  </a:moveTo>
                  <a:lnTo>
                    <a:pt x="551688" y="452627"/>
                  </a:lnTo>
                  <a:lnTo>
                    <a:pt x="551688" y="0"/>
                  </a:lnTo>
                  <a:lnTo>
                    <a:pt x="0" y="0"/>
                  </a:lnTo>
                  <a:lnTo>
                    <a:pt x="0" y="4526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8"/>
            <p:cNvSpPr/>
            <p:nvPr/>
          </p:nvSpPr>
          <p:spPr>
            <a:xfrm>
              <a:off x="7815071" y="3921251"/>
              <a:ext cx="498475" cy="117475"/>
            </a:xfrm>
            <a:custGeom>
              <a:rect b="b" l="l" r="r" t="t"/>
              <a:pathLst>
                <a:path extrusionOk="0" h="117475" w="498475">
                  <a:moveTo>
                    <a:pt x="249174" y="0"/>
                  </a:moveTo>
                  <a:lnTo>
                    <a:pt x="182915" y="2097"/>
                  </a:lnTo>
                  <a:lnTo>
                    <a:pt x="123387" y="8015"/>
                  </a:lnTo>
                  <a:lnTo>
                    <a:pt x="72961" y="17192"/>
                  </a:lnTo>
                  <a:lnTo>
                    <a:pt x="34007" y="29068"/>
                  </a:lnTo>
                  <a:lnTo>
                    <a:pt x="0" y="58674"/>
                  </a:lnTo>
                  <a:lnTo>
                    <a:pt x="8897" y="74265"/>
                  </a:lnTo>
                  <a:lnTo>
                    <a:pt x="72961" y="100155"/>
                  </a:lnTo>
                  <a:lnTo>
                    <a:pt x="123387" y="109332"/>
                  </a:lnTo>
                  <a:lnTo>
                    <a:pt x="182915" y="115250"/>
                  </a:lnTo>
                  <a:lnTo>
                    <a:pt x="249174" y="117348"/>
                  </a:lnTo>
                  <a:lnTo>
                    <a:pt x="315432" y="115250"/>
                  </a:lnTo>
                  <a:lnTo>
                    <a:pt x="374960" y="109332"/>
                  </a:lnTo>
                  <a:lnTo>
                    <a:pt x="425386" y="100155"/>
                  </a:lnTo>
                  <a:lnTo>
                    <a:pt x="464340" y="88279"/>
                  </a:lnTo>
                  <a:lnTo>
                    <a:pt x="498348" y="58674"/>
                  </a:lnTo>
                  <a:lnTo>
                    <a:pt x="489450" y="43082"/>
                  </a:lnTo>
                  <a:lnTo>
                    <a:pt x="425386" y="17192"/>
                  </a:lnTo>
                  <a:lnTo>
                    <a:pt x="374960" y="8015"/>
                  </a:lnTo>
                  <a:lnTo>
                    <a:pt x="315432" y="2097"/>
                  </a:lnTo>
                  <a:lnTo>
                    <a:pt x="24917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8"/>
            <p:cNvSpPr/>
            <p:nvPr/>
          </p:nvSpPr>
          <p:spPr>
            <a:xfrm>
              <a:off x="7815071" y="3921251"/>
              <a:ext cx="498475" cy="117475"/>
            </a:xfrm>
            <a:custGeom>
              <a:rect b="b" l="l" r="r" t="t"/>
              <a:pathLst>
                <a:path extrusionOk="0" h="117475" w="498475">
                  <a:moveTo>
                    <a:pt x="0" y="58674"/>
                  </a:moveTo>
                  <a:lnTo>
                    <a:pt x="34007" y="29068"/>
                  </a:lnTo>
                  <a:lnTo>
                    <a:pt x="72961" y="17192"/>
                  </a:lnTo>
                  <a:lnTo>
                    <a:pt x="123387" y="8015"/>
                  </a:lnTo>
                  <a:lnTo>
                    <a:pt x="182915" y="2097"/>
                  </a:lnTo>
                  <a:lnTo>
                    <a:pt x="249174" y="0"/>
                  </a:lnTo>
                  <a:lnTo>
                    <a:pt x="315432" y="2097"/>
                  </a:lnTo>
                  <a:lnTo>
                    <a:pt x="374960" y="8015"/>
                  </a:lnTo>
                  <a:lnTo>
                    <a:pt x="425386" y="17192"/>
                  </a:lnTo>
                  <a:lnTo>
                    <a:pt x="464340" y="29068"/>
                  </a:lnTo>
                  <a:lnTo>
                    <a:pt x="498348" y="58674"/>
                  </a:lnTo>
                  <a:lnTo>
                    <a:pt x="489450" y="74265"/>
                  </a:lnTo>
                  <a:lnTo>
                    <a:pt x="425386" y="100155"/>
                  </a:lnTo>
                  <a:lnTo>
                    <a:pt x="374960" y="109332"/>
                  </a:lnTo>
                  <a:lnTo>
                    <a:pt x="315432" y="115250"/>
                  </a:lnTo>
                  <a:lnTo>
                    <a:pt x="249174" y="117348"/>
                  </a:lnTo>
                  <a:lnTo>
                    <a:pt x="182915" y="115250"/>
                  </a:lnTo>
                  <a:lnTo>
                    <a:pt x="123387" y="109332"/>
                  </a:lnTo>
                  <a:lnTo>
                    <a:pt x="72961" y="100155"/>
                  </a:lnTo>
                  <a:lnTo>
                    <a:pt x="34007" y="88279"/>
                  </a:lnTo>
                  <a:lnTo>
                    <a:pt x="0" y="5867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28"/>
            <p:cNvSpPr/>
            <p:nvPr/>
          </p:nvSpPr>
          <p:spPr>
            <a:xfrm>
              <a:off x="7827263" y="4098036"/>
              <a:ext cx="477520" cy="247015"/>
            </a:xfrm>
            <a:custGeom>
              <a:rect b="b" l="l" r="r" t="t"/>
              <a:pathLst>
                <a:path extrusionOk="0" h="247014" w="477520">
                  <a:moveTo>
                    <a:pt x="477012" y="0"/>
                  </a:moveTo>
                  <a:lnTo>
                    <a:pt x="0" y="0"/>
                  </a:lnTo>
                  <a:lnTo>
                    <a:pt x="0" y="246887"/>
                  </a:lnTo>
                  <a:lnTo>
                    <a:pt x="477012" y="246887"/>
                  </a:lnTo>
                  <a:lnTo>
                    <a:pt x="47701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8"/>
            <p:cNvSpPr/>
            <p:nvPr/>
          </p:nvSpPr>
          <p:spPr>
            <a:xfrm>
              <a:off x="7827263" y="4098036"/>
              <a:ext cx="477520" cy="247015"/>
            </a:xfrm>
            <a:custGeom>
              <a:rect b="b" l="l" r="r" t="t"/>
              <a:pathLst>
                <a:path extrusionOk="0" h="247014" w="477520">
                  <a:moveTo>
                    <a:pt x="0" y="246887"/>
                  </a:moveTo>
                  <a:lnTo>
                    <a:pt x="477012" y="246887"/>
                  </a:lnTo>
                  <a:lnTo>
                    <a:pt x="477012" y="0"/>
                  </a:lnTo>
                  <a:lnTo>
                    <a:pt x="0" y="0"/>
                  </a:lnTo>
                  <a:lnTo>
                    <a:pt x="0" y="24688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8"/>
            <p:cNvSpPr/>
            <p:nvPr/>
          </p:nvSpPr>
          <p:spPr>
            <a:xfrm>
              <a:off x="7825739" y="4139183"/>
              <a:ext cx="478790" cy="205740"/>
            </a:xfrm>
            <a:custGeom>
              <a:rect b="b" l="l" r="r" t="t"/>
              <a:pathLst>
                <a:path extrusionOk="0" h="205739" w="478790">
                  <a:moveTo>
                    <a:pt x="271271" y="0"/>
                  </a:moveTo>
                  <a:lnTo>
                    <a:pt x="272795" y="205740"/>
                  </a:lnTo>
                </a:path>
                <a:path extrusionOk="0" h="205739" w="478790">
                  <a:moveTo>
                    <a:pt x="1524" y="48768"/>
                  </a:moveTo>
                  <a:lnTo>
                    <a:pt x="478535" y="48768"/>
                  </a:lnTo>
                </a:path>
                <a:path extrusionOk="0" h="205739" w="478790">
                  <a:moveTo>
                    <a:pt x="0" y="1524"/>
                  </a:moveTo>
                  <a:lnTo>
                    <a:pt x="477011" y="1524"/>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28"/>
            <p:cNvSpPr/>
            <p:nvPr/>
          </p:nvSpPr>
          <p:spPr>
            <a:xfrm>
              <a:off x="8037575" y="4043172"/>
              <a:ext cx="66040" cy="45720"/>
            </a:xfrm>
            <a:custGeom>
              <a:rect b="b" l="l" r="r" t="t"/>
              <a:pathLst>
                <a:path extrusionOk="0" h="45720" w="66040">
                  <a:moveTo>
                    <a:pt x="49529" y="0"/>
                  </a:moveTo>
                  <a:lnTo>
                    <a:pt x="16001" y="0"/>
                  </a:lnTo>
                  <a:lnTo>
                    <a:pt x="16001" y="27558"/>
                  </a:lnTo>
                  <a:lnTo>
                    <a:pt x="0" y="27558"/>
                  </a:lnTo>
                  <a:lnTo>
                    <a:pt x="32766" y="45719"/>
                  </a:lnTo>
                  <a:lnTo>
                    <a:pt x="65531" y="27558"/>
                  </a:lnTo>
                  <a:lnTo>
                    <a:pt x="49529" y="27558"/>
                  </a:lnTo>
                  <a:lnTo>
                    <a:pt x="49529"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8"/>
            <p:cNvSpPr/>
            <p:nvPr/>
          </p:nvSpPr>
          <p:spPr>
            <a:xfrm>
              <a:off x="8037575" y="4043172"/>
              <a:ext cx="66040" cy="45720"/>
            </a:xfrm>
            <a:custGeom>
              <a:rect b="b" l="l" r="r" t="t"/>
              <a:pathLst>
                <a:path extrusionOk="0" h="45720" w="66040">
                  <a:moveTo>
                    <a:pt x="49529" y="0"/>
                  </a:moveTo>
                  <a:lnTo>
                    <a:pt x="49529" y="27558"/>
                  </a:lnTo>
                  <a:lnTo>
                    <a:pt x="65531" y="27558"/>
                  </a:lnTo>
                  <a:lnTo>
                    <a:pt x="32766" y="45719"/>
                  </a:lnTo>
                  <a:lnTo>
                    <a:pt x="0" y="27558"/>
                  </a:lnTo>
                  <a:lnTo>
                    <a:pt x="16001" y="27558"/>
                  </a:lnTo>
                  <a:lnTo>
                    <a:pt x="16001" y="0"/>
                  </a:lnTo>
                  <a:lnTo>
                    <a:pt x="4952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28"/>
            <p:cNvSpPr/>
            <p:nvPr/>
          </p:nvSpPr>
          <p:spPr>
            <a:xfrm>
              <a:off x="7415783" y="5987795"/>
              <a:ext cx="550545" cy="452755"/>
            </a:xfrm>
            <a:custGeom>
              <a:rect b="b" l="l" r="r" t="t"/>
              <a:pathLst>
                <a:path extrusionOk="0" h="452754" w="550545">
                  <a:moveTo>
                    <a:pt x="550164" y="0"/>
                  </a:moveTo>
                  <a:lnTo>
                    <a:pt x="0" y="0"/>
                  </a:lnTo>
                  <a:lnTo>
                    <a:pt x="0" y="452627"/>
                  </a:lnTo>
                  <a:lnTo>
                    <a:pt x="550164" y="452627"/>
                  </a:lnTo>
                  <a:lnTo>
                    <a:pt x="550164"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28"/>
            <p:cNvSpPr/>
            <p:nvPr/>
          </p:nvSpPr>
          <p:spPr>
            <a:xfrm>
              <a:off x="7415783" y="5987795"/>
              <a:ext cx="550545" cy="452755"/>
            </a:xfrm>
            <a:custGeom>
              <a:rect b="b" l="l" r="r" t="t"/>
              <a:pathLst>
                <a:path extrusionOk="0" h="452754" w="550545">
                  <a:moveTo>
                    <a:pt x="0" y="452627"/>
                  </a:moveTo>
                  <a:lnTo>
                    <a:pt x="550164" y="452627"/>
                  </a:lnTo>
                  <a:lnTo>
                    <a:pt x="550164" y="0"/>
                  </a:lnTo>
                  <a:lnTo>
                    <a:pt x="0" y="0"/>
                  </a:lnTo>
                  <a:lnTo>
                    <a:pt x="0" y="452627"/>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8"/>
            <p:cNvSpPr/>
            <p:nvPr/>
          </p:nvSpPr>
          <p:spPr>
            <a:xfrm>
              <a:off x="7444739" y="5996939"/>
              <a:ext cx="500380" cy="119380"/>
            </a:xfrm>
            <a:custGeom>
              <a:rect b="b" l="l" r="r" t="t"/>
              <a:pathLst>
                <a:path extrusionOk="0" h="119379" w="500379">
                  <a:moveTo>
                    <a:pt x="249935" y="0"/>
                  </a:moveTo>
                  <a:lnTo>
                    <a:pt x="183488" y="2122"/>
                  </a:lnTo>
                  <a:lnTo>
                    <a:pt x="123782" y="8113"/>
                  </a:lnTo>
                  <a:lnTo>
                    <a:pt x="73199" y="17406"/>
                  </a:lnTo>
                  <a:lnTo>
                    <a:pt x="34120" y="29435"/>
                  </a:lnTo>
                  <a:lnTo>
                    <a:pt x="0" y="59436"/>
                  </a:lnTo>
                  <a:lnTo>
                    <a:pt x="8927" y="75237"/>
                  </a:lnTo>
                  <a:lnTo>
                    <a:pt x="73199" y="101465"/>
                  </a:lnTo>
                  <a:lnTo>
                    <a:pt x="123782" y="110758"/>
                  </a:lnTo>
                  <a:lnTo>
                    <a:pt x="183488" y="116749"/>
                  </a:lnTo>
                  <a:lnTo>
                    <a:pt x="249935" y="118872"/>
                  </a:lnTo>
                  <a:lnTo>
                    <a:pt x="316383" y="116749"/>
                  </a:lnTo>
                  <a:lnTo>
                    <a:pt x="376089" y="110758"/>
                  </a:lnTo>
                  <a:lnTo>
                    <a:pt x="426672" y="101465"/>
                  </a:lnTo>
                  <a:lnTo>
                    <a:pt x="465751" y="89436"/>
                  </a:lnTo>
                  <a:lnTo>
                    <a:pt x="499871" y="59436"/>
                  </a:lnTo>
                  <a:lnTo>
                    <a:pt x="490944" y="43634"/>
                  </a:lnTo>
                  <a:lnTo>
                    <a:pt x="426672" y="17406"/>
                  </a:lnTo>
                  <a:lnTo>
                    <a:pt x="376089" y="8113"/>
                  </a:lnTo>
                  <a:lnTo>
                    <a:pt x="316383" y="2122"/>
                  </a:lnTo>
                  <a:lnTo>
                    <a:pt x="24993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28"/>
            <p:cNvSpPr/>
            <p:nvPr/>
          </p:nvSpPr>
          <p:spPr>
            <a:xfrm>
              <a:off x="7444739" y="5996939"/>
              <a:ext cx="500380" cy="119380"/>
            </a:xfrm>
            <a:custGeom>
              <a:rect b="b" l="l" r="r" t="t"/>
              <a:pathLst>
                <a:path extrusionOk="0" h="119379" w="500379">
                  <a:moveTo>
                    <a:pt x="0" y="59436"/>
                  </a:moveTo>
                  <a:lnTo>
                    <a:pt x="34120" y="29435"/>
                  </a:lnTo>
                  <a:lnTo>
                    <a:pt x="73199" y="17406"/>
                  </a:lnTo>
                  <a:lnTo>
                    <a:pt x="123782" y="8113"/>
                  </a:lnTo>
                  <a:lnTo>
                    <a:pt x="183488" y="2122"/>
                  </a:lnTo>
                  <a:lnTo>
                    <a:pt x="249935" y="0"/>
                  </a:lnTo>
                  <a:lnTo>
                    <a:pt x="316383" y="2122"/>
                  </a:lnTo>
                  <a:lnTo>
                    <a:pt x="376089" y="8113"/>
                  </a:lnTo>
                  <a:lnTo>
                    <a:pt x="426672" y="17406"/>
                  </a:lnTo>
                  <a:lnTo>
                    <a:pt x="465751" y="29435"/>
                  </a:lnTo>
                  <a:lnTo>
                    <a:pt x="499871" y="59436"/>
                  </a:lnTo>
                  <a:lnTo>
                    <a:pt x="490944" y="75237"/>
                  </a:lnTo>
                  <a:lnTo>
                    <a:pt x="426672" y="101465"/>
                  </a:lnTo>
                  <a:lnTo>
                    <a:pt x="376089" y="110758"/>
                  </a:lnTo>
                  <a:lnTo>
                    <a:pt x="316383" y="116749"/>
                  </a:lnTo>
                  <a:lnTo>
                    <a:pt x="249935" y="118872"/>
                  </a:lnTo>
                  <a:lnTo>
                    <a:pt x="183488" y="116749"/>
                  </a:lnTo>
                  <a:lnTo>
                    <a:pt x="123782" y="110758"/>
                  </a:lnTo>
                  <a:lnTo>
                    <a:pt x="73199" y="101465"/>
                  </a:lnTo>
                  <a:lnTo>
                    <a:pt x="34120" y="89436"/>
                  </a:lnTo>
                  <a:lnTo>
                    <a:pt x="0" y="59436"/>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8"/>
            <p:cNvSpPr/>
            <p:nvPr/>
          </p:nvSpPr>
          <p:spPr>
            <a:xfrm>
              <a:off x="7458455" y="6173724"/>
              <a:ext cx="475615" cy="248920"/>
            </a:xfrm>
            <a:custGeom>
              <a:rect b="b" l="l" r="r" t="t"/>
              <a:pathLst>
                <a:path extrusionOk="0" h="248920" w="475615">
                  <a:moveTo>
                    <a:pt x="475488" y="0"/>
                  </a:moveTo>
                  <a:lnTo>
                    <a:pt x="0" y="0"/>
                  </a:lnTo>
                  <a:lnTo>
                    <a:pt x="0" y="248411"/>
                  </a:lnTo>
                  <a:lnTo>
                    <a:pt x="475488" y="248411"/>
                  </a:lnTo>
                  <a:lnTo>
                    <a:pt x="47548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8"/>
            <p:cNvSpPr/>
            <p:nvPr/>
          </p:nvSpPr>
          <p:spPr>
            <a:xfrm>
              <a:off x="7458455" y="6173724"/>
              <a:ext cx="475615" cy="248920"/>
            </a:xfrm>
            <a:custGeom>
              <a:rect b="b" l="l" r="r" t="t"/>
              <a:pathLst>
                <a:path extrusionOk="0" h="248920" w="475615">
                  <a:moveTo>
                    <a:pt x="0" y="248411"/>
                  </a:moveTo>
                  <a:lnTo>
                    <a:pt x="475488" y="248411"/>
                  </a:lnTo>
                  <a:lnTo>
                    <a:pt x="475488" y="0"/>
                  </a:lnTo>
                  <a:lnTo>
                    <a:pt x="0" y="0"/>
                  </a:lnTo>
                  <a:lnTo>
                    <a:pt x="0" y="24841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8"/>
            <p:cNvSpPr/>
            <p:nvPr/>
          </p:nvSpPr>
          <p:spPr>
            <a:xfrm>
              <a:off x="7456931" y="6214872"/>
              <a:ext cx="477520" cy="207645"/>
            </a:xfrm>
            <a:custGeom>
              <a:rect b="b" l="l" r="r" t="t"/>
              <a:pathLst>
                <a:path extrusionOk="0" h="207645" w="477520">
                  <a:moveTo>
                    <a:pt x="269748" y="0"/>
                  </a:moveTo>
                  <a:lnTo>
                    <a:pt x="271272" y="207263"/>
                  </a:lnTo>
                </a:path>
                <a:path extrusionOk="0" h="207645" w="477520">
                  <a:moveTo>
                    <a:pt x="1524" y="48767"/>
                  </a:moveTo>
                  <a:lnTo>
                    <a:pt x="477012" y="48767"/>
                  </a:lnTo>
                </a:path>
                <a:path extrusionOk="0" h="207645" w="477520">
                  <a:moveTo>
                    <a:pt x="0" y="1523"/>
                  </a:moveTo>
                  <a:lnTo>
                    <a:pt x="475488" y="1523"/>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28"/>
            <p:cNvSpPr/>
            <p:nvPr/>
          </p:nvSpPr>
          <p:spPr>
            <a:xfrm>
              <a:off x="7667244" y="6120383"/>
              <a:ext cx="66040" cy="45720"/>
            </a:xfrm>
            <a:custGeom>
              <a:rect b="b" l="l" r="r" t="t"/>
              <a:pathLst>
                <a:path extrusionOk="0" h="45720" w="66040">
                  <a:moveTo>
                    <a:pt x="49529" y="0"/>
                  </a:moveTo>
                  <a:lnTo>
                    <a:pt x="16001" y="0"/>
                  </a:lnTo>
                  <a:lnTo>
                    <a:pt x="16001" y="27546"/>
                  </a:lnTo>
                  <a:lnTo>
                    <a:pt x="0" y="27546"/>
                  </a:lnTo>
                  <a:lnTo>
                    <a:pt x="32765" y="45719"/>
                  </a:lnTo>
                  <a:lnTo>
                    <a:pt x="65531" y="27546"/>
                  </a:lnTo>
                  <a:lnTo>
                    <a:pt x="49529" y="27546"/>
                  </a:lnTo>
                  <a:lnTo>
                    <a:pt x="49529"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28"/>
            <p:cNvSpPr/>
            <p:nvPr/>
          </p:nvSpPr>
          <p:spPr>
            <a:xfrm>
              <a:off x="7667244" y="6120383"/>
              <a:ext cx="66040" cy="45720"/>
            </a:xfrm>
            <a:custGeom>
              <a:rect b="b" l="l" r="r" t="t"/>
              <a:pathLst>
                <a:path extrusionOk="0" h="45720" w="66040">
                  <a:moveTo>
                    <a:pt x="49529" y="0"/>
                  </a:moveTo>
                  <a:lnTo>
                    <a:pt x="49529" y="27546"/>
                  </a:lnTo>
                  <a:lnTo>
                    <a:pt x="65531" y="27546"/>
                  </a:lnTo>
                  <a:lnTo>
                    <a:pt x="32765" y="45719"/>
                  </a:lnTo>
                  <a:lnTo>
                    <a:pt x="0" y="27546"/>
                  </a:lnTo>
                  <a:lnTo>
                    <a:pt x="16001" y="27546"/>
                  </a:lnTo>
                  <a:lnTo>
                    <a:pt x="16001" y="0"/>
                  </a:lnTo>
                  <a:lnTo>
                    <a:pt x="4952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28"/>
            <p:cNvSpPr/>
            <p:nvPr/>
          </p:nvSpPr>
          <p:spPr>
            <a:xfrm>
              <a:off x="6719315" y="5768339"/>
              <a:ext cx="551815" cy="452755"/>
            </a:xfrm>
            <a:custGeom>
              <a:rect b="b" l="l" r="r" t="t"/>
              <a:pathLst>
                <a:path extrusionOk="0" h="452754" w="551815">
                  <a:moveTo>
                    <a:pt x="551687" y="0"/>
                  </a:moveTo>
                  <a:lnTo>
                    <a:pt x="0" y="0"/>
                  </a:lnTo>
                  <a:lnTo>
                    <a:pt x="0" y="452628"/>
                  </a:lnTo>
                  <a:lnTo>
                    <a:pt x="551687" y="452628"/>
                  </a:lnTo>
                  <a:lnTo>
                    <a:pt x="551687"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8"/>
            <p:cNvSpPr/>
            <p:nvPr/>
          </p:nvSpPr>
          <p:spPr>
            <a:xfrm>
              <a:off x="6719315" y="5768339"/>
              <a:ext cx="551815" cy="452755"/>
            </a:xfrm>
            <a:custGeom>
              <a:rect b="b" l="l" r="r" t="t"/>
              <a:pathLst>
                <a:path extrusionOk="0" h="452754" w="551815">
                  <a:moveTo>
                    <a:pt x="0" y="452628"/>
                  </a:moveTo>
                  <a:lnTo>
                    <a:pt x="551687" y="452628"/>
                  </a:lnTo>
                  <a:lnTo>
                    <a:pt x="551687" y="0"/>
                  </a:lnTo>
                  <a:lnTo>
                    <a:pt x="0" y="0"/>
                  </a:lnTo>
                  <a:lnTo>
                    <a:pt x="0" y="45262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8"/>
            <p:cNvSpPr/>
            <p:nvPr/>
          </p:nvSpPr>
          <p:spPr>
            <a:xfrm>
              <a:off x="6749795" y="5779007"/>
              <a:ext cx="498475" cy="117475"/>
            </a:xfrm>
            <a:custGeom>
              <a:rect b="b" l="l" r="r" t="t"/>
              <a:pathLst>
                <a:path extrusionOk="0" h="117475" w="498475">
                  <a:moveTo>
                    <a:pt x="249174" y="0"/>
                  </a:moveTo>
                  <a:lnTo>
                    <a:pt x="182915" y="2095"/>
                  </a:lnTo>
                  <a:lnTo>
                    <a:pt x="123387" y="8009"/>
                  </a:lnTo>
                  <a:lnTo>
                    <a:pt x="72961" y="17183"/>
                  </a:lnTo>
                  <a:lnTo>
                    <a:pt x="34007" y="29057"/>
                  </a:lnTo>
                  <a:lnTo>
                    <a:pt x="0" y="58673"/>
                  </a:lnTo>
                  <a:lnTo>
                    <a:pt x="8897" y="74273"/>
                  </a:lnTo>
                  <a:lnTo>
                    <a:pt x="72961" y="100164"/>
                  </a:lnTo>
                  <a:lnTo>
                    <a:pt x="123387" y="109338"/>
                  </a:lnTo>
                  <a:lnTo>
                    <a:pt x="182915" y="115252"/>
                  </a:lnTo>
                  <a:lnTo>
                    <a:pt x="249174" y="117347"/>
                  </a:lnTo>
                  <a:lnTo>
                    <a:pt x="315432" y="115252"/>
                  </a:lnTo>
                  <a:lnTo>
                    <a:pt x="374960" y="109338"/>
                  </a:lnTo>
                  <a:lnTo>
                    <a:pt x="425386" y="100164"/>
                  </a:lnTo>
                  <a:lnTo>
                    <a:pt x="464340" y="88290"/>
                  </a:lnTo>
                  <a:lnTo>
                    <a:pt x="498348" y="58673"/>
                  </a:lnTo>
                  <a:lnTo>
                    <a:pt x="489450" y="43074"/>
                  </a:lnTo>
                  <a:lnTo>
                    <a:pt x="425386" y="17183"/>
                  </a:lnTo>
                  <a:lnTo>
                    <a:pt x="374960" y="8009"/>
                  </a:lnTo>
                  <a:lnTo>
                    <a:pt x="315432" y="2095"/>
                  </a:lnTo>
                  <a:lnTo>
                    <a:pt x="24917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8"/>
            <p:cNvSpPr/>
            <p:nvPr/>
          </p:nvSpPr>
          <p:spPr>
            <a:xfrm>
              <a:off x="6749795" y="5779007"/>
              <a:ext cx="498475" cy="117475"/>
            </a:xfrm>
            <a:custGeom>
              <a:rect b="b" l="l" r="r" t="t"/>
              <a:pathLst>
                <a:path extrusionOk="0" h="117475" w="498475">
                  <a:moveTo>
                    <a:pt x="0" y="58673"/>
                  </a:moveTo>
                  <a:lnTo>
                    <a:pt x="34007" y="29057"/>
                  </a:lnTo>
                  <a:lnTo>
                    <a:pt x="72961" y="17183"/>
                  </a:lnTo>
                  <a:lnTo>
                    <a:pt x="123387" y="8009"/>
                  </a:lnTo>
                  <a:lnTo>
                    <a:pt x="182915" y="2095"/>
                  </a:lnTo>
                  <a:lnTo>
                    <a:pt x="249174" y="0"/>
                  </a:lnTo>
                  <a:lnTo>
                    <a:pt x="315432" y="2095"/>
                  </a:lnTo>
                  <a:lnTo>
                    <a:pt x="374960" y="8009"/>
                  </a:lnTo>
                  <a:lnTo>
                    <a:pt x="425386" y="17183"/>
                  </a:lnTo>
                  <a:lnTo>
                    <a:pt x="464340" y="29057"/>
                  </a:lnTo>
                  <a:lnTo>
                    <a:pt x="498348" y="58673"/>
                  </a:lnTo>
                  <a:lnTo>
                    <a:pt x="489450" y="74273"/>
                  </a:lnTo>
                  <a:lnTo>
                    <a:pt x="425386" y="100164"/>
                  </a:lnTo>
                  <a:lnTo>
                    <a:pt x="374960" y="109338"/>
                  </a:lnTo>
                  <a:lnTo>
                    <a:pt x="315432" y="115252"/>
                  </a:lnTo>
                  <a:lnTo>
                    <a:pt x="249174" y="117347"/>
                  </a:lnTo>
                  <a:lnTo>
                    <a:pt x="182915" y="115252"/>
                  </a:lnTo>
                  <a:lnTo>
                    <a:pt x="123387" y="109338"/>
                  </a:lnTo>
                  <a:lnTo>
                    <a:pt x="72961" y="100164"/>
                  </a:lnTo>
                  <a:lnTo>
                    <a:pt x="34007" y="88290"/>
                  </a:lnTo>
                  <a:lnTo>
                    <a:pt x="0" y="58673"/>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28"/>
            <p:cNvSpPr/>
            <p:nvPr/>
          </p:nvSpPr>
          <p:spPr>
            <a:xfrm>
              <a:off x="6763511" y="5954268"/>
              <a:ext cx="475615" cy="248920"/>
            </a:xfrm>
            <a:custGeom>
              <a:rect b="b" l="l" r="r" t="t"/>
              <a:pathLst>
                <a:path extrusionOk="0" h="248920" w="475615">
                  <a:moveTo>
                    <a:pt x="475488" y="0"/>
                  </a:moveTo>
                  <a:lnTo>
                    <a:pt x="0" y="0"/>
                  </a:lnTo>
                  <a:lnTo>
                    <a:pt x="0" y="248411"/>
                  </a:lnTo>
                  <a:lnTo>
                    <a:pt x="475488" y="248411"/>
                  </a:lnTo>
                  <a:lnTo>
                    <a:pt x="47548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28"/>
            <p:cNvSpPr/>
            <p:nvPr/>
          </p:nvSpPr>
          <p:spPr>
            <a:xfrm>
              <a:off x="6763511" y="5954268"/>
              <a:ext cx="475615" cy="248920"/>
            </a:xfrm>
            <a:custGeom>
              <a:rect b="b" l="l" r="r" t="t"/>
              <a:pathLst>
                <a:path extrusionOk="0" h="248920" w="475615">
                  <a:moveTo>
                    <a:pt x="0" y="248411"/>
                  </a:moveTo>
                  <a:lnTo>
                    <a:pt x="475488" y="248411"/>
                  </a:lnTo>
                  <a:lnTo>
                    <a:pt x="475488" y="0"/>
                  </a:lnTo>
                  <a:lnTo>
                    <a:pt x="0" y="0"/>
                  </a:lnTo>
                  <a:lnTo>
                    <a:pt x="0" y="24841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28"/>
            <p:cNvSpPr/>
            <p:nvPr/>
          </p:nvSpPr>
          <p:spPr>
            <a:xfrm>
              <a:off x="6760463" y="5995416"/>
              <a:ext cx="478790" cy="207645"/>
            </a:xfrm>
            <a:custGeom>
              <a:rect b="b" l="l" r="r" t="t"/>
              <a:pathLst>
                <a:path extrusionOk="0" h="207645" w="478790">
                  <a:moveTo>
                    <a:pt x="271271" y="0"/>
                  </a:moveTo>
                  <a:lnTo>
                    <a:pt x="272795" y="207264"/>
                  </a:lnTo>
                </a:path>
                <a:path extrusionOk="0" h="207645" w="478790">
                  <a:moveTo>
                    <a:pt x="3047" y="50292"/>
                  </a:moveTo>
                  <a:lnTo>
                    <a:pt x="478535" y="50292"/>
                  </a:lnTo>
                </a:path>
                <a:path extrusionOk="0" h="207645" w="478790">
                  <a:moveTo>
                    <a:pt x="0" y="1524"/>
                  </a:moveTo>
                  <a:lnTo>
                    <a:pt x="477011" y="1524"/>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28"/>
            <p:cNvSpPr/>
            <p:nvPr/>
          </p:nvSpPr>
          <p:spPr>
            <a:xfrm>
              <a:off x="6972299" y="5900927"/>
              <a:ext cx="66040" cy="45720"/>
            </a:xfrm>
            <a:custGeom>
              <a:rect b="b" l="l" r="r" t="t"/>
              <a:pathLst>
                <a:path extrusionOk="0" h="45720" w="66040">
                  <a:moveTo>
                    <a:pt x="49529" y="0"/>
                  </a:moveTo>
                  <a:lnTo>
                    <a:pt x="16001" y="0"/>
                  </a:lnTo>
                  <a:lnTo>
                    <a:pt x="16001" y="27546"/>
                  </a:lnTo>
                  <a:lnTo>
                    <a:pt x="0" y="27546"/>
                  </a:lnTo>
                  <a:lnTo>
                    <a:pt x="32766" y="45720"/>
                  </a:lnTo>
                  <a:lnTo>
                    <a:pt x="65531" y="27546"/>
                  </a:lnTo>
                  <a:lnTo>
                    <a:pt x="49529" y="27546"/>
                  </a:lnTo>
                  <a:lnTo>
                    <a:pt x="49529"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28"/>
            <p:cNvSpPr/>
            <p:nvPr/>
          </p:nvSpPr>
          <p:spPr>
            <a:xfrm>
              <a:off x="6972299" y="5900927"/>
              <a:ext cx="66040" cy="45720"/>
            </a:xfrm>
            <a:custGeom>
              <a:rect b="b" l="l" r="r" t="t"/>
              <a:pathLst>
                <a:path extrusionOk="0" h="45720" w="66040">
                  <a:moveTo>
                    <a:pt x="49529" y="0"/>
                  </a:moveTo>
                  <a:lnTo>
                    <a:pt x="49529" y="27546"/>
                  </a:lnTo>
                  <a:lnTo>
                    <a:pt x="65531" y="27546"/>
                  </a:lnTo>
                  <a:lnTo>
                    <a:pt x="32766" y="45720"/>
                  </a:lnTo>
                  <a:lnTo>
                    <a:pt x="0" y="27546"/>
                  </a:lnTo>
                  <a:lnTo>
                    <a:pt x="16001" y="27546"/>
                  </a:lnTo>
                  <a:lnTo>
                    <a:pt x="16001" y="0"/>
                  </a:lnTo>
                  <a:lnTo>
                    <a:pt x="49529"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28"/>
            <p:cNvSpPr/>
            <p:nvPr/>
          </p:nvSpPr>
          <p:spPr>
            <a:xfrm>
              <a:off x="6063995" y="5960363"/>
              <a:ext cx="551815" cy="452755"/>
            </a:xfrm>
            <a:custGeom>
              <a:rect b="b" l="l" r="r" t="t"/>
              <a:pathLst>
                <a:path extrusionOk="0" h="452754" w="551815">
                  <a:moveTo>
                    <a:pt x="551688" y="0"/>
                  </a:moveTo>
                  <a:lnTo>
                    <a:pt x="0" y="0"/>
                  </a:lnTo>
                  <a:lnTo>
                    <a:pt x="0" y="452628"/>
                  </a:lnTo>
                  <a:lnTo>
                    <a:pt x="551688" y="452628"/>
                  </a:lnTo>
                  <a:lnTo>
                    <a:pt x="551688"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28"/>
            <p:cNvSpPr/>
            <p:nvPr/>
          </p:nvSpPr>
          <p:spPr>
            <a:xfrm>
              <a:off x="6063995" y="5960363"/>
              <a:ext cx="551815" cy="452755"/>
            </a:xfrm>
            <a:custGeom>
              <a:rect b="b" l="l" r="r" t="t"/>
              <a:pathLst>
                <a:path extrusionOk="0" h="452754" w="551815">
                  <a:moveTo>
                    <a:pt x="0" y="452628"/>
                  </a:moveTo>
                  <a:lnTo>
                    <a:pt x="551688" y="452628"/>
                  </a:lnTo>
                  <a:lnTo>
                    <a:pt x="551688" y="0"/>
                  </a:lnTo>
                  <a:lnTo>
                    <a:pt x="0" y="0"/>
                  </a:lnTo>
                  <a:lnTo>
                    <a:pt x="0" y="452628"/>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28"/>
            <p:cNvSpPr/>
            <p:nvPr/>
          </p:nvSpPr>
          <p:spPr>
            <a:xfrm>
              <a:off x="6094475" y="5971031"/>
              <a:ext cx="498475" cy="117475"/>
            </a:xfrm>
            <a:custGeom>
              <a:rect b="b" l="l" r="r" t="t"/>
              <a:pathLst>
                <a:path extrusionOk="0" h="117475" w="498475">
                  <a:moveTo>
                    <a:pt x="249174" y="0"/>
                  </a:moveTo>
                  <a:lnTo>
                    <a:pt x="182915" y="2095"/>
                  </a:lnTo>
                  <a:lnTo>
                    <a:pt x="123387" y="8009"/>
                  </a:lnTo>
                  <a:lnTo>
                    <a:pt x="72961" y="17183"/>
                  </a:lnTo>
                  <a:lnTo>
                    <a:pt x="34007" y="29057"/>
                  </a:lnTo>
                  <a:lnTo>
                    <a:pt x="0" y="58674"/>
                  </a:lnTo>
                  <a:lnTo>
                    <a:pt x="8897" y="74273"/>
                  </a:lnTo>
                  <a:lnTo>
                    <a:pt x="72961" y="100164"/>
                  </a:lnTo>
                  <a:lnTo>
                    <a:pt x="123387" y="109338"/>
                  </a:lnTo>
                  <a:lnTo>
                    <a:pt x="182915" y="115252"/>
                  </a:lnTo>
                  <a:lnTo>
                    <a:pt x="249174" y="117348"/>
                  </a:lnTo>
                  <a:lnTo>
                    <a:pt x="315432" y="115252"/>
                  </a:lnTo>
                  <a:lnTo>
                    <a:pt x="374960" y="109338"/>
                  </a:lnTo>
                  <a:lnTo>
                    <a:pt x="425386" y="100164"/>
                  </a:lnTo>
                  <a:lnTo>
                    <a:pt x="464340" y="88290"/>
                  </a:lnTo>
                  <a:lnTo>
                    <a:pt x="498348" y="58674"/>
                  </a:lnTo>
                  <a:lnTo>
                    <a:pt x="489450" y="43074"/>
                  </a:lnTo>
                  <a:lnTo>
                    <a:pt x="425386" y="17183"/>
                  </a:lnTo>
                  <a:lnTo>
                    <a:pt x="374960" y="8009"/>
                  </a:lnTo>
                  <a:lnTo>
                    <a:pt x="315432" y="2095"/>
                  </a:lnTo>
                  <a:lnTo>
                    <a:pt x="24917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28"/>
            <p:cNvSpPr/>
            <p:nvPr/>
          </p:nvSpPr>
          <p:spPr>
            <a:xfrm>
              <a:off x="6094475" y="5971031"/>
              <a:ext cx="498475" cy="117475"/>
            </a:xfrm>
            <a:custGeom>
              <a:rect b="b" l="l" r="r" t="t"/>
              <a:pathLst>
                <a:path extrusionOk="0" h="117475" w="498475">
                  <a:moveTo>
                    <a:pt x="0" y="58674"/>
                  </a:moveTo>
                  <a:lnTo>
                    <a:pt x="34007" y="29057"/>
                  </a:lnTo>
                  <a:lnTo>
                    <a:pt x="72961" y="17183"/>
                  </a:lnTo>
                  <a:lnTo>
                    <a:pt x="123387" y="8009"/>
                  </a:lnTo>
                  <a:lnTo>
                    <a:pt x="182915" y="2095"/>
                  </a:lnTo>
                  <a:lnTo>
                    <a:pt x="249174" y="0"/>
                  </a:lnTo>
                  <a:lnTo>
                    <a:pt x="315432" y="2095"/>
                  </a:lnTo>
                  <a:lnTo>
                    <a:pt x="374960" y="8009"/>
                  </a:lnTo>
                  <a:lnTo>
                    <a:pt x="425386" y="17183"/>
                  </a:lnTo>
                  <a:lnTo>
                    <a:pt x="464340" y="29057"/>
                  </a:lnTo>
                  <a:lnTo>
                    <a:pt x="498348" y="58674"/>
                  </a:lnTo>
                  <a:lnTo>
                    <a:pt x="489450" y="74273"/>
                  </a:lnTo>
                  <a:lnTo>
                    <a:pt x="425386" y="100164"/>
                  </a:lnTo>
                  <a:lnTo>
                    <a:pt x="374960" y="109338"/>
                  </a:lnTo>
                  <a:lnTo>
                    <a:pt x="315432" y="115252"/>
                  </a:lnTo>
                  <a:lnTo>
                    <a:pt x="249174" y="117348"/>
                  </a:lnTo>
                  <a:lnTo>
                    <a:pt x="182915" y="115252"/>
                  </a:lnTo>
                  <a:lnTo>
                    <a:pt x="123387" y="109338"/>
                  </a:lnTo>
                  <a:lnTo>
                    <a:pt x="72961" y="100164"/>
                  </a:lnTo>
                  <a:lnTo>
                    <a:pt x="34007" y="88290"/>
                  </a:lnTo>
                  <a:lnTo>
                    <a:pt x="0" y="5867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28"/>
            <p:cNvSpPr/>
            <p:nvPr/>
          </p:nvSpPr>
          <p:spPr>
            <a:xfrm>
              <a:off x="6106667" y="6146292"/>
              <a:ext cx="477520" cy="248920"/>
            </a:xfrm>
            <a:custGeom>
              <a:rect b="b" l="l" r="r" t="t"/>
              <a:pathLst>
                <a:path extrusionOk="0" h="248920" w="477520">
                  <a:moveTo>
                    <a:pt x="477012" y="0"/>
                  </a:moveTo>
                  <a:lnTo>
                    <a:pt x="0" y="0"/>
                  </a:lnTo>
                  <a:lnTo>
                    <a:pt x="0" y="248411"/>
                  </a:lnTo>
                  <a:lnTo>
                    <a:pt x="477012" y="248411"/>
                  </a:lnTo>
                  <a:lnTo>
                    <a:pt x="47701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28"/>
            <p:cNvSpPr/>
            <p:nvPr/>
          </p:nvSpPr>
          <p:spPr>
            <a:xfrm>
              <a:off x="6106667" y="6146292"/>
              <a:ext cx="477520" cy="248920"/>
            </a:xfrm>
            <a:custGeom>
              <a:rect b="b" l="l" r="r" t="t"/>
              <a:pathLst>
                <a:path extrusionOk="0" h="248920" w="477520">
                  <a:moveTo>
                    <a:pt x="0" y="248411"/>
                  </a:moveTo>
                  <a:lnTo>
                    <a:pt x="477012" y="248411"/>
                  </a:lnTo>
                  <a:lnTo>
                    <a:pt x="477012" y="0"/>
                  </a:lnTo>
                  <a:lnTo>
                    <a:pt x="0" y="0"/>
                  </a:lnTo>
                  <a:lnTo>
                    <a:pt x="0" y="248411"/>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28"/>
            <p:cNvSpPr/>
            <p:nvPr/>
          </p:nvSpPr>
          <p:spPr>
            <a:xfrm>
              <a:off x="6105143" y="6187439"/>
              <a:ext cx="478790" cy="207645"/>
            </a:xfrm>
            <a:custGeom>
              <a:rect b="b" l="l" r="r" t="t"/>
              <a:pathLst>
                <a:path extrusionOk="0" h="207645" w="478790">
                  <a:moveTo>
                    <a:pt x="269747" y="0"/>
                  </a:moveTo>
                  <a:lnTo>
                    <a:pt x="271271" y="207264"/>
                  </a:lnTo>
                </a:path>
                <a:path extrusionOk="0" h="207645" w="478790">
                  <a:moveTo>
                    <a:pt x="1523" y="50292"/>
                  </a:moveTo>
                  <a:lnTo>
                    <a:pt x="478535" y="50292"/>
                  </a:lnTo>
                </a:path>
                <a:path extrusionOk="0" h="207645" w="478790">
                  <a:moveTo>
                    <a:pt x="0" y="1524"/>
                  </a:moveTo>
                  <a:lnTo>
                    <a:pt x="477011" y="1524"/>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28"/>
            <p:cNvSpPr/>
            <p:nvPr/>
          </p:nvSpPr>
          <p:spPr>
            <a:xfrm>
              <a:off x="6316979" y="6092951"/>
              <a:ext cx="66040" cy="45720"/>
            </a:xfrm>
            <a:custGeom>
              <a:rect b="b" l="l" r="r" t="t"/>
              <a:pathLst>
                <a:path extrusionOk="0" h="45720" w="66039">
                  <a:moveTo>
                    <a:pt x="49530" y="0"/>
                  </a:moveTo>
                  <a:lnTo>
                    <a:pt x="16002" y="0"/>
                  </a:lnTo>
                  <a:lnTo>
                    <a:pt x="16002" y="27546"/>
                  </a:lnTo>
                  <a:lnTo>
                    <a:pt x="0" y="27546"/>
                  </a:lnTo>
                  <a:lnTo>
                    <a:pt x="32766" y="45720"/>
                  </a:lnTo>
                  <a:lnTo>
                    <a:pt x="65532" y="27546"/>
                  </a:lnTo>
                  <a:lnTo>
                    <a:pt x="49530" y="27546"/>
                  </a:lnTo>
                  <a:lnTo>
                    <a:pt x="49530" y="0"/>
                  </a:lnTo>
                  <a:close/>
                </a:path>
              </a:pathLst>
            </a:custGeom>
            <a:solidFill>
              <a:srgbClr val="C050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8"/>
            <p:cNvSpPr/>
            <p:nvPr/>
          </p:nvSpPr>
          <p:spPr>
            <a:xfrm>
              <a:off x="6316979" y="6092951"/>
              <a:ext cx="66040" cy="45720"/>
            </a:xfrm>
            <a:custGeom>
              <a:rect b="b" l="l" r="r" t="t"/>
              <a:pathLst>
                <a:path extrusionOk="0" h="45720" w="66039">
                  <a:moveTo>
                    <a:pt x="49530" y="0"/>
                  </a:moveTo>
                  <a:lnTo>
                    <a:pt x="49530" y="27546"/>
                  </a:lnTo>
                  <a:lnTo>
                    <a:pt x="65532" y="27546"/>
                  </a:lnTo>
                  <a:lnTo>
                    <a:pt x="32766" y="45720"/>
                  </a:lnTo>
                  <a:lnTo>
                    <a:pt x="0" y="27546"/>
                  </a:lnTo>
                  <a:lnTo>
                    <a:pt x="16002" y="27546"/>
                  </a:lnTo>
                  <a:lnTo>
                    <a:pt x="16002" y="0"/>
                  </a:lnTo>
                  <a:lnTo>
                    <a:pt x="4953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0" name="Google Shape;560;p28"/>
          <p:cNvSpPr txBox="1"/>
          <p:nvPr/>
        </p:nvSpPr>
        <p:spPr>
          <a:xfrm>
            <a:off x="7080504" y="1202436"/>
            <a:ext cx="2923540" cy="1399540"/>
          </a:xfrm>
          <a:prstGeom prst="rect">
            <a:avLst/>
          </a:prstGeom>
          <a:noFill/>
          <a:ln cap="flat" cmpd="sng" w="12175">
            <a:solidFill>
              <a:srgbClr val="CC0000"/>
            </a:solidFill>
            <a:prstDash val="solid"/>
            <a:round/>
            <a:headEnd len="sm" w="sm" type="none"/>
            <a:tailEnd len="sm" w="sm" type="none"/>
          </a:ln>
        </p:spPr>
        <p:txBody>
          <a:bodyPr anchorCtr="0" anchor="t" bIns="0" lIns="0" spcFirstLastPara="1" rIns="0" wrap="square" tIns="36175">
            <a:spAutoFit/>
          </a:bodyPr>
          <a:lstStyle/>
          <a:p>
            <a:pPr indent="0" lvl="0" marL="92710" marR="271780" rtl="0" algn="l">
              <a:lnSpc>
                <a:spcPct val="101950"/>
              </a:lnSpc>
              <a:spcBef>
                <a:spcPts val="0"/>
              </a:spcBef>
              <a:spcAft>
                <a:spcPts val="0"/>
              </a:spcAft>
              <a:buNone/>
            </a:pPr>
            <a:r>
              <a:rPr lang="en-US" sz="2000">
                <a:solidFill>
                  <a:srgbClr val="000099"/>
                </a:solidFill>
                <a:latin typeface="Trebuchet MS"/>
                <a:ea typeface="Trebuchet MS"/>
                <a:cs typeface="Trebuchet MS"/>
                <a:sym typeface="Trebuchet MS"/>
              </a:rPr>
              <a:t>4 billion IP addresses, so  rather than list individual  destination address list  </a:t>
            </a:r>
            <a:r>
              <a:rPr i="1" lang="en-US" sz="2000">
                <a:solidFill>
                  <a:srgbClr val="000099"/>
                </a:solidFill>
                <a:latin typeface="Trebuchet MS"/>
                <a:ea typeface="Trebuchet MS"/>
                <a:cs typeface="Trebuchet MS"/>
                <a:sym typeface="Trebuchet MS"/>
              </a:rPr>
              <a:t>range </a:t>
            </a:r>
            <a:r>
              <a:rPr lang="en-US" sz="2000">
                <a:solidFill>
                  <a:srgbClr val="000099"/>
                </a:solidFill>
                <a:latin typeface="Trebuchet MS"/>
                <a:ea typeface="Trebuchet MS"/>
                <a:cs typeface="Trebuchet MS"/>
                <a:sym typeface="Trebuchet MS"/>
              </a:rPr>
              <a:t>of addresses  (aggregate table entries)</a:t>
            </a:r>
            <a:endParaRPr sz="2000">
              <a:solidFill>
                <a:schemeClr val="dk1"/>
              </a:solidFill>
              <a:latin typeface="Trebuchet MS"/>
              <a:ea typeface="Trebuchet MS"/>
              <a:cs typeface="Trebuchet MS"/>
              <a:sym typeface="Trebuchet MS"/>
            </a:endParaRPr>
          </a:p>
        </p:txBody>
      </p:sp>
      <p:sp>
        <p:nvSpPr>
          <p:cNvPr id="561" name="Google Shape;561;p28"/>
          <p:cNvSpPr/>
          <p:nvPr/>
        </p:nvSpPr>
        <p:spPr>
          <a:xfrm>
            <a:off x="5017008" y="2022855"/>
            <a:ext cx="2060575" cy="1066800"/>
          </a:xfrm>
          <a:custGeom>
            <a:rect b="b" l="l" r="r" t="t"/>
            <a:pathLst>
              <a:path extrusionOk="0" h="1066800" w="2060575">
                <a:moveTo>
                  <a:pt x="50291" y="997458"/>
                </a:moveTo>
                <a:lnTo>
                  <a:pt x="0" y="1066292"/>
                </a:lnTo>
                <a:lnTo>
                  <a:pt x="85216" y="1065276"/>
                </a:lnTo>
                <a:lnTo>
                  <a:pt x="73640" y="1042797"/>
                </a:lnTo>
                <a:lnTo>
                  <a:pt x="59308" y="1042797"/>
                </a:lnTo>
                <a:lnTo>
                  <a:pt x="53466" y="1031494"/>
                </a:lnTo>
                <a:lnTo>
                  <a:pt x="64808" y="1025647"/>
                </a:lnTo>
                <a:lnTo>
                  <a:pt x="50291" y="997458"/>
                </a:lnTo>
                <a:close/>
              </a:path>
              <a:path extrusionOk="0" h="1066800" w="2060575">
                <a:moveTo>
                  <a:pt x="64808" y="1025647"/>
                </a:moveTo>
                <a:lnTo>
                  <a:pt x="53466" y="1031494"/>
                </a:lnTo>
                <a:lnTo>
                  <a:pt x="59308" y="1042797"/>
                </a:lnTo>
                <a:lnTo>
                  <a:pt x="70633" y="1036958"/>
                </a:lnTo>
                <a:lnTo>
                  <a:pt x="64808" y="1025647"/>
                </a:lnTo>
                <a:close/>
              </a:path>
              <a:path extrusionOk="0" h="1066800" w="2060575">
                <a:moveTo>
                  <a:pt x="70633" y="1036958"/>
                </a:moveTo>
                <a:lnTo>
                  <a:pt x="59308" y="1042797"/>
                </a:lnTo>
                <a:lnTo>
                  <a:pt x="73640" y="1042797"/>
                </a:lnTo>
                <a:lnTo>
                  <a:pt x="70633" y="1036958"/>
                </a:lnTo>
                <a:close/>
              </a:path>
              <a:path extrusionOk="0" h="1066800" w="2060575">
                <a:moveTo>
                  <a:pt x="2054478" y="0"/>
                </a:moveTo>
                <a:lnTo>
                  <a:pt x="64808" y="1025647"/>
                </a:lnTo>
                <a:lnTo>
                  <a:pt x="70633" y="1036958"/>
                </a:lnTo>
                <a:lnTo>
                  <a:pt x="2060320" y="11176"/>
                </a:lnTo>
                <a:lnTo>
                  <a:pt x="2054478"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9"/>
          <p:cNvSpPr txBox="1"/>
          <p:nvPr>
            <p:ph type="title"/>
          </p:nvPr>
        </p:nvSpPr>
        <p:spPr>
          <a:xfrm>
            <a:off x="2406775" y="189941"/>
            <a:ext cx="9097391" cy="627736"/>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0" lang="en-US" sz="4000">
                <a:latin typeface="Arial"/>
                <a:ea typeface="Arial"/>
                <a:cs typeface="Arial"/>
                <a:sym typeface="Arial"/>
              </a:rPr>
              <a:t>Datagram forwarding</a:t>
            </a:r>
            <a:r>
              <a:rPr i="0" lang="en-US" sz="4000"/>
              <a:t> </a:t>
            </a:r>
            <a:r>
              <a:rPr i="0" lang="en-US" sz="4000">
                <a:latin typeface="Arial"/>
                <a:ea typeface="Arial"/>
                <a:cs typeface="Arial"/>
                <a:sym typeface="Arial"/>
              </a:rPr>
              <a:t>table</a:t>
            </a:r>
            <a:endParaRPr i="0" sz="4000">
              <a:latin typeface="Arial"/>
              <a:ea typeface="Arial"/>
              <a:cs typeface="Arial"/>
              <a:sym typeface="Arial"/>
            </a:endParaRPr>
          </a:p>
        </p:txBody>
      </p:sp>
      <p:sp>
        <p:nvSpPr>
          <p:cNvPr id="567" name="Google Shape;567;p29"/>
          <p:cNvSpPr txBox="1"/>
          <p:nvPr/>
        </p:nvSpPr>
        <p:spPr>
          <a:xfrm>
            <a:off x="5632450"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568" name="Google Shape;568;p29"/>
          <p:cNvSpPr txBox="1"/>
          <p:nvPr/>
        </p:nvSpPr>
        <p:spPr>
          <a:xfrm>
            <a:off x="11198097" y="6426504"/>
            <a:ext cx="30607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4-15</a:t>
            </a:r>
            <a:endParaRPr sz="1200">
              <a:solidFill>
                <a:schemeClr val="dk1"/>
              </a:solidFill>
              <a:latin typeface="Arial"/>
              <a:ea typeface="Arial"/>
              <a:cs typeface="Arial"/>
              <a:sym typeface="Arial"/>
            </a:endParaRPr>
          </a:p>
        </p:txBody>
      </p:sp>
      <p:graphicFrame>
        <p:nvGraphicFramePr>
          <p:cNvPr id="569" name="Google Shape;569;p29"/>
          <p:cNvGraphicFramePr/>
          <p:nvPr/>
        </p:nvGraphicFramePr>
        <p:xfrm>
          <a:off x="2151888" y="1257300"/>
          <a:ext cx="3000000" cy="3000000"/>
        </p:xfrm>
        <a:graphic>
          <a:graphicData uri="http://schemas.openxmlformats.org/drawingml/2006/table">
            <a:tbl>
              <a:tblPr bandRow="1" firstRow="1">
                <a:noFill/>
                <a:tableStyleId>{0E2E355C-DBFC-4D74-83BD-ED6A477D55ED}</a:tableStyleId>
              </a:tblPr>
              <a:tblGrid>
                <a:gridCol w="1245225"/>
                <a:gridCol w="1228100"/>
                <a:gridCol w="1228100"/>
                <a:gridCol w="1591950"/>
                <a:gridCol w="1930400"/>
              </a:tblGrid>
              <a:tr h="606550">
                <a:tc gridSpan="4">
                  <a:txBody>
                    <a:bodyPr/>
                    <a:lstStyle/>
                    <a:p>
                      <a:pPr indent="0" lvl="0" marL="81915" marR="0" rtl="0" algn="l">
                        <a:lnSpc>
                          <a:spcPct val="100000"/>
                        </a:lnSpc>
                        <a:spcBef>
                          <a:spcPts val="0"/>
                        </a:spcBef>
                        <a:spcAft>
                          <a:spcPts val="0"/>
                        </a:spcAft>
                        <a:buNone/>
                      </a:pPr>
                      <a:r>
                        <a:rPr b="1" lang="en-US" sz="1800" u="none" cap="none" strike="noStrike">
                          <a:latin typeface="Arial"/>
                          <a:ea typeface="Arial"/>
                          <a:cs typeface="Arial"/>
                          <a:sym typeface="Arial"/>
                        </a:rPr>
                        <a:t>Destination Address Range</a:t>
                      </a:r>
                      <a:endParaRPr sz="1800" u="none" cap="none" strike="noStrike">
                        <a:latin typeface="Arial"/>
                        <a:ea typeface="Arial"/>
                        <a:cs typeface="Arial"/>
                        <a:sym typeface="Arial"/>
                      </a:endParaRPr>
                    </a:p>
                  </a:txBody>
                  <a:tcPr marT="158125" marB="0" marR="0" marL="0">
                    <a:lnL cap="flat" cmpd="sng" w="28575">
                      <a:solidFill>
                        <a:srgbClr val="000099"/>
                      </a:solidFill>
                      <a:prstDash val="solid"/>
                      <a:round/>
                      <a:headEnd len="sm" w="sm" type="none"/>
                      <a:tailEnd len="sm" w="sm" type="none"/>
                    </a:lnL>
                    <a:lnR cap="flat" cmpd="sng" w="12700">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lnB cap="flat" cmpd="sng" w="28575">
                      <a:solidFill>
                        <a:srgbClr val="000099"/>
                      </a:solidFill>
                      <a:prstDash val="solid"/>
                      <a:round/>
                      <a:headEnd len="sm" w="sm" type="none"/>
                      <a:tailEnd len="sm" w="sm" type="none"/>
                    </a:lnB>
                  </a:tcPr>
                </a:tc>
                <a:tc hMerge="1"/>
                <a:tc hMerge="1"/>
                <a:tc hMerge="1"/>
                <a:tc>
                  <a:txBody>
                    <a:bodyPr/>
                    <a:lstStyle/>
                    <a:p>
                      <a:pPr indent="0" lvl="0" marL="267335" marR="0" rtl="0" algn="l">
                        <a:lnSpc>
                          <a:spcPct val="100000"/>
                        </a:lnSpc>
                        <a:spcBef>
                          <a:spcPts val="0"/>
                        </a:spcBef>
                        <a:spcAft>
                          <a:spcPts val="0"/>
                        </a:spcAft>
                        <a:buNone/>
                      </a:pPr>
                      <a:r>
                        <a:rPr lang="en-US" sz="1800" u="none" cap="none" strike="noStrike">
                          <a:latin typeface="Arial"/>
                          <a:ea typeface="Arial"/>
                          <a:cs typeface="Arial"/>
                          <a:sym typeface="Arial"/>
                        </a:rPr>
                        <a:t>Link Interface</a:t>
                      </a:r>
                      <a:endParaRPr sz="1800" u="none" cap="none" strike="noStrike">
                        <a:latin typeface="Arial"/>
                        <a:ea typeface="Arial"/>
                        <a:cs typeface="Arial"/>
                        <a:sym typeface="Arial"/>
                      </a:endParaRPr>
                    </a:p>
                  </a:txBody>
                  <a:tcPr marT="196225"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lnB cap="flat" cmpd="sng" w="28575">
                      <a:solidFill>
                        <a:srgbClr val="000099"/>
                      </a:solidFill>
                      <a:prstDash val="solid"/>
                      <a:round/>
                      <a:headEnd len="sm" w="sm" type="none"/>
                      <a:tailEnd len="sm" w="sm" type="none"/>
                    </a:lnB>
                  </a:tcPr>
                </a:tc>
              </a:tr>
              <a:tr h="409650">
                <a:tc>
                  <a:txBody>
                    <a:bodyPr/>
                    <a:lstStyle/>
                    <a:p>
                      <a:pPr indent="0" lvl="0" marL="8191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88275" marB="0" marR="0" marL="0">
                    <a:lnL cap="flat" cmpd="sng" w="28575">
                      <a:solidFill>
                        <a:srgbClr val="000099"/>
                      </a:solidFill>
                      <a:prstDash val="solid"/>
                      <a:round/>
                      <a:headEnd len="sm" w="sm" type="none"/>
                      <a:tailEnd len="sm" w="sm" type="none"/>
                    </a:lnL>
                    <a:lnT cap="flat" cmpd="sng" w="28575">
                      <a:solidFill>
                        <a:srgbClr val="000099"/>
                      </a:solidFill>
                      <a:prstDash val="solid"/>
                      <a:round/>
                      <a:headEnd len="sm" w="sm" type="none"/>
                      <a:tailEnd len="sm" w="sm" type="none"/>
                    </a:lnT>
                  </a:tcPr>
                </a:tc>
                <a:tc>
                  <a:txBody>
                    <a:bodyPr/>
                    <a:lstStyle/>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88275" marB="0" marR="0" marL="0">
                    <a:lnT cap="flat" cmpd="sng" w="28575">
                      <a:solidFill>
                        <a:srgbClr val="000099"/>
                      </a:solidFill>
                      <a:prstDash val="solid"/>
                      <a:round/>
                      <a:headEnd len="sm" w="sm" type="none"/>
                      <a:tailEnd len="sm" w="sm" type="none"/>
                    </a:lnT>
                  </a:tcPr>
                </a:tc>
                <a:tc>
                  <a:txBody>
                    <a:bodyPr/>
                    <a:lstStyle/>
                    <a:p>
                      <a:pPr indent="0" lvl="0" marL="0" marR="59689" rtl="0" algn="r">
                        <a:lnSpc>
                          <a:spcPct val="100000"/>
                        </a:lnSpc>
                        <a:spcBef>
                          <a:spcPts val="0"/>
                        </a:spcBef>
                        <a:spcAft>
                          <a:spcPts val="0"/>
                        </a:spcAft>
                        <a:buNone/>
                      </a:pPr>
                      <a:r>
                        <a:rPr b="1" lang="en-US" sz="1800" u="none" cap="none" strike="noStrike">
                          <a:latin typeface="Courier New"/>
                          <a:ea typeface="Courier New"/>
                          <a:cs typeface="Courier New"/>
                          <a:sym typeface="Courier New"/>
                        </a:rPr>
                        <a:t>00010000</a:t>
                      </a:r>
                      <a:endParaRPr sz="1800" u="none" cap="none" strike="noStrike">
                        <a:latin typeface="Courier New"/>
                        <a:ea typeface="Courier New"/>
                        <a:cs typeface="Courier New"/>
                        <a:sym typeface="Courier New"/>
                      </a:endParaRPr>
                    </a:p>
                  </a:txBody>
                  <a:tcPr marT="88275" marB="0" marR="0" marL="0">
                    <a:lnT cap="flat" cmpd="sng" w="28575">
                      <a:solidFill>
                        <a:srgbClr val="000099"/>
                      </a:solidFill>
                      <a:prstDash val="solid"/>
                      <a:round/>
                      <a:headEnd len="sm" w="sm" type="none"/>
                      <a:tailEnd len="sm" w="sm" type="none"/>
                    </a:lnT>
                  </a:tcPr>
                </a:tc>
                <a:tc>
                  <a:txBody>
                    <a:bodyPr/>
                    <a:lstStyle/>
                    <a:p>
                      <a:pPr indent="0" lvl="0" marL="6731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00000000</a:t>
                      </a:r>
                      <a:endParaRPr sz="1800" u="none" cap="none" strike="noStrike">
                        <a:latin typeface="Courier New"/>
                        <a:ea typeface="Courier New"/>
                        <a:cs typeface="Courier New"/>
                        <a:sym typeface="Courier New"/>
                      </a:endParaRPr>
                    </a:p>
                  </a:txBody>
                  <a:tcPr marT="88275" marB="0" marR="0" marL="0">
                    <a:lnR cap="flat" cmpd="sng" w="12700">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r>
              <a:tr h="646475">
                <a:tc>
                  <a:txBody>
                    <a:bodyPr/>
                    <a:lstStyle/>
                    <a:p>
                      <a:pPr indent="0" lvl="0" marL="81915" marR="0" rtl="0" algn="l">
                        <a:lnSpc>
                          <a:spcPct val="102500"/>
                        </a:lnSpc>
                        <a:spcBef>
                          <a:spcPts val="0"/>
                        </a:spcBef>
                        <a:spcAft>
                          <a:spcPts val="0"/>
                        </a:spcAft>
                        <a:buNone/>
                      </a:pPr>
                      <a:r>
                        <a:rPr lang="en-US" sz="1800" u="none" cap="none" strike="noStrike">
                          <a:latin typeface="Arial"/>
                          <a:ea typeface="Arial"/>
                          <a:cs typeface="Arial"/>
                          <a:sym typeface="Arial"/>
                        </a:rPr>
                        <a:t>through</a:t>
                      </a:r>
                      <a:endParaRPr sz="1800" u="none" cap="none" strike="noStrike">
                        <a:latin typeface="Arial"/>
                        <a:ea typeface="Arial"/>
                        <a:cs typeface="Arial"/>
                        <a:sym typeface="Arial"/>
                      </a:endParaRPr>
                    </a:p>
                    <a:p>
                      <a:pPr indent="0" lvl="0" marL="81915" marR="0" rtl="0" algn="l">
                        <a:lnSpc>
                          <a:spcPct val="116944"/>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0" marB="0" marR="0" marL="0">
                    <a:lnL cap="flat" cmpd="sng" w="28575">
                      <a:solidFill>
                        <a:srgbClr val="000099"/>
                      </a:solidFill>
                      <a:prstDash val="solid"/>
                      <a:round/>
                      <a:headEnd len="sm" w="sm" type="none"/>
                      <a:tailEnd len="sm" w="sm" type="none"/>
                    </a:lnL>
                    <a:lnB cap="flat" cmpd="sng" w="28575">
                      <a:solidFill>
                        <a:srgbClr val="000099"/>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227325" marB="0" marR="0" marL="0">
                    <a:lnB cap="flat" cmpd="sng" w="28575">
                      <a:solidFill>
                        <a:srgbClr val="000099"/>
                      </a:solidFill>
                      <a:prstDash val="solid"/>
                      <a:round/>
                      <a:headEnd len="sm" w="sm" type="none"/>
                      <a:tailEnd len="sm" w="sm" type="none"/>
                    </a:lnB>
                  </a:tcPr>
                </a:tc>
                <a:tc>
                  <a:txBody>
                    <a:bodyPr/>
                    <a:lstStyle/>
                    <a:p>
                      <a:pPr indent="0" lvl="0" marL="0" marR="60325" rtl="0" algn="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227325" marB="0" marR="0" marL="0">
                    <a:lnB cap="flat" cmpd="sng" w="28575">
                      <a:solidFill>
                        <a:srgbClr val="000099"/>
                      </a:solidFill>
                      <a:prstDash val="solid"/>
                      <a:round/>
                      <a:headEnd len="sm" w="sm" type="none"/>
                      <a:tailEnd len="sm" w="sm" type="none"/>
                    </a:lnB>
                  </a:tcPr>
                </a:tc>
                <a:tc>
                  <a:txBody>
                    <a:bodyPr/>
                    <a:lstStyle/>
                    <a:p>
                      <a:pPr indent="0" lvl="0" marL="6731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11111111</a:t>
                      </a:r>
                      <a:endParaRPr sz="1800" u="none" cap="none" strike="noStrike">
                        <a:latin typeface="Courier New"/>
                        <a:ea typeface="Courier New"/>
                        <a:cs typeface="Courier New"/>
                        <a:sym typeface="Courier New"/>
                      </a:endParaRPr>
                    </a:p>
                  </a:txBody>
                  <a:tcPr marT="227325" marB="0" marR="0" marL="0">
                    <a:lnR cap="flat" cmpd="sng" w="12700">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c>
                  <a:txBody>
                    <a:bodyPr/>
                    <a:lstStyle/>
                    <a:p>
                      <a:pPr indent="0" lvl="0" marL="267335" marR="0" rtl="0" algn="l">
                        <a:lnSpc>
                          <a:spcPct val="100000"/>
                        </a:lnSpc>
                        <a:spcBef>
                          <a:spcPts val="0"/>
                        </a:spcBef>
                        <a:spcAft>
                          <a:spcPts val="0"/>
                        </a:spcAft>
                        <a:buNone/>
                      </a:pPr>
                      <a:r>
                        <a:rPr lang="en-US" sz="1800" u="none" cap="none" strike="noStrike">
                          <a:latin typeface="Arial"/>
                          <a:ea typeface="Arial"/>
                          <a:cs typeface="Arial"/>
                          <a:sym typeface="Arial"/>
                        </a:rPr>
                        <a:t>0</a:t>
                      </a:r>
                      <a:endParaRPr sz="1800" u="none" cap="none" strike="noStrike">
                        <a:latin typeface="Arial"/>
                        <a:ea typeface="Arial"/>
                        <a:cs typeface="Arial"/>
                        <a:sym typeface="Arial"/>
                      </a:endParaRPr>
                    </a:p>
                  </a:txBody>
                  <a:tcPr marT="380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r>
              <a:tr h="450000">
                <a:tc>
                  <a:txBody>
                    <a:bodyPr/>
                    <a:lstStyle/>
                    <a:p>
                      <a:pPr indent="0" lvl="0" marL="8191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129550" marB="0" marR="0" marL="0">
                    <a:lnL cap="flat" cmpd="sng" w="28575">
                      <a:solidFill>
                        <a:srgbClr val="000099"/>
                      </a:solidFill>
                      <a:prstDash val="solid"/>
                      <a:round/>
                      <a:headEnd len="sm" w="sm" type="none"/>
                      <a:tailEnd len="sm" w="sm" type="none"/>
                    </a:lnL>
                    <a:lnT cap="flat" cmpd="sng" w="28575">
                      <a:solidFill>
                        <a:srgbClr val="000099"/>
                      </a:solidFill>
                      <a:prstDash val="solid"/>
                      <a:round/>
                      <a:headEnd len="sm" w="sm" type="none"/>
                      <a:tailEnd len="sm" w="sm" type="none"/>
                    </a:lnT>
                  </a:tcPr>
                </a:tc>
                <a:tc>
                  <a:txBody>
                    <a:bodyPr/>
                    <a:lstStyle/>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129550" marB="0" marR="0" marL="0">
                    <a:lnT cap="flat" cmpd="sng" w="28575">
                      <a:solidFill>
                        <a:srgbClr val="000099"/>
                      </a:solidFill>
                      <a:prstDash val="solid"/>
                      <a:round/>
                      <a:headEnd len="sm" w="sm" type="none"/>
                      <a:tailEnd len="sm" w="sm" type="none"/>
                    </a:lnT>
                  </a:tcPr>
                </a:tc>
                <a:tc>
                  <a:txBody>
                    <a:bodyPr/>
                    <a:lstStyle/>
                    <a:p>
                      <a:pPr indent="0" lvl="0" marL="0" marR="60325" rtl="0" algn="r">
                        <a:lnSpc>
                          <a:spcPct val="100000"/>
                        </a:lnSpc>
                        <a:spcBef>
                          <a:spcPts val="0"/>
                        </a:spcBef>
                        <a:spcAft>
                          <a:spcPts val="0"/>
                        </a:spcAft>
                        <a:buNone/>
                      </a:pPr>
                      <a:r>
                        <a:rPr b="1" lang="en-US" sz="1800" u="none" cap="none" strike="noStrike">
                          <a:latin typeface="Courier New"/>
                          <a:ea typeface="Courier New"/>
                          <a:cs typeface="Courier New"/>
                          <a:sym typeface="Courier New"/>
                        </a:rPr>
                        <a:t>00011000</a:t>
                      </a:r>
                      <a:endParaRPr sz="1800" u="none" cap="none" strike="noStrike">
                        <a:latin typeface="Courier New"/>
                        <a:ea typeface="Courier New"/>
                        <a:cs typeface="Courier New"/>
                        <a:sym typeface="Courier New"/>
                      </a:endParaRPr>
                    </a:p>
                  </a:txBody>
                  <a:tcPr marT="129550" marB="0" marR="0" marL="0">
                    <a:lnT cap="flat" cmpd="sng" w="28575">
                      <a:solidFill>
                        <a:srgbClr val="000099"/>
                      </a:solidFill>
                      <a:prstDash val="solid"/>
                      <a:round/>
                      <a:headEnd len="sm" w="sm" type="none"/>
                      <a:tailEnd len="sm" w="sm" type="none"/>
                    </a:lnT>
                  </a:tcPr>
                </a:tc>
                <a:tc>
                  <a:txBody>
                    <a:bodyPr/>
                    <a:lstStyle/>
                    <a:p>
                      <a:pPr indent="0" lvl="0" marL="6731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00000000</a:t>
                      </a:r>
                      <a:endParaRPr sz="1800" u="none" cap="none" strike="noStrike">
                        <a:latin typeface="Courier New"/>
                        <a:ea typeface="Courier New"/>
                        <a:cs typeface="Courier New"/>
                        <a:sym typeface="Courier New"/>
                      </a:endParaRPr>
                    </a:p>
                  </a:txBody>
                  <a:tcPr marT="129550" marB="0" marR="0" marL="0">
                    <a:lnR cap="flat" cmpd="sng" w="12700">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r>
              <a:tr h="671650">
                <a:tc>
                  <a:txBody>
                    <a:bodyPr/>
                    <a:lstStyle/>
                    <a:p>
                      <a:pPr indent="0" lvl="0" marL="81915" marR="0" rtl="0" algn="l">
                        <a:lnSpc>
                          <a:spcPct val="102500"/>
                        </a:lnSpc>
                        <a:spcBef>
                          <a:spcPts val="0"/>
                        </a:spcBef>
                        <a:spcAft>
                          <a:spcPts val="0"/>
                        </a:spcAft>
                        <a:buNone/>
                      </a:pPr>
                      <a:r>
                        <a:rPr lang="en-US" sz="1800" u="none" cap="none" strike="noStrike">
                          <a:latin typeface="Arial"/>
                          <a:ea typeface="Arial"/>
                          <a:cs typeface="Arial"/>
                          <a:sym typeface="Arial"/>
                        </a:rPr>
                        <a:t>through</a:t>
                      </a:r>
                      <a:endParaRPr sz="1800" u="none" cap="none" strike="noStrike">
                        <a:latin typeface="Arial"/>
                        <a:ea typeface="Arial"/>
                        <a:cs typeface="Arial"/>
                        <a:sym typeface="Arial"/>
                      </a:endParaRPr>
                    </a:p>
                    <a:p>
                      <a:pPr indent="0" lvl="0" marL="81915" marR="0" rtl="0" algn="l">
                        <a:lnSpc>
                          <a:spcPct val="117499"/>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0" marB="0" marR="0" marL="0">
                    <a:lnL cap="flat" cmpd="sng" w="28575">
                      <a:solidFill>
                        <a:srgbClr val="000099"/>
                      </a:solidFill>
                      <a:prstDash val="solid"/>
                      <a:round/>
                      <a:headEnd len="sm" w="sm" type="none"/>
                      <a:tailEnd len="sm" w="sm" type="none"/>
                    </a:lnL>
                    <a:lnB cap="flat" cmpd="sng" w="28575">
                      <a:solidFill>
                        <a:srgbClr val="00009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5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1900" marB="0" marR="0" marL="0">
                    <a:lnB cap="flat" cmpd="sng" w="28575">
                      <a:solidFill>
                        <a:srgbClr val="00009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50" u="none" cap="none" strike="noStrike">
                        <a:latin typeface="Times New Roman"/>
                        <a:ea typeface="Times New Roman"/>
                        <a:cs typeface="Times New Roman"/>
                        <a:sym typeface="Times New Roman"/>
                      </a:endParaRPr>
                    </a:p>
                    <a:p>
                      <a:pPr indent="0" lvl="0" marL="0" marR="60325" rtl="0" algn="r">
                        <a:lnSpc>
                          <a:spcPct val="100000"/>
                        </a:lnSpc>
                        <a:spcBef>
                          <a:spcPts val="0"/>
                        </a:spcBef>
                        <a:spcAft>
                          <a:spcPts val="0"/>
                        </a:spcAft>
                        <a:buNone/>
                      </a:pPr>
                      <a:r>
                        <a:rPr b="1" lang="en-US" sz="1800" u="none" cap="none" strike="noStrike">
                          <a:latin typeface="Courier New"/>
                          <a:ea typeface="Courier New"/>
                          <a:cs typeface="Courier New"/>
                          <a:sym typeface="Courier New"/>
                        </a:rPr>
                        <a:t>00011000</a:t>
                      </a:r>
                      <a:endParaRPr sz="1800" u="none" cap="none" strike="noStrike">
                        <a:latin typeface="Courier New"/>
                        <a:ea typeface="Courier New"/>
                        <a:cs typeface="Courier New"/>
                        <a:sym typeface="Courier New"/>
                      </a:endParaRPr>
                    </a:p>
                  </a:txBody>
                  <a:tcPr marT="1900" marB="0" marR="0" marL="0">
                    <a:lnB cap="flat" cmpd="sng" w="28575">
                      <a:solidFill>
                        <a:srgbClr val="00009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50" u="none" cap="none" strike="noStrike">
                        <a:latin typeface="Times New Roman"/>
                        <a:ea typeface="Times New Roman"/>
                        <a:cs typeface="Times New Roman"/>
                        <a:sym typeface="Times New Roman"/>
                      </a:endParaRPr>
                    </a:p>
                    <a:p>
                      <a:pPr indent="0" lvl="0" marL="6731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11111111</a:t>
                      </a:r>
                      <a:endParaRPr sz="1800" u="none" cap="none" strike="noStrike">
                        <a:latin typeface="Courier New"/>
                        <a:ea typeface="Courier New"/>
                        <a:cs typeface="Courier New"/>
                        <a:sym typeface="Courier New"/>
                      </a:endParaRPr>
                    </a:p>
                  </a:txBody>
                  <a:tcPr marT="1900" marB="0" marR="0" marL="0">
                    <a:lnR cap="flat" cmpd="sng" w="12700">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c>
                  <a:txBody>
                    <a:bodyPr/>
                    <a:lstStyle/>
                    <a:p>
                      <a:pPr indent="0" lvl="0" marL="267335" marR="0" rtl="0" algn="l">
                        <a:lnSpc>
                          <a:spcPct val="100000"/>
                        </a:lnSpc>
                        <a:spcBef>
                          <a:spcPts val="0"/>
                        </a:spcBef>
                        <a:spcAft>
                          <a:spcPts val="0"/>
                        </a:spcAft>
                        <a:buNone/>
                      </a:pPr>
                      <a:r>
                        <a:rPr lang="en-US" sz="1800" u="none" cap="none" strike="noStrike">
                          <a:latin typeface="Arial"/>
                          <a:ea typeface="Arial"/>
                          <a:cs typeface="Arial"/>
                          <a:sym typeface="Arial"/>
                        </a:rPr>
                        <a:t>1</a:t>
                      </a:r>
                      <a:endParaRPr sz="1800" u="none" cap="none" strike="noStrike">
                        <a:latin typeface="Arial"/>
                        <a:ea typeface="Arial"/>
                        <a:cs typeface="Arial"/>
                        <a:sym typeface="Arial"/>
                      </a:endParaRPr>
                    </a:p>
                  </a:txBody>
                  <a:tcPr marT="445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r>
              <a:tr h="456600">
                <a:tc>
                  <a:txBody>
                    <a:bodyPr/>
                    <a:lstStyle/>
                    <a:p>
                      <a:pPr indent="0" lvl="0" marL="81915"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135900" marB="0" marR="0" marL="0">
                    <a:lnL cap="flat" cmpd="sng" w="28575">
                      <a:solidFill>
                        <a:srgbClr val="000099"/>
                      </a:solidFill>
                      <a:prstDash val="solid"/>
                      <a:round/>
                      <a:headEnd len="sm" w="sm" type="none"/>
                      <a:tailEnd len="sm" w="sm" type="none"/>
                    </a:lnL>
                    <a:lnT cap="flat" cmpd="sng" w="28575">
                      <a:solidFill>
                        <a:srgbClr val="000099"/>
                      </a:solidFill>
                      <a:prstDash val="solid"/>
                      <a:round/>
                      <a:headEnd len="sm" w="sm" type="none"/>
                      <a:tailEnd len="sm" w="sm" type="none"/>
                    </a:lnT>
                  </a:tcPr>
                </a:tc>
                <a:tc>
                  <a:txBody>
                    <a:bodyPr/>
                    <a:lstStyle/>
                    <a:p>
                      <a:pPr indent="0" lvl="0" marL="0" marR="0" rtl="0" algn="ctr">
                        <a:lnSpc>
                          <a:spcPct val="100000"/>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135900" marB="0" marR="0" marL="0">
                    <a:lnT cap="flat" cmpd="sng" w="28575">
                      <a:solidFill>
                        <a:srgbClr val="000099"/>
                      </a:solidFill>
                      <a:prstDash val="solid"/>
                      <a:round/>
                      <a:headEnd len="sm" w="sm" type="none"/>
                      <a:tailEnd len="sm" w="sm" type="none"/>
                    </a:lnT>
                  </a:tcPr>
                </a:tc>
                <a:tc>
                  <a:txBody>
                    <a:bodyPr/>
                    <a:lstStyle/>
                    <a:p>
                      <a:pPr indent="0" lvl="0" marL="0" marR="60325" rtl="0" algn="r">
                        <a:lnSpc>
                          <a:spcPct val="100000"/>
                        </a:lnSpc>
                        <a:spcBef>
                          <a:spcPts val="0"/>
                        </a:spcBef>
                        <a:spcAft>
                          <a:spcPts val="0"/>
                        </a:spcAft>
                        <a:buNone/>
                      </a:pPr>
                      <a:r>
                        <a:rPr b="1" lang="en-US" sz="1800" u="none" cap="none" strike="noStrike">
                          <a:latin typeface="Courier New"/>
                          <a:ea typeface="Courier New"/>
                          <a:cs typeface="Courier New"/>
                          <a:sym typeface="Courier New"/>
                        </a:rPr>
                        <a:t>00011001</a:t>
                      </a:r>
                      <a:endParaRPr sz="1800" u="none" cap="none" strike="noStrike">
                        <a:latin typeface="Courier New"/>
                        <a:ea typeface="Courier New"/>
                        <a:cs typeface="Courier New"/>
                        <a:sym typeface="Courier New"/>
                      </a:endParaRPr>
                    </a:p>
                  </a:txBody>
                  <a:tcPr marT="135900" marB="0" marR="0" marL="0">
                    <a:lnT cap="flat" cmpd="sng" w="28575">
                      <a:solidFill>
                        <a:srgbClr val="000099"/>
                      </a:solidFill>
                      <a:prstDash val="solid"/>
                      <a:round/>
                      <a:headEnd len="sm" w="sm" type="none"/>
                      <a:tailEnd len="sm" w="sm" type="none"/>
                    </a:lnT>
                  </a:tcPr>
                </a:tc>
                <a:tc>
                  <a:txBody>
                    <a:bodyPr/>
                    <a:lstStyle/>
                    <a:p>
                      <a:pPr indent="0" lvl="0" marL="67310" marR="0" rtl="0" algn="l">
                        <a:lnSpc>
                          <a:spcPct val="100000"/>
                        </a:lnSpc>
                        <a:spcBef>
                          <a:spcPts val="0"/>
                        </a:spcBef>
                        <a:spcAft>
                          <a:spcPts val="0"/>
                        </a:spcAft>
                        <a:buNone/>
                      </a:pPr>
                      <a:r>
                        <a:rPr b="1" lang="en-US" sz="1800" u="none" cap="none" strike="noStrike">
                          <a:latin typeface="Courier New"/>
                          <a:ea typeface="Courier New"/>
                          <a:cs typeface="Courier New"/>
                          <a:sym typeface="Courier New"/>
                        </a:rPr>
                        <a:t>00000000</a:t>
                      </a:r>
                      <a:endParaRPr sz="1800" u="none" cap="none" strike="noStrike">
                        <a:latin typeface="Courier New"/>
                        <a:ea typeface="Courier New"/>
                        <a:cs typeface="Courier New"/>
                        <a:sym typeface="Courier New"/>
                      </a:endParaRPr>
                    </a:p>
                  </a:txBody>
                  <a:tcPr marT="135900" marB="0" marR="0" marL="0">
                    <a:lnR cap="flat" cmpd="sng" w="12700">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tcPr>
                </a:tc>
              </a:tr>
              <a:tr h="263075">
                <a:tc>
                  <a:txBody>
                    <a:bodyPr/>
                    <a:lstStyle/>
                    <a:p>
                      <a:pPr indent="0" lvl="0" marL="81915" marR="0" rtl="0" algn="l">
                        <a:lnSpc>
                          <a:spcPct val="105277"/>
                        </a:lnSpc>
                        <a:spcBef>
                          <a:spcPts val="0"/>
                        </a:spcBef>
                        <a:spcAft>
                          <a:spcPts val="0"/>
                        </a:spcAft>
                        <a:buNone/>
                      </a:pPr>
                      <a:r>
                        <a:rPr lang="en-US" sz="1800" u="none" cap="none" strike="noStrike">
                          <a:latin typeface="Arial"/>
                          <a:ea typeface="Arial"/>
                          <a:cs typeface="Arial"/>
                          <a:sym typeface="Arial"/>
                        </a:rPr>
                        <a:t>through</a:t>
                      </a:r>
                      <a:endParaRPr sz="1800" u="none" cap="none" strike="noStrike">
                        <a:latin typeface="Arial"/>
                        <a:ea typeface="Arial"/>
                        <a:cs typeface="Arial"/>
                        <a:sym typeface="Arial"/>
                      </a:endParaRPr>
                    </a:p>
                  </a:txBody>
                  <a:tcPr marT="0" marB="0" marR="0" marL="0">
                    <a:lnL cap="flat" cmpd="sng" w="28575">
                      <a:solidFill>
                        <a:srgbClr val="000099"/>
                      </a:solidFill>
                      <a:prstDash val="solid"/>
                      <a:round/>
                      <a:headEnd len="sm" w="sm" type="none"/>
                      <a:tailEnd len="sm" w="sm" type="none"/>
                    </a:lnL>
                  </a:tcPr>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lnR cap="flat" cmpd="sng" w="12700">
                      <a:solidFill>
                        <a:srgbClr val="000099"/>
                      </a:solidFill>
                      <a:prstDash val="solid"/>
                      <a:round/>
                      <a:headEnd len="sm" w="sm" type="none"/>
                      <a:tailEnd len="sm" w="sm" type="none"/>
                    </a:lnR>
                  </a:tcPr>
                </a:tc>
                <a:tc>
                  <a:txBody>
                    <a:bodyPr/>
                    <a:lstStyle/>
                    <a:p>
                      <a:pPr indent="0" lvl="0" marL="267335" marR="0" rtl="0" algn="l">
                        <a:lnSpc>
                          <a:spcPct val="108611"/>
                        </a:lnSpc>
                        <a:spcBef>
                          <a:spcPts val="0"/>
                        </a:spcBef>
                        <a:spcAft>
                          <a:spcPts val="0"/>
                        </a:spcAft>
                        <a:buNone/>
                      </a:pPr>
                      <a:r>
                        <a:rPr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tcPr>
                </a:tc>
              </a:tr>
              <a:tr h="403500">
                <a:tc>
                  <a:txBody>
                    <a:bodyPr/>
                    <a:lstStyle/>
                    <a:p>
                      <a:pPr indent="0" lvl="0" marL="81915" marR="0" rtl="0" algn="l">
                        <a:lnSpc>
                          <a:spcPct val="104722"/>
                        </a:lnSpc>
                        <a:spcBef>
                          <a:spcPts val="0"/>
                        </a:spcBef>
                        <a:spcAft>
                          <a:spcPts val="0"/>
                        </a:spcAft>
                        <a:buNone/>
                      </a:pPr>
                      <a:r>
                        <a:rPr b="1" lang="en-US" sz="1800" u="none" cap="none" strike="noStrike">
                          <a:latin typeface="Courier New"/>
                          <a:ea typeface="Courier New"/>
                          <a:cs typeface="Courier New"/>
                          <a:sym typeface="Courier New"/>
                        </a:rPr>
                        <a:t>11001000</a:t>
                      </a:r>
                      <a:endParaRPr sz="1800" u="none" cap="none" strike="noStrike">
                        <a:latin typeface="Courier New"/>
                        <a:ea typeface="Courier New"/>
                        <a:cs typeface="Courier New"/>
                        <a:sym typeface="Courier New"/>
                      </a:endParaRPr>
                    </a:p>
                  </a:txBody>
                  <a:tcPr marT="0" marB="0" marR="0" marL="0">
                    <a:lnL cap="flat" cmpd="sng" w="28575">
                      <a:solidFill>
                        <a:srgbClr val="000099"/>
                      </a:solidFill>
                      <a:prstDash val="solid"/>
                      <a:round/>
                      <a:headEnd len="sm" w="sm" type="none"/>
                      <a:tailEnd len="sm" w="sm" type="none"/>
                    </a:lnL>
                    <a:lnB cap="flat" cmpd="sng" w="28575">
                      <a:solidFill>
                        <a:srgbClr val="000099"/>
                      </a:solidFill>
                      <a:prstDash val="solid"/>
                      <a:round/>
                      <a:headEnd len="sm" w="sm" type="none"/>
                      <a:tailEnd len="sm" w="sm" type="none"/>
                    </a:lnB>
                  </a:tcPr>
                </a:tc>
                <a:tc>
                  <a:txBody>
                    <a:bodyPr/>
                    <a:lstStyle/>
                    <a:p>
                      <a:pPr indent="0" lvl="0" marL="0" marR="0" rtl="0" algn="ctr">
                        <a:lnSpc>
                          <a:spcPct val="104722"/>
                        </a:lnSpc>
                        <a:spcBef>
                          <a:spcPts val="0"/>
                        </a:spcBef>
                        <a:spcAft>
                          <a:spcPts val="0"/>
                        </a:spcAft>
                        <a:buNone/>
                      </a:pPr>
                      <a:r>
                        <a:rPr b="1" lang="en-US" sz="1800" u="none" cap="none" strike="noStrike">
                          <a:latin typeface="Courier New"/>
                          <a:ea typeface="Courier New"/>
                          <a:cs typeface="Courier New"/>
                          <a:sym typeface="Courier New"/>
                        </a:rPr>
                        <a:t>00010111</a:t>
                      </a:r>
                      <a:endParaRPr sz="1800" u="none" cap="none" strike="noStrike">
                        <a:latin typeface="Courier New"/>
                        <a:ea typeface="Courier New"/>
                        <a:cs typeface="Courier New"/>
                        <a:sym typeface="Courier New"/>
                      </a:endParaRPr>
                    </a:p>
                  </a:txBody>
                  <a:tcPr marT="0" marB="0" marR="0" marL="0">
                    <a:lnB cap="flat" cmpd="sng" w="28575">
                      <a:solidFill>
                        <a:srgbClr val="000099"/>
                      </a:solidFill>
                      <a:prstDash val="solid"/>
                      <a:round/>
                      <a:headEnd len="sm" w="sm" type="none"/>
                      <a:tailEnd len="sm" w="sm" type="none"/>
                    </a:lnB>
                  </a:tcPr>
                </a:tc>
                <a:tc>
                  <a:txBody>
                    <a:bodyPr/>
                    <a:lstStyle/>
                    <a:p>
                      <a:pPr indent="0" lvl="0" marL="0" marR="60325" rtl="0" algn="r">
                        <a:lnSpc>
                          <a:spcPct val="104722"/>
                        </a:lnSpc>
                        <a:spcBef>
                          <a:spcPts val="0"/>
                        </a:spcBef>
                        <a:spcAft>
                          <a:spcPts val="0"/>
                        </a:spcAft>
                        <a:buNone/>
                      </a:pPr>
                      <a:r>
                        <a:rPr b="1" lang="en-US" sz="1800" u="none" cap="none" strike="noStrike">
                          <a:latin typeface="Courier New"/>
                          <a:ea typeface="Courier New"/>
                          <a:cs typeface="Courier New"/>
                          <a:sym typeface="Courier New"/>
                        </a:rPr>
                        <a:t>00011111</a:t>
                      </a:r>
                      <a:endParaRPr sz="1800" u="none" cap="none" strike="noStrike">
                        <a:latin typeface="Courier New"/>
                        <a:ea typeface="Courier New"/>
                        <a:cs typeface="Courier New"/>
                        <a:sym typeface="Courier New"/>
                      </a:endParaRPr>
                    </a:p>
                  </a:txBody>
                  <a:tcPr marT="0" marB="0" marR="0" marL="0">
                    <a:lnB cap="flat" cmpd="sng" w="28575">
                      <a:solidFill>
                        <a:srgbClr val="000099"/>
                      </a:solidFill>
                      <a:prstDash val="solid"/>
                      <a:round/>
                      <a:headEnd len="sm" w="sm" type="none"/>
                      <a:tailEnd len="sm" w="sm" type="none"/>
                    </a:lnB>
                  </a:tcPr>
                </a:tc>
                <a:tc>
                  <a:txBody>
                    <a:bodyPr/>
                    <a:lstStyle/>
                    <a:p>
                      <a:pPr indent="0" lvl="0" marL="67310" marR="0" rtl="0" algn="l">
                        <a:lnSpc>
                          <a:spcPct val="104722"/>
                        </a:lnSpc>
                        <a:spcBef>
                          <a:spcPts val="0"/>
                        </a:spcBef>
                        <a:spcAft>
                          <a:spcPts val="0"/>
                        </a:spcAft>
                        <a:buNone/>
                      </a:pPr>
                      <a:r>
                        <a:rPr b="1" lang="en-US" sz="1800" u="none" cap="none" strike="noStrike">
                          <a:latin typeface="Courier New"/>
                          <a:ea typeface="Courier New"/>
                          <a:cs typeface="Courier New"/>
                          <a:sym typeface="Courier New"/>
                        </a:rPr>
                        <a:t>11111111</a:t>
                      </a:r>
                      <a:endParaRPr sz="1800" u="none" cap="none" strike="noStrike">
                        <a:latin typeface="Courier New"/>
                        <a:ea typeface="Courier New"/>
                        <a:cs typeface="Courier New"/>
                        <a:sym typeface="Courier New"/>
                      </a:endParaRPr>
                    </a:p>
                  </a:txBody>
                  <a:tcPr marT="0" marB="0" marR="0" marL="0">
                    <a:lnR cap="flat" cmpd="sng" w="12700">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B cap="flat" cmpd="sng" w="28575">
                      <a:solidFill>
                        <a:srgbClr val="000099"/>
                      </a:solidFill>
                      <a:prstDash val="solid"/>
                      <a:round/>
                      <a:headEnd len="sm" w="sm" type="none"/>
                      <a:tailEnd len="sm" w="sm" type="none"/>
                    </a:lnB>
                  </a:tcPr>
                </a:tc>
              </a:tr>
              <a:tr h="618750">
                <a:tc gridSpan="4">
                  <a:txBody>
                    <a:bodyPr/>
                    <a:lstStyle/>
                    <a:p>
                      <a:pPr indent="0" lvl="0" marL="81915" marR="0" rtl="0" algn="l">
                        <a:lnSpc>
                          <a:spcPct val="100000"/>
                        </a:lnSpc>
                        <a:spcBef>
                          <a:spcPts val="0"/>
                        </a:spcBef>
                        <a:spcAft>
                          <a:spcPts val="0"/>
                        </a:spcAft>
                        <a:buNone/>
                      </a:pPr>
                      <a:r>
                        <a:rPr lang="en-US" sz="1800" u="none" cap="none" strike="noStrike">
                          <a:latin typeface="Arial"/>
                          <a:ea typeface="Arial"/>
                          <a:cs typeface="Arial"/>
                          <a:sym typeface="Arial"/>
                        </a:rPr>
                        <a:t>otherwise</a:t>
                      </a:r>
                      <a:endParaRPr sz="1800" u="none" cap="none" strike="noStrike">
                        <a:latin typeface="Arial"/>
                        <a:ea typeface="Arial"/>
                        <a:cs typeface="Arial"/>
                        <a:sym typeface="Arial"/>
                      </a:endParaRPr>
                    </a:p>
                  </a:txBody>
                  <a:tcPr marT="122550" marB="0" marR="0" marL="0">
                    <a:lnL cap="flat" cmpd="sng" w="28575">
                      <a:solidFill>
                        <a:srgbClr val="000099"/>
                      </a:solidFill>
                      <a:prstDash val="solid"/>
                      <a:round/>
                      <a:headEnd len="sm" w="sm" type="none"/>
                      <a:tailEnd len="sm" w="sm" type="none"/>
                    </a:lnL>
                    <a:lnR cap="flat" cmpd="sng" w="12700">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lnB cap="flat" cmpd="sng" w="28575">
                      <a:solidFill>
                        <a:srgbClr val="000099"/>
                      </a:solidFill>
                      <a:prstDash val="solid"/>
                      <a:round/>
                      <a:headEnd len="sm" w="sm" type="none"/>
                      <a:tailEnd len="sm" w="sm" type="none"/>
                    </a:lnB>
                  </a:tcPr>
                </a:tc>
                <a:tc hMerge="1"/>
                <a:tc hMerge="1"/>
                <a:tc hMerge="1"/>
                <a:tc>
                  <a:txBody>
                    <a:bodyPr/>
                    <a:lstStyle/>
                    <a:p>
                      <a:pPr indent="0" lvl="0" marL="267335" marR="0" rtl="0" algn="l">
                        <a:lnSpc>
                          <a:spcPct val="100000"/>
                        </a:lnSpc>
                        <a:spcBef>
                          <a:spcPts val="0"/>
                        </a:spcBef>
                        <a:spcAft>
                          <a:spcPts val="0"/>
                        </a:spcAft>
                        <a:buNone/>
                      </a:pPr>
                      <a:r>
                        <a:rPr lang="en-US" sz="1800" u="none" cap="none" strike="noStrike">
                          <a:latin typeface="Arial"/>
                          <a:ea typeface="Arial"/>
                          <a:cs typeface="Arial"/>
                          <a:sym typeface="Arial"/>
                        </a:rPr>
                        <a:t>3</a:t>
                      </a:r>
                      <a:endParaRPr/>
                    </a:p>
                  </a:txBody>
                  <a:tcPr marT="130175" marB="0" marR="0" marL="0">
                    <a:lnL cap="flat" cmpd="sng" w="12700">
                      <a:solidFill>
                        <a:srgbClr val="000099"/>
                      </a:solidFill>
                      <a:prstDash val="solid"/>
                      <a:round/>
                      <a:headEnd len="sm" w="sm" type="none"/>
                      <a:tailEnd len="sm" w="sm" type="none"/>
                    </a:lnL>
                    <a:lnR cap="flat" cmpd="sng" w="28575">
                      <a:solidFill>
                        <a:srgbClr val="000099"/>
                      </a:solidFill>
                      <a:prstDash val="solid"/>
                      <a:round/>
                      <a:headEnd len="sm" w="sm" type="none"/>
                      <a:tailEnd len="sm" w="sm" type="none"/>
                    </a:lnR>
                    <a:lnT cap="flat" cmpd="sng" w="28575">
                      <a:solidFill>
                        <a:srgbClr val="000099"/>
                      </a:solidFill>
                      <a:prstDash val="solid"/>
                      <a:round/>
                      <a:headEnd len="sm" w="sm" type="none"/>
                      <a:tailEnd len="sm" w="sm" type="none"/>
                    </a:lnT>
                    <a:lnB cap="flat" cmpd="sng" w="28575">
                      <a:solidFill>
                        <a:srgbClr val="000099"/>
                      </a:solidFill>
                      <a:prstDash val="solid"/>
                      <a:round/>
                      <a:headEnd len="sm" w="sm" type="none"/>
                      <a:tailEnd len="sm" w="sm" type="none"/>
                    </a:lnB>
                  </a:tcPr>
                </a:tc>
              </a:tr>
            </a:tbl>
          </a:graphicData>
        </a:graphic>
      </p:graphicFrame>
      <p:sp>
        <p:nvSpPr>
          <p:cNvPr id="570" name="Google Shape;570;p29"/>
          <p:cNvSpPr/>
          <p:nvPr/>
        </p:nvSpPr>
        <p:spPr>
          <a:xfrm>
            <a:off x="2129027" y="771144"/>
            <a:ext cx="5942076" cy="1737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29"/>
          <p:cNvSpPr/>
          <p:nvPr/>
        </p:nvSpPr>
        <p:spPr>
          <a:xfrm>
            <a:off x="2406774" y="5920373"/>
            <a:ext cx="589902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11001000 00010111 00010110 10100001</a:t>
            </a:r>
            <a:endParaRPr b="1"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11001000 00010111 00011000 10101010</a:t>
            </a:r>
            <a:endParaRPr b="1" sz="24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0"/>
          <p:cNvSpPr txBox="1"/>
          <p:nvPr>
            <p:ph type="title"/>
          </p:nvPr>
        </p:nvSpPr>
        <p:spPr>
          <a:xfrm>
            <a:off x="2895600" y="304800"/>
            <a:ext cx="6862192"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Datagram forwarding	table</a:t>
            </a:r>
            <a:endParaRPr sz="4400">
              <a:latin typeface="Arial"/>
              <a:ea typeface="Arial"/>
              <a:cs typeface="Arial"/>
              <a:sym typeface="Arial"/>
            </a:endParaRPr>
          </a:p>
        </p:txBody>
      </p:sp>
      <p:sp>
        <p:nvSpPr>
          <p:cNvPr id="577" name="Google Shape;577;p30"/>
          <p:cNvSpPr txBox="1"/>
          <p:nvPr/>
        </p:nvSpPr>
        <p:spPr>
          <a:xfrm>
            <a:off x="1981200" y="1158494"/>
            <a:ext cx="8073390" cy="4275914"/>
          </a:xfrm>
          <a:prstGeom prst="rect">
            <a:avLst/>
          </a:prstGeom>
          <a:noFill/>
          <a:ln>
            <a:noFill/>
          </a:ln>
        </p:spPr>
        <p:txBody>
          <a:bodyPr anchorCtr="0" anchor="t" bIns="0" lIns="0" spcFirstLastPara="1" rIns="0" wrap="square" tIns="52700">
            <a:spAutoFit/>
          </a:bodyPr>
          <a:lstStyle/>
          <a:p>
            <a:pPr indent="-342900" lvl="0" marL="355600" marR="5080" rtl="0" algn="just">
              <a:lnSpc>
                <a:spcPct val="9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With this style of forwarding table, the router matches a  </a:t>
            </a:r>
            <a:r>
              <a:rPr b="1" lang="en-US" sz="2400">
                <a:solidFill>
                  <a:schemeClr val="dk1"/>
                </a:solidFill>
                <a:latin typeface="Times New Roman"/>
                <a:ea typeface="Times New Roman"/>
                <a:cs typeface="Times New Roman"/>
                <a:sym typeface="Times New Roman"/>
              </a:rPr>
              <a:t>prefix of the packet’s destination </a:t>
            </a:r>
            <a:r>
              <a:rPr lang="en-US" sz="2400">
                <a:solidFill>
                  <a:schemeClr val="dk1"/>
                </a:solidFill>
                <a:latin typeface="Times New Roman"/>
                <a:ea typeface="Times New Roman"/>
                <a:cs typeface="Times New Roman"/>
                <a:sym typeface="Times New Roman"/>
              </a:rPr>
              <a:t>address with the  entries in the table; </a:t>
            </a:r>
            <a:r>
              <a:rPr lang="en-US" sz="2400">
                <a:solidFill>
                  <a:srgbClr val="1F487C"/>
                </a:solidFill>
                <a:latin typeface="Times New Roman"/>
                <a:ea typeface="Times New Roman"/>
                <a:cs typeface="Times New Roman"/>
                <a:sym typeface="Times New Roman"/>
              </a:rPr>
              <a:t>if there’s a match</a:t>
            </a:r>
            <a:r>
              <a:rPr lang="en-US" sz="2400">
                <a:solidFill>
                  <a:schemeClr val="dk1"/>
                </a:solidFill>
                <a:latin typeface="Times New Roman"/>
                <a:ea typeface="Times New Roman"/>
                <a:cs typeface="Times New Roman"/>
                <a:sym typeface="Times New Roman"/>
              </a:rPr>
              <a:t>,  the router  forwards the packet to a link associated with the match.</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55600" marR="6350" rtl="0" algn="just">
              <a:lnSpc>
                <a:spcPct val="117083"/>
              </a:lnSpc>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For example, suppose the packet’s destination address is  11001000 00010111 00010110 10100001; because the  21-bit prefix of this address matches the first entry in the  table, the router forwards the packet to </a:t>
            </a:r>
            <a:r>
              <a:rPr lang="en-US" sz="2400">
                <a:solidFill>
                  <a:srgbClr val="1F487C"/>
                </a:solidFill>
                <a:latin typeface="Times New Roman"/>
                <a:ea typeface="Times New Roman"/>
                <a:cs typeface="Times New Roman"/>
                <a:sym typeface="Times New Roman"/>
              </a:rPr>
              <a:t>link interface 0.</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55600" marR="554355" rtl="0" algn="l">
              <a:lnSpc>
                <a:spcPct val="117083"/>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If a prefix </a:t>
            </a:r>
            <a:r>
              <a:rPr lang="en-US" sz="2400">
                <a:solidFill>
                  <a:srgbClr val="1F487C"/>
                </a:solidFill>
                <a:latin typeface="Times New Roman"/>
                <a:ea typeface="Times New Roman"/>
                <a:cs typeface="Times New Roman"/>
                <a:sym typeface="Times New Roman"/>
              </a:rPr>
              <a:t>doesn’t match any </a:t>
            </a:r>
            <a:r>
              <a:rPr lang="en-US" sz="2400">
                <a:solidFill>
                  <a:schemeClr val="dk1"/>
                </a:solidFill>
                <a:latin typeface="Times New Roman"/>
                <a:ea typeface="Times New Roman"/>
                <a:cs typeface="Times New Roman"/>
                <a:sym typeface="Times New Roman"/>
              </a:rPr>
              <a:t>of the first three entries,  then the router forwards the packet to interface 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1"/>
          <p:cNvSpPr txBox="1"/>
          <p:nvPr>
            <p:ph type="title"/>
          </p:nvPr>
        </p:nvSpPr>
        <p:spPr>
          <a:xfrm>
            <a:off x="2967608" y="461899"/>
            <a:ext cx="6785992"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Datagram forwarding	table</a:t>
            </a:r>
            <a:endParaRPr sz="4400">
              <a:latin typeface="Arial"/>
              <a:ea typeface="Arial"/>
              <a:cs typeface="Arial"/>
              <a:sym typeface="Arial"/>
            </a:endParaRPr>
          </a:p>
        </p:txBody>
      </p:sp>
      <p:sp>
        <p:nvSpPr>
          <p:cNvPr id="583" name="Google Shape;583;p31"/>
          <p:cNvSpPr txBox="1"/>
          <p:nvPr/>
        </p:nvSpPr>
        <p:spPr>
          <a:xfrm>
            <a:off x="2060194" y="1538681"/>
            <a:ext cx="8226425" cy="1754505"/>
          </a:xfrm>
          <a:prstGeom prst="rect">
            <a:avLst/>
          </a:prstGeom>
          <a:noFill/>
          <a:ln>
            <a:noFill/>
          </a:ln>
        </p:spPr>
        <p:txBody>
          <a:bodyPr anchorCtr="0" anchor="t" bIns="0" lIns="0" spcFirstLastPara="1" rIns="0" wrap="square" tIns="95250">
            <a:spAutoFit/>
          </a:bodyPr>
          <a:lstStyle/>
          <a:p>
            <a:pPr indent="-342900" lvl="0" marL="355600" marR="5080" rtl="0" algn="just">
              <a:lnSpc>
                <a:spcPct val="80000"/>
              </a:lnSpc>
              <a:spcBef>
                <a:spcPts val="0"/>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it is possible for a destination address to match more  than one entry. </a:t>
            </a:r>
            <a:r>
              <a:rPr lang="en-US" sz="2700">
                <a:solidFill>
                  <a:srgbClr val="C00000"/>
                </a:solidFill>
                <a:latin typeface="Times New Roman"/>
                <a:ea typeface="Times New Roman"/>
                <a:cs typeface="Times New Roman"/>
                <a:sym typeface="Times New Roman"/>
              </a:rPr>
              <a:t>For example, the first 24 bits of the  address 11001000 00010111 00011000 10101010 match  the second entry in the table, and the first 21 bits of the  address match the third entry in the table.</a:t>
            </a:r>
            <a:endParaRPr sz="2700">
              <a:solidFill>
                <a:schemeClr val="dk1"/>
              </a:solidFill>
              <a:latin typeface="Times New Roman"/>
              <a:ea typeface="Times New Roman"/>
              <a:cs typeface="Times New Roman"/>
              <a:sym typeface="Times New Roman"/>
            </a:endParaRPr>
          </a:p>
        </p:txBody>
      </p:sp>
      <p:sp>
        <p:nvSpPr>
          <p:cNvPr id="584" name="Google Shape;584;p31"/>
          <p:cNvSpPr txBox="1"/>
          <p:nvPr/>
        </p:nvSpPr>
        <p:spPr>
          <a:xfrm>
            <a:off x="2060194" y="4502277"/>
            <a:ext cx="8226425" cy="1754505"/>
          </a:xfrm>
          <a:prstGeom prst="rect">
            <a:avLst/>
          </a:prstGeom>
          <a:noFill/>
          <a:ln>
            <a:noFill/>
          </a:ln>
        </p:spPr>
        <p:txBody>
          <a:bodyPr anchorCtr="0" anchor="t" bIns="0" lIns="0" spcFirstLastPara="1" rIns="0" wrap="square" tIns="94600">
            <a:spAutoFit/>
          </a:bodyPr>
          <a:lstStyle/>
          <a:p>
            <a:pPr indent="-342900" lvl="0" marL="355600" marR="5080" rtl="0" algn="just">
              <a:lnSpc>
                <a:spcPct val="80000"/>
              </a:lnSpc>
              <a:spcBef>
                <a:spcPts val="0"/>
              </a:spcBef>
              <a:spcAft>
                <a:spcPts val="0"/>
              </a:spcAft>
              <a:buClr>
                <a:schemeClr val="dk1"/>
              </a:buClr>
              <a:buSzPts val="2700"/>
              <a:buFont typeface="Arial"/>
              <a:buChar char="•"/>
            </a:pPr>
            <a:r>
              <a:rPr lang="en-US" sz="2700">
                <a:solidFill>
                  <a:schemeClr val="dk1"/>
                </a:solidFill>
                <a:latin typeface="Times New Roman"/>
                <a:ea typeface="Times New Roman"/>
                <a:cs typeface="Times New Roman"/>
                <a:sym typeface="Times New Roman"/>
              </a:rPr>
              <a:t>When there are </a:t>
            </a:r>
            <a:r>
              <a:rPr lang="en-US" sz="2700">
                <a:solidFill>
                  <a:srgbClr val="1F487C"/>
                </a:solidFill>
                <a:latin typeface="Times New Roman"/>
                <a:ea typeface="Times New Roman"/>
                <a:cs typeface="Times New Roman"/>
                <a:sym typeface="Times New Roman"/>
              </a:rPr>
              <a:t>multiple matches, </a:t>
            </a:r>
            <a:r>
              <a:rPr lang="en-US" sz="2700">
                <a:solidFill>
                  <a:schemeClr val="dk1"/>
                </a:solidFill>
                <a:latin typeface="Times New Roman"/>
                <a:ea typeface="Times New Roman"/>
                <a:cs typeface="Times New Roman"/>
                <a:sym typeface="Times New Roman"/>
              </a:rPr>
              <a:t>the router uses the  </a:t>
            </a:r>
            <a:r>
              <a:rPr b="1" lang="en-US" sz="2700">
                <a:solidFill>
                  <a:schemeClr val="dk1"/>
                </a:solidFill>
                <a:latin typeface="Times New Roman"/>
                <a:ea typeface="Times New Roman"/>
                <a:cs typeface="Times New Roman"/>
                <a:sym typeface="Times New Roman"/>
              </a:rPr>
              <a:t>longest prefix matching rule; that </a:t>
            </a:r>
            <a:r>
              <a:rPr lang="en-US" sz="2700">
                <a:solidFill>
                  <a:schemeClr val="dk1"/>
                </a:solidFill>
                <a:latin typeface="Times New Roman"/>
                <a:ea typeface="Times New Roman"/>
                <a:cs typeface="Times New Roman"/>
                <a:sym typeface="Times New Roman"/>
              </a:rPr>
              <a:t>is, it </a:t>
            </a:r>
            <a:r>
              <a:rPr lang="en-US" sz="2700">
                <a:solidFill>
                  <a:srgbClr val="1F487C"/>
                </a:solidFill>
                <a:latin typeface="Times New Roman"/>
                <a:ea typeface="Times New Roman"/>
                <a:cs typeface="Times New Roman"/>
                <a:sym typeface="Times New Roman"/>
              </a:rPr>
              <a:t>finds the  longest matching entry in the table </a:t>
            </a:r>
            <a:r>
              <a:rPr lang="en-US" sz="2700">
                <a:solidFill>
                  <a:schemeClr val="dk1"/>
                </a:solidFill>
                <a:latin typeface="Times New Roman"/>
                <a:ea typeface="Times New Roman"/>
                <a:cs typeface="Times New Roman"/>
                <a:sym typeface="Times New Roman"/>
              </a:rPr>
              <a:t>and forwards the  packet to the link interface associated with the longest  prefix match.</a:t>
            </a:r>
            <a:endParaRPr sz="27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2"/>
          <p:cNvSpPr txBox="1"/>
          <p:nvPr>
            <p:ph type="title"/>
          </p:nvPr>
        </p:nvSpPr>
        <p:spPr>
          <a:xfrm>
            <a:off x="3044444" y="165303"/>
            <a:ext cx="626618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i="0" lang="en-US" sz="4400">
                <a:latin typeface="Arial"/>
                <a:ea typeface="Arial"/>
                <a:cs typeface="Arial"/>
                <a:sym typeface="Arial"/>
              </a:rPr>
              <a:t>Longest prefix matching</a:t>
            </a:r>
            <a:endParaRPr sz="4400">
              <a:latin typeface="Arial"/>
              <a:ea typeface="Arial"/>
              <a:cs typeface="Arial"/>
              <a:sym typeface="Arial"/>
            </a:endParaRPr>
          </a:p>
        </p:txBody>
      </p:sp>
      <p:sp>
        <p:nvSpPr>
          <p:cNvPr id="590" name="Google Shape;590;p32"/>
          <p:cNvSpPr txBox="1"/>
          <p:nvPr/>
        </p:nvSpPr>
        <p:spPr>
          <a:xfrm>
            <a:off x="5632450" y="6426504"/>
            <a:ext cx="927100"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rgbClr val="888888"/>
                </a:solidFill>
                <a:latin typeface="Arial"/>
                <a:ea typeface="Arial"/>
                <a:cs typeface="Arial"/>
                <a:sym typeface="Arial"/>
              </a:rPr>
              <a:t>Network Layer</a:t>
            </a:r>
            <a:endParaRPr sz="1200">
              <a:solidFill>
                <a:schemeClr val="dk1"/>
              </a:solidFill>
              <a:latin typeface="Arial"/>
              <a:ea typeface="Arial"/>
              <a:cs typeface="Arial"/>
              <a:sym typeface="Arial"/>
            </a:endParaRPr>
          </a:p>
        </p:txBody>
      </p:sp>
      <p:sp>
        <p:nvSpPr>
          <p:cNvPr id="591" name="Google Shape;591;p32"/>
          <p:cNvSpPr/>
          <p:nvPr/>
        </p:nvSpPr>
        <p:spPr>
          <a:xfrm>
            <a:off x="3429000" y="838200"/>
            <a:ext cx="5484876" cy="17373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32"/>
          <p:cNvSpPr txBox="1"/>
          <p:nvPr/>
        </p:nvSpPr>
        <p:spPr>
          <a:xfrm>
            <a:off x="2161794" y="1771853"/>
            <a:ext cx="311213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i="1" lang="en-US" sz="2800">
                <a:solidFill>
                  <a:srgbClr val="CC0000"/>
                </a:solidFill>
                <a:latin typeface="Trebuchet MS"/>
                <a:ea typeface="Trebuchet MS"/>
                <a:cs typeface="Trebuchet MS"/>
                <a:sym typeface="Trebuchet MS"/>
              </a:rPr>
              <a:t>longest prefix matching</a:t>
            </a:r>
            <a:endParaRPr sz="2800">
              <a:solidFill>
                <a:schemeClr val="dk1"/>
              </a:solidFill>
              <a:latin typeface="Trebuchet MS"/>
              <a:ea typeface="Trebuchet MS"/>
              <a:cs typeface="Trebuchet MS"/>
              <a:sym typeface="Trebuchet MS"/>
            </a:endParaRPr>
          </a:p>
        </p:txBody>
      </p:sp>
      <p:sp>
        <p:nvSpPr>
          <p:cNvPr id="593" name="Google Shape;593;p32"/>
          <p:cNvSpPr txBox="1"/>
          <p:nvPr/>
        </p:nvSpPr>
        <p:spPr>
          <a:xfrm>
            <a:off x="2060194" y="2755518"/>
            <a:ext cx="6948805"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when	looking	for	forwarding	table	entry	for</a:t>
            </a:r>
            <a:endParaRPr sz="2800">
              <a:solidFill>
                <a:schemeClr val="dk1"/>
              </a:solidFill>
              <a:latin typeface="Times New Roman"/>
              <a:ea typeface="Times New Roman"/>
              <a:cs typeface="Times New Roman"/>
              <a:sym typeface="Times New Roman"/>
            </a:endParaRPr>
          </a:p>
        </p:txBody>
      </p:sp>
      <p:sp>
        <p:nvSpPr>
          <p:cNvPr id="594" name="Google Shape;594;p32"/>
          <p:cNvSpPr txBox="1"/>
          <p:nvPr/>
        </p:nvSpPr>
        <p:spPr>
          <a:xfrm>
            <a:off x="9394317" y="2755518"/>
            <a:ext cx="815340" cy="793115"/>
          </a:xfrm>
          <a:prstGeom prst="rect">
            <a:avLst/>
          </a:prstGeom>
          <a:noFill/>
          <a:ln>
            <a:noFill/>
          </a:ln>
        </p:spPr>
        <p:txBody>
          <a:bodyPr anchorCtr="0" anchor="t" bIns="0" lIns="0" spcFirstLastPara="1" rIns="0" wrap="square" tIns="12050">
            <a:spAutoFit/>
          </a:bodyPr>
          <a:lstStyle/>
          <a:p>
            <a:pPr indent="0" lvl="0" marL="0" marR="5080" rtl="0" algn="r">
              <a:lnSpc>
                <a:spcPct val="108035"/>
              </a:lnSpc>
              <a:spcBef>
                <a:spcPts val="0"/>
              </a:spcBef>
              <a:spcAft>
                <a:spcPts val="0"/>
              </a:spcAft>
              <a:buNone/>
            </a:pPr>
            <a:r>
              <a:rPr lang="en-US" sz="2800">
                <a:solidFill>
                  <a:schemeClr val="dk1"/>
                </a:solidFill>
                <a:latin typeface="Times New Roman"/>
                <a:ea typeface="Times New Roman"/>
                <a:cs typeface="Times New Roman"/>
                <a:sym typeface="Times New Roman"/>
              </a:rPr>
              <a:t>given</a:t>
            </a:r>
            <a:endParaRPr sz="2800">
              <a:solidFill>
                <a:schemeClr val="dk1"/>
              </a:solidFill>
              <a:latin typeface="Times New Roman"/>
              <a:ea typeface="Times New Roman"/>
              <a:cs typeface="Times New Roman"/>
              <a:sym typeface="Times New Roman"/>
            </a:endParaRPr>
          </a:p>
          <a:p>
            <a:pPr indent="0" lvl="0" marL="0" marR="5080" rtl="0" algn="r">
              <a:lnSpc>
                <a:spcPct val="108035"/>
              </a:lnSpc>
              <a:spcBef>
                <a:spcPts val="0"/>
              </a:spcBef>
              <a:spcAft>
                <a:spcPts val="0"/>
              </a:spcAft>
              <a:buNone/>
            </a:pPr>
            <a:r>
              <a:rPr lang="en-US" sz="2800">
                <a:solidFill>
                  <a:schemeClr val="dk1"/>
                </a:solidFill>
                <a:latin typeface="Times New Roman"/>
                <a:ea typeface="Times New Roman"/>
                <a:cs typeface="Times New Roman"/>
                <a:sym typeface="Times New Roman"/>
              </a:rPr>
              <a:t>that</a:t>
            </a:r>
            <a:endParaRPr sz="2800">
              <a:solidFill>
                <a:schemeClr val="dk1"/>
              </a:solidFill>
              <a:latin typeface="Times New Roman"/>
              <a:ea typeface="Times New Roman"/>
              <a:cs typeface="Times New Roman"/>
              <a:sym typeface="Times New Roman"/>
            </a:endParaRPr>
          </a:p>
        </p:txBody>
      </p:sp>
      <p:sp>
        <p:nvSpPr>
          <p:cNvPr id="595" name="Google Shape;595;p32"/>
          <p:cNvSpPr txBox="1"/>
          <p:nvPr/>
        </p:nvSpPr>
        <p:spPr>
          <a:xfrm>
            <a:off x="2060194" y="3096590"/>
            <a:ext cx="725043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destination	address,	use	</a:t>
            </a:r>
            <a:r>
              <a:rPr i="1" lang="en-US" sz="2800">
                <a:solidFill>
                  <a:srgbClr val="000099"/>
                </a:solidFill>
                <a:latin typeface="Times New Roman"/>
                <a:ea typeface="Times New Roman"/>
                <a:cs typeface="Times New Roman"/>
                <a:sym typeface="Times New Roman"/>
              </a:rPr>
              <a:t>longest	</a:t>
            </a:r>
            <a:r>
              <a:rPr lang="en-US" sz="2800">
                <a:solidFill>
                  <a:schemeClr val="dk1"/>
                </a:solidFill>
                <a:latin typeface="Times New Roman"/>
                <a:ea typeface="Times New Roman"/>
                <a:cs typeface="Times New Roman"/>
                <a:sym typeface="Times New Roman"/>
              </a:rPr>
              <a:t>address	prefix</a:t>
            </a:r>
            <a:endParaRPr sz="2800">
              <a:solidFill>
                <a:schemeClr val="dk1"/>
              </a:solidFill>
              <a:latin typeface="Times New Roman"/>
              <a:ea typeface="Times New Roman"/>
              <a:cs typeface="Times New Roman"/>
              <a:sym typeface="Times New Roman"/>
            </a:endParaRPr>
          </a:p>
        </p:txBody>
      </p:sp>
      <p:sp>
        <p:nvSpPr>
          <p:cNvPr id="596" name="Google Shape;596;p32"/>
          <p:cNvSpPr txBox="1"/>
          <p:nvPr/>
        </p:nvSpPr>
        <p:spPr>
          <a:xfrm>
            <a:off x="2060194" y="3437966"/>
            <a:ext cx="4078604"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matches destination address.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3"/>
          <p:cNvSpPr txBox="1"/>
          <p:nvPr>
            <p:ph type="title"/>
          </p:nvPr>
        </p:nvSpPr>
        <p:spPr>
          <a:xfrm>
            <a:off x="4970779" y="256489"/>
            <a:ext cx="2877821" cy="680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i="0" lang="en-US" sz="4300">
                <a:solidFill>
                  <a:srgbClr val="000080"/>
                </a:solidFill>
                <a:latin typeface="Arial"/>
                <a:ea typeface="Arial"/>
                <a:cs typeface="Arial"/>
                <a:sym typeface="Arial"/>
              </a:rPr>
              <a:t>Datagram</a:t>
            </a:r>
            <a:endParaRPr sz="4300">
              <a:latin typeface="Arial"/>
              <a:ea typeface="Arial"/>
              <a:cs typeface="Arial"/>
              <a:sym typeface="Arial"/>
            </a:endParaRPr>
          </a:p>
        </p:txBody>
      </p:sp>
      <p:sp>
        <p:nvSpPr>
          <p:cNvPr id="602" name="Google Shape;602;p33"/>
          <p:cNvSpPr txBox="1"/>
          <p:nvPr/>
        </p:nvSpPr>
        <p:spPr>
          <a:xfrm>
            <a:off x="4944617" y="1597228"/>
            <a:ext cx="93726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Arial"/>
                <a:ea typeface="Arial"/>
                <a:cs typeface="Arial"/>
                <a:sym typeface="Arial"/>
              </a:rPr>
              <a:t>treated</a:t>
            </a:r>
            <a:endParaRPr sz="2400">
              <a:solidFill>
                <a:schemeClr val="dk1"/>
              </a:solidFill>
              <a:latin typeface="Arial"/>
              <a:ea typeface="Arial"/>
              <a:cs typeface="Arial"/>
              <a:sym typeface="Arial"/>
            </a:endParaRPr>
          </a:p>
        </p:txBody>
      </p:sp>
      <p:sp>
        <p:nvSpPr>
          <p:cNvPr id="603" name="Google Shape;603;p33"/>
          <p:cNvSpPr txBox="1"/>
          <p:nvPr/>
        </p:nvSpPr>
        <p:spPr>
          <a:xfrm>
            <a:off x="1967864" y="1597228"/>
            <a:ext cx="8014336" cy="758190"/>
          </a:xfrm>
          <a:prstGeom prst="rect">
            <a:avLst/>
          </a:prstGeom>
          <a:noFill/>
          <a:ln>
            <a:noFill/>
          </a:ln>
        </p:spPr>
        <p:txBody>
          <a:bodyPr anchorCtr="0" anchor="t" bIns="0" lIns="0" spcFirstLastPara="1" rIns="0" wrap="square" tIns="12700">
            <a:spAutoFit/>
          </a:bodyPr>
          <a:lstStyle/>
          <a:p>
            <a:pPr indent="-294640" lvl="0" marL="306705" marR="0" rtl="0" algn="l">
              <a:lnSpc>
                <a:spcPct val="100000"/>
              </a:lnSpc>
              <a:spcBef>
                <a:spcPts val="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Each	packet</a:t>
            </a:r>
            <a:endParaRPr sz="2400">
              <a:solidFill>
                <a:schemeClr val="dk1"/>
              </a:solidFill>
              <a:latin typeface="Arial"/>
              <a:ea typeface="Arial"/>
              <a:cs typeface="Arial"/>
              <a:sym typeface="Arial"/>
            </a:endParaRPr>
          </a:p>
          <a:p>
            <a:pPr indent="0" lvl="0" marL="306705" marR="0" rtl="0" algn="l">
              <a:lnSpc>
                <a:spcPct val="100000"/>
              </a:lnSpc>
              <a:spcBef>
                <a:spcPts val="5"/>
              </a:spcBef>
              <a:spcAft>
                <a:spcPts val="0"/>
              </a:spcAft>
              <a:buNone/>
            </a:pPr>
            <a:r>
              <a:rPr lang="en-US" sz="2400">
                <a:solidFill>
                  <a:srgbClr val="1F487C"/>
                </a:solidFill>
                <a:latin typeface="Arial"/>
                <a:ea typeface="Arial"/>
                <a:cs typeface="Arial"/>
                <a:sym typeface="Arial"/>
              </a:rPr>
              <a:t>independently </a:t>
            </a:r>
            <a:r>
              <a:rPr lang="en-US" sz="2400">
                <a:solidFill>
                  <a:schemeClr val="dk1"/>
                </a:solidFill>
                <a:latin typeface="Arial"/>
                <a:ea typeface="Arial"/>
                <a:cs typeface="Arial"/>
                <a:sym typeface="Arial"/>
              </a:rPr>
              <a:t>of all others</a:t>
            </a:r>
            <a:endParaRPr sz="2400">
              <a:solidFill>
                <a:schemeClr val="dk1"/>
              </a:solidFill>
              <a:latin typeface="Arial"/>
              <a:ea typeface="Arial"/>
              <a:cs typeface="Arial"/>
              <a:sym typeface="Arial"/>
            </a:endParaRPr>
          </a:p>
        </p:txBody>
      </p:sp>
      <p:sp>
        <p:nvSpPr>
          <p:cNvPr id="604" name="Google Shape;604;p33"/>
          <p:cNvSpPr txBox="1"/>
          <p:nvPr/>
        </p:nvSpPr>
        <p:spPr>
          <a:xfrm>
            <a:off x="1967864" y="2495550"/>
            <a:ext cx="3912235" cy="391160"/>
          </a:xfrm>
          <a:prstGeom prst="rect">
            <a:avLst/>
          </a:prstGeom>
          <a:noFill/>
          <a:ln>
            <a:noFill/>
          </a:ln>
        </p:spPr>
        <p:txBody>
          <a:bodyPr anchorCtr="0" anchor="t" bIns="0" lIns="0" spcFirstLastPara="1" rIns="0" wrap="square" tIns="12700">
            <a:spAutoFit/>
          </a:bodyPr>
          <a:lstStyle/>
          <a:p>
            <a:pPr indent="-294640" lvl="0" marL="306705" marR="0" rtl="0" algn="l">
              <a:lnSpc>
                <a:spcPct val="100000"/>
              </a:lnSpc>
              <a:spcBef>
                <a:spcPts val="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Packets	can	take	any</a:t>
            </a:r>
            <a:endParaRPr sz="2400">
              <a:solidFill>
                <a:schemeClr val="dk1"/>
              </a:solidFill>
              <a:latin typeface="Arial"/>
              <a:ea typeface="Arial"/>
              <a:cs typeface="Arial"/>
              <a:sym typeface="Arial"/>
            </a:endParaRPr>
          </a:p>
        </p:txBody>
      </p:sp>
      <p:sp>
        <p:nvSpPr>
          <p:cNvPr id="605" name="Google Shape;605;p33"/>
          <p:cNvSpPr txBox="1"/>
          <p:nvPr/>
        </p:nvSpPr>
        <p:spPr>
          <a:xfrm>
            <a:off x="1967864" y="2696463"/>
            <a:ext cx="4204336" cy="1453603"/>
          </a:xfrm>
          <a:prstGeom prst="rect">
            <a:avLst/>
          </a:prstGeom>
          <a:noFill/>
          <a:ln>
            <a:noFill/>
          </a:ln>
        </p:spPr>
        <p:txBody>
          <a:bodyPr anchorCtr="0" anchor="t" bIns="0" lIns="0" spcFirstLastPara="1" rIns="0" wrap="square" tIns="177150">
            <a:spAutoFit/>
          </a:bodyPr>
          <a:lstStyle/>
          <a:p>
            <a:pPr indent="0" lvl="0" marL="306705" marR="0" rtl="0" algn="l">
              <a:lnSpc>
                <a:spcPct val="100000"/>
              </a:lnSpc>
              <a:spcBef>
                <a:spcPts val="0"/>
              </a:spcBef>
              <a:spcAft>
                <a:spcPts val="0"/>
              </a:spcAft>
              <a:buNone/>
            </a:pPr>
            <a:r>
              <a:rPr lang="en-US" sz="2400">
                <a:solidFill>
                  <a:schemeClr val="dk1"/>
                </a:solidFill>
                <a:latin typeface="Arial"/>
                <a:ea typeface="Arial"/>
                <a:cs typeface="Arial"/>
                <a:sym typeface="Arial"/>
              </a:rPr>
              <a:t>practical </a:t>
            </a:r>
            <a:r>
              <a:rPr lang="en-US" sz="2400">
                <a:solidFill>
                  <a:srgbClr val="1F487C"/>
                </a:solidFill>
                <a:latin typeface="Arial"/>
                <a:ea typeface="Arial"/>
                <a:cs typeface="Arial"/>
                <a:sym typeface="Arial"/>
              </a:rPr>
              <a:t>route</a:t>
            </a:r>
            <a:endParaRPr sz="2400">
              <a:solidFill>
                <a:schemeClr val="dk1"/>
              </a:solidFill>
              <a:latin typeface="Arial"/>
              <a:ea typeface="Arial"/>
              <a:cs typeface="Arial"/>
              <a:sym typeface="Arial"/>
            </a:endParaRPr>
          </a:p>
          <a:p>
            <a:pPr indent="-294640" lvl="0" marL="306705" marR="5080" rtl="0" algn="l">
              <a:lnSpc>
                <a:spcPct val="100000"/>
              </a:lnSpc>
              <a:spcBef>
                <a:spcPts val="130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Datagram	switching	is	done  at network layer</a:t>
            </a:r>
            <a:endParaRPr sz="2400">
              <a:solidFill>
                <a:schemeClr val="dk1"/>
              </a:solidFill>
              <a:latin typeface="Arial"/>
              <a:ea typeface="Arial"/>
              <a:cs typeface="Arial"/>
              <a:sym typeface="Arial"/>
            </a:endParaRPr>
          </a:p>
        </p:txBody>
      </p:sp>
      <p:sp>
        <p:nvSpPr>
          <p:cNvPr id="606" name="Google Shape;606;p33"/>
          <p:cNvSpPr txBox="1"/>
          <p:nvPr/>
        </p:nvSpPr>
        <p:spPr>
          <a:xfrm>
            <a:off x="1967864" y="4288028"/>
            <a:ext cx="9004936" cy="391160"/>
          </a:xfrm>
          <a:prstGeom prst="rect">
            <a:avLst/>
          </a:prstGeom>
          <a:noFill/>
          <a:ln>
            <a:noFill/>
          </a:ln>
        </p:spPr>
        <p:txBody>
          <a:bodyPr anchorCtr="0" anchor="t" bIns="0" lIns="0" spcFirstLastPara="1" rIns="0" wrap="square" tIns="12700">
            <a:spAutoFit/>
          </a:bodyPr>
          <a:lstStyle/>
          <a:p>
            <a:pPr indent="-294640" lvl="0" marL="306705" marR="0" rtl="0" algn="l">
              <a:lnSpc>
                <a:spcPct val="100000"/>
              </a:lnSpc>
              <a:spcBef>
                <a:spcPts val="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These	switches	are	called</a:t>
            </a:r>
            <a:endParaRPr sz="2400">
              <a:solidFill>
                <a:schemeClr val="dk1"/>
              </a:solidFill>
              <a:latin typeface="Arial"/>
              <a:ea typeface="Arial"/>
              <a:cs typeface="Arial"/>
              <a:sym typeface="Arial"/>
            </a:endParaRPr>
          </a:p>
        </p:txBody>
      </p:sp>
      <p:sp>
        <p:nvSpPr>
          <p:cNvPr id="607" name="Google Shape;607;p33"/>
          <p:cNvSpPr txBox="1"/>
          <p:nvPr/>
        </p:nvSpPr>
        <p:spPr>
          <a:xfrm>
            <a:off x="1967864" y="4487007"/>
            <a:ext cx="4275658" cy="1455527"/>
          </a:xfrm>
          <a:prstGeom prst="rect">
            <a:avLst/>
          </a:prstGeom>
          <a:noFill/>
          <a:ln>
            <a:noFill/>
          </a:ln>
        </p:spPr>
        <p:txBody>
          <a:bodyPr anchorCtr="0" anchor="t" bIns="0" lIns="0" spcFirstLastPara="1" rIns="0" wrap="square" tIns="179050">
            <a:spAutoFit/>
          </a:bodyPr>
          <a:lstStyle/>
          <a:p>
            <a:pPr indent="0" lvl="0" marL="306705" marR="0" rtl="0" algn="l">
              <a:lnSpc>
                <a:spcPct val="100000"/>
              </a:lnSpc>
              <a:spcBef>
                <a:spcPts val="0"/>
              </a:spcBef>
              <a:spcAft>
                <a:spcPts val="0"/>
              </a:spcAft>
              <a:buNone/>
            </a:pPr>
            <a:r>
              <a:rPr lang="en-US" sz="2400">
                <a:solidFill>
                  <a:schemeClr val="dk1"/>
                </a:solidFill>
                <a:latin typeface="Arial"/>
                <a:ea typeface="Arial"/>
                <a:cs typeface="Arial"/>
                <a:sym typeface="Arial"/>
              </a:rPr>
              <a:t>routers.</a:t>
            </a:r>
            <a:endParaRPr/>
          </a:p>
          <a:p>
            <a:pPr indent="-294640" lvl="0" marL="306705" marR="48260" rtl="0" algn="l">
              <a:spcBef>
                <a:spcPts val="131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Packets may arrive </a:t>
            </a:r>
            <a:r>
              <a:rPr lang="en-US" sz="2400">
                <a:solidFill>
                  <a:srgbClr val="1F487C"/>
                </a:solidFill>
                <a:latin typeface="Arial"/>
                <a:ea typeface="Arial"/>
                <a:cs typeface="Arial"/>
                <a:sym typeface="Arial"/>
              </a:rPr>
              <a:t>out of</a:t>
            </a:r>
            <a:r>
              <a:rPr lang="en-US" sz="2400">
                <a:solidFill>
                  <a:schemeClr val="dk1"/>
                </a:solidFill>
                <a:latin typeface="Arial"/>
                <a:ea typeface="Arial"/>
                <a:cs typeface="Arial"/>
                <a:sym typeface="Arial"/>
              </a:rPr>
              <a:t> </a:t>
            </a:r>
            <a:r>
              <a:rPr lang="en-US" sz="2400">
                <a:solidFill>
                  <a:srgbClr val="1F487C"/>
                </a:solidFill>
                <a:latin typeface="Arial"/>
                <a:ea typeface="Arial"/>
                <a:cs typeface="Arial"/>
                <a:sym typeface="Arial"/>
              </a:rPr>
              <a:t>order</a:t>
            </a:r>
            <a:endParaRPr sz="2400">
              <a:solidFill>
                <a:schemeClr val="dk1"/>
              </a:solidFill>
              <a:latin typeface="Arial"/>
              <a:ea typeface="Arial"/>
              <a:cs typeface="Arial"/>
              <a:sym typeface="Arial"/>
            </a:endParaRPr>
          </a:p>
        </p:txBody>
      </p:sp>
      <p:sp>
        <p:nvSpPr>
          <p:cNvPr id="608" name="Google Shape;608;p33"/>
          <p:cNvSpPr txBox="1"/>
          <p:nvPr/>
        </p:nvSpPr>
        <p:spPr>
          <a:xfrm>
            <a:off x="1967864" y="6082080"/>
            <a:ext cx="3198495" cy="391160"/>
          </a:xfrm>
          <a:prstGeom prst="rect">
            <a:avLst/>
          </a:prstGeom>
          <a:noFill/>
          <a:ln>
            <a:noFill/>
          </a:ln>
        </p:spPr>
        <p:txBody>
          <a:bodyPr anchorCtr="0" anchor="t" bIns="0" lIns="0" spcFirstLastPara="1" rIns="0" wrap="square" tIns="12700">
            <a:spAutoFit/>
          </a:bodyPr>
          <a:lstStyle/>
          <a:p>
            <a:pPr indent="-294640" lvl="0" marL="306705" marR="0" rtl="0" algn="l">
              <a:lnSpc>
                <a:spcPct val="100000"/>
              </a:lnSpc>
              <a:spcBef>
                <a:spcPts val="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Packets may go missing</a:t>
            </a:r>
            <a:endParaRPr sz="2400">
              <a:solidFill>
                <a:schemeClr val="dk1"/>
              </a:solidFill>
              <a:latin typeface="Arial"/>
              <a:ea typeface="Arial"/>
              <a:cs typeface="Arial"/>
              <a:sym typeface="Arial"/>
            </a:endParaRPr>
          </a:p>
        </p:txBody>
      </p:sp>
      <p:sp>
        <p:nvSpPr>
          <p:cNvPr id="609" name="Google Shape;609;p33"/>
          <p:cNvSpPr txBox="1"/>
          <p:nvPr/>
        </p:nvSpPr>
        <p:spPr>
          <a:xfrm>
            <a:off x="6327775" y="1613661"/>
            <a:ext cx="3805554" cy="2021205"/>
          </a:xfrm>
          <a:prstGeom prst="rect">
            <a:avLst/>
          </a:prstGeom>
          <a:noFill/>
          <a:ln>
            <a:noFill/>
          </a:ln>
        </p:spPr>
        <p:txBody>
          <a:bodyPr anchorCtr="0" anchor="t" bIns="0" lIns="0" spcFirstLastPara="1" rIns="0" wrap="square" tIns="12700">
            <a:spAutoFit/>
          </a:bodyPr>
          <a:lstStyle/>
          <a:p>
            <a:pPr indent="-294640" lvl="0" marL="306705" marR="5080" rtl="0" algn="just">
              <a:lnSpc>
                <a:spcPct val="100000"/>
              </a:lnSpc>
              <a:spcBef>
                <a:spcPts val="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Up to receiver to re-order  packets and recover from  missing packets</a:t>
            </a:r>
            <a:endParaRPr sz="2400">
              <a:solidFill>
                <a:schemeClr val="dk1"/>
              </a:solidFill>
              <a:latin typeface="Arial"/>
              <a:ea typeface="Arial"/>
              <a:cs typeface="Arial"/>
              <a:sym typeface="Arial"/>
            </a:endParaRPr>
          </a:p>
          <a:p>
            <a:pPr indent="-294640" lvl="0" marL="306705" marR="5080" rtl="0" algn="just">
              <a:lnSpc>
                <a:spcPct val="100000"/>
              </a:lnSpc>
              <a:spcBef>
                <a:spcPts val="1310"/>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The connecting switches  are not keeping information</a:t>
            </a:r>
            <a:endParaRPr sz="2400">
              <a:solidFill>
                <a:schemeClr val="dk1"/>
              </a:solidFill>
              <a:latin typeface="Arial"/>
              <a:ea typeface="Arial"/>
              <a:cs typeface="Arial"/>
              <a:sym typeface="Arial"/>
            </a:endParaRPr>
          </a:p>
        </p:txBody>
      </p:sp>
      <p:sp>
        <p:nvSpPr>
          <p:cNvPr id="610" name="Google Shape;610;p33"/>
          <p:cNvSpPr txBox="1"/>
          <p:nvPr/>
        </p:nvSpPr>
        <p:spPr>
          <a:xfrm>
            <a:off x="6577522" y="3927700"/>
            <a:ext cx="4015547" cy="751488"/>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2400">
                <a:solidFill>
                  <a:schemeClr val="dk1"/>
                </a:solidFill>
                <a:latin typeface="Arial"/>
                <a:ea typeface="Arial"/>
                <a:cs typeface="Arial"/>
                <a:sym typeface="Arial"/>
              </a:rPr>
              <a:t>about connection state  hence	it	is	also</a:t>
            </a:r>
            <a:endParaRPr/>
          </a:p>
        </p:txBody>
      </p:sp>
      <p:sp>
        <p:nvSpPr>
          <p:cNvPr id="611" name="Google Shape;611;p33"/>
          <p:cNvSpPr txBox="1"/>
          <p:nvPr/>
        </p:nvSpPr>
        <p:spPr>
          <a:xfrm>
            <a:off x="6409689" y="4483608"/>
            <a:ext cx="3803650" cy="1452245"/>
          </a:xfrm>
          <a:prstGeom prst="rect">
            <a:avLst/>
          </a:prstGeom>
          <a:noFill/>
          <a:ln>
            <a:noFill/>
          </a:ln>
        </p:spPr>
        <p:txBody>
          <a:bodyPr anchorCtr="0" anchor="t" bIns="0" lIns="0" spcFirstLastPara="1" rIns="0" wrap="square" tIns="176525">
            <a:spAutoFit/>
          </a:bodyPr>
          <a:lstStyle/>
          <a:p>
            <a:pPr indent="0" lvl="0" marL="306705" marR="0" rtl="0" algn="l">
              <a:lnSpc>
                <a:spcPct val="100000"/>
              </a:lnSpc>
              <a:spcBef>
                <a:spcPts val="0"/>
              </a:spcBef>
              <a:spcAft>
                <a:spcPts val="0"/>
              </a:spcAft>
              <a:buNone/>
            </a:pPr>
            <a:r>
              <a:rPr lang="en-US" sz="2400">
                <a:solidFill>
                  <a:srgbClr val="1F487C"/>
                </a:solidFill>
                <a:latin typeface="Arial"/>
                <a:ea typeface="Arial"/>
                <a:cs typeface="Arial"/>
                <a:sym typeface="Arial"/>
              </a:rPr>
              <a:t>connectionless n</a:t>
            </a:r>
            <a:r>
              <a:rPr lang="en-US" sz="2400">
                <a:solidFill>
                  <a:schemeClr val="dk1"/>
                </a:solidFill>
                <a:latin typeface="Arial"/>
                <a:ea typeface="Arial"/>
                <a:cs typeface="Arial"/>
                <a:sym typeface="Arial"/>
              </a:rPr>
              <a:t>etworks</a:t>
            </a:r>
            <a:endParaRPr sz="2400">
              <a:solidFill>
                <a:schemeClr val="dk1"/>
              </a:solidFill>
              <a:latin typeface="Arial"/>
              <a:ea typeface="Arial"/>
              <a:cs typeface="Arial"/>
              <a:sym typeface="Arial"/>
            </a:endParaRPr>
          </a:p>
          <a:p>
            <a:pPr indent="-294640" lvl="0" marL="306705" marR="0" rtl="0" algn="l">
              <a:lnSpc>
                <a:spcPct val="100000"/>
              </a:lnSpc>
              <a:spcBef>
                <a:spcPts val="1295"/>
              </a:spcBef>
              <a:spcAft>
                <a:spcPts val="0"/>
              </a:spcAft>
              <a:buClr>
                <a:schemeClr val="dk1"/>
              </a:buClr>
              <a:buSzPts val="2400"/>
              <a:buFont typeface="Times New Roman"/>
              <a:buChar char="•"/>
            </a:pPr>
            <a:r>
              <a:rPr lang="en-US" sz="2400">
                <a:solidFill>
                  <a:schemeClr val="dk1"/>
                </a:solidFill>
                <a:latin typeface="Arial"/>
                <a:ea typeface="Arial"/>
                <a:cs typeface="Arial"/>
                <a:sym typeface="Arial"/>
              </a:rPr>
              <a:t>No	setup	and	teardown</a:t>
            </a:r>
            <a:endParaRPr sz="2400">
              <a:solidFill>
                <a:schemeClr val="dk1"/>
              </a:solidFill>
              <a:latin typeface="Arial"/>
              <a:ea typeface="Arial"/>
              <a:cs typeface="Arial"/>
              <a:sym typeface="Arial"/>
            </a:endParaRPr>
          </a:p>
          <a:p>
            <a:pPr indent="0" lvl="0" marL="306705" marR="0" rtl="0" algn="l">
              <a:lnSpc>
                <a:spcPct val="100000"/>
              </a:lnSpc>
              <a:spcBef>
                <a:spcPts val="5"/>
              </a:spcBef>
              <a:spcAft>
                <a:spcPts val="0"/>
              </a:spcAft>
              <a:buNone/>
            </a:pPr>
            <a:r>
              <a:rPr lang="en-US" sz="2400">
                <a:solidFill>
                  <a:schemeClr val="dk1"/>
                </a:solidFill>
                <a:latin typeface="Arial"/>
                <a:ea typeface="Arial"/>
                <a:cs typeface="Arial"/>
                <a:sym typeface="Arial"/>
              </a:rPr>
              <a:t>phases.</a:t>
            </a:r>
            <a:endParaRPr sz="24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4"/>
          <p:cNvSpPr/>
          <p:nvPr/>
        </p:nvSpPr>
        <p:spPr>
          <a:xfrm>
            <a:off x="1110995" y="2144243"/>
            <a:ext cx="10592531" cy="372617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34"/>
          <p:cNvSpPr txBox="1"/>
          <p:nvPr>
            <p:ph type="title"/>
          </p:nvPr>
        </p:nvSpPr>
        <p:spPr>
          <a:xfrm>
            <a:off x="3956050" y="466166"/>
            <a:ext cx="4274185" cy="680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i="0" lang="en-US" sz="4300">
                <a:solidFill>
                  <a:srgbClr val="000080"/>
                </a:solidFill>
                <a:latin typeface="Arial"/>
                <a:ea typeface="Arial"/>
                <a:cs typeface="Arial"/>
                <a:sym typeface="Arial"/>
              </a:rPr>
              <a:t>Datagram network</a:t>
            </a:r>
            <a:endParaRPr sz="43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1" name="Shape 621"/>
        <p:cNvGrpSpPr/>
        <p:nvPr/>
      </p:nvGrpSpPr>
      <p:grpSpPr>
        <a:xfrm>
          <a:off x="0" y="0"/>
          <a:ext cx="0" cy="0"/>
          <a:chOff x="0" y="0"/>
          <a:chExt cx="0" cy="0"/>
        </a:xfrm>
      </p:grpSpPr>
      <p:sp>
        <p:nvSpPr>
          <p:cNvPr id="622" name="Google Shape;622;p35"/>
          <p:cNvSpPr txBox="1"/>
          <p:nvPr>
            <p:ph type="title"/>
          </p:nvPr>
        </p:nvSpPr>
        <p:spPr>
          <a:xfrm>
            <a:off x="916939" y="331419"/>
            <a:ext cx="1400175"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solidFill>
                  <a:srgbClr val="5B9BD4"/>
                </a:solidFill>
              </a:rPr>
              <a:t>Router</a:t>
            </a:r>
            <a:endParaRPr sz="4000"/>
          </a:p>
        </p:txBody>
      </p:sp>
      <p:sp>
        <p:nvSpPr>
          <p:cNvPr id="623" name="Google Shape;623;p35"/>
          <p:cNvSpPr txBox="1"/>
          <p:nvPr/>
        </p:nvSpPr>
        <p:spPr>
          <a:xfrm>
            <a:off x="916939" y="1025474"/>
            <a:ext cx="10055225" cy="5570855"/>
          </a:xfrm>
          <a:prstGeom prst="rect">
            <a:avLst/>
          </a:prstGeom>
          <a:noFill/>
          <a:ln>
            <a:noFill/>
          </a:ln>
        </p:spPr>
        <p:txBody>
          <a:bodyPr anchorCtr="0" anchor="t" bIns="0" lIns="0" spcFirstLastPara="1" rIns="0" wrap="square" tIns="60325">
            <a:spAutoFit/>
          </a:bodyPr>
          <a:lstStyle/>
          <a:p>
            <a:pPr indent="-228600" lvl="0" marL="241300" marR="49530" rtl="0" algn="l">
              <a:lnSpc>
                <a:spcPct val="108214"/>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router is a </a:t>
            </a:r>
            <a:r>
              <a:rPr b="0" i="0" lang="en-US" sz="2800" u="none" cap="none" strike="noStrike">
                <a:solidFill>
                  <a:srgbClr val="5B9BD4"/>
                </a:solidFill>
                <a:latin typeface="Arial"/>
                <a:ea typeface="Arial"/>
                <a:cs typeface="Arial"/>
                <a:sym typeface="Arial"/>
              </a:rPr>
              <a:t>networking device </a:t>
            </a:r>
            <a:r>
              <a:rPr b="0" i="0" lang="en-US" sz="2800" u="none" cap="none" strike="noStrike">
                <a:solidFill>
                  <a:srgbClr val="000000"/>
                </a:solidFill>
                <a:latin typeface="Arial"/>
                <a:ea typeface="Arial"/>
                <a:cs typeface="Arial"/>
                <a:sym typeface="Arial"/>
              </a:rPr>
              <a:t>that forwards data packets between  computer networks.</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62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Routers perform the </a:t>
            </a:r>
            <a:r>
              <a:rPr b="0" i="0" lang="en-US" sz="2800" u="none" cap="none" strike="noStrike">
                <a:solidFill>
                  <a:srgbClr val="5B9BD4"/>
                </a:solidFill>
                <a:latin typeface="Arial"/>
                <a:ea typeface="Arial"/>
                <a:cs typeface="Arial"/>
                <a:sym typeface="Arial"/>
              </a:rPr>
              <a:t>traffic directing </a:t>
            </a:r>
            <a:r>
              <a:rPr b="0" i="0" lang="en-US" sz="2800" u="none" cap="none" strike="noStrike">
                <a:solidFill>
                  <a:srgbClr val="000000"/>
                </a:solidFill>
                <a:latin typeface="Arial"/>
                <a:ea typeface="Arial"/>
                <a:cs typeface="Arial"/>
                <a:sym typeface="Arial"/>
              </a:rPr>
              <a:t>functions on the Internet.</a:t>
            </a:r>
            <a:endParaRPr b="0" i="0" sz="2800" u="none" cap="none" strike="noStrike">
              <a:solidFill>
                <a:srgbClr val="000000"/>
              </a:solidFill>
              <a:latin typeface="Arial"/>
              <a:ea typeface="Arial"/>
              <a:cs typeface="Arial"/>
              <a:sym typeface="Arial"/>
            </a:endParaRPr>
          </a:p>
          <a:p>
            <a:pPr indent="-228600" lvl="0" marL="241300" marR="411480" rtl="0" algn="l">
              <a:lnSpc>
                <a:spcPct val="90000"/>
              </a:lnSpc>
              <a:spcBef>
                <a:spcPts val="994"/>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a:t>
            </a:r>
            <a:r>
              <a:rPr b="0" i="0" lang="en-US" sz="2800" u="none" cap="none" strike="noStrike">
                <a:solidFill>
                  <a:srgbClr val="5B9BD4"/>
                </a:solidFill>
                <a:latin typeface="Arial"/>
                <a:ea typeface="Arial"/>
                <a:cs typeface="Arial"/>
                <a:sym typeface="Arial"/>
              </a:rPr>
              <a:t>packet </a:t>
            </a:r>
            <a:r>
              <a:rPr b="0" i="0" lang="en-US" sz="2800" u="none" cap="none" strike="noStrike">
                <a:solidFill>
                  <a:srgbClr val="000000"/>
                </a:solidFill>
                <a:latin typeface="Arial"/>
                <a:ea typeface="Arial"/>
                <a:cs typeface="Arial"/>
                <a:sym typeface="Arial"/>
              </a:rPr>
              <a:t>is typically forwarded from one router to another router  through the networks that constitute an internetwork (e.g. the  Internet) until it reaches its destination node.</a:t>
            </a:r>
            <a:endParaRPr b="0" i="0" sz="2800" u="none" cap="none" strike="noStrike">
              <a:solidFill>
                <a:srgbClr val="000000"/>
              </a:solidFill>
              <a:latin typeface="Arial"/>
              <a:ea typeface="Arial"/>
              <a:cs typeface="Arial"/>
              <a:sym typeface="Arial"/>
            </a:endParaRPr>
          </a:p>
          <a:p>
            <a:pPr indent="-228600" lvl="0" marL="241300" marR="524510" rtl="0" algn="l">
              <a:lnSpc>
                <a:spcPct val="107857"/>
              </a:lnSpc>
              <a:spcBef>
                <a:spcPts val="104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router is connected to </a:t>
            </a:r>
            <a:r>
              <a:rPr b="0" i="0" lang="en-US" sz="2800" u="none" cap="none" strike="noStrike">
                <a:solidFill>
                  <a:srgbClr val="5B9BD4"/>
                </a:solidFill>
                <a:latin typeface="Arial"/>
                <a:ea typeface="Arial"/>
                <a:cs typeface="Arial"/>
                <a:sym typeface="Arial"/>
              </a:rPr>
              <a:t>two or more data lines </a:t>
            </a:r>
            <a:r>
              <a:rPr b="0" i="0" lang="en-US" sz="2800" u="none" cap="none" strike="noStrike">
                <a:solidFill>
                  <a:srgbClr val="000000"/>
                </a:solidFill>
                <a:latin typeface="Arial"/>
                <a:ea typeface="Arial"/>
                <a:cs typeface="Arial"/>
                <a:sym typeface="Arial"/>
              </a:rPr>
              <a:t>from different IP  networks.</a:t>
            </a:r>
            <a:endParaRPr b="0" i="0" sz="2800" u="none" cap="none" strike="noStrike">
              <a:solidFill>
                <a:srgbClr val="000000"/>
              </a:solidFill>
              <a:latin typeface="Arial"/>
              <a:ea typeface="Arial"/>
              <a:cs typeface="Arial"/>
              <a:sym typeface="Arial"/>
            </a:endParaRPr>
          </a:p>
          <a:p>
            <a:pPr indent="-228600" lvl="0" marL="241300" marR="5080" rtl="0" algn="l">
              <a:lnSpc>
                <a:spcPct val="90000"/>
              </a:lnSpc>
              <a:spcBef>
                <a:spcPts val="969"/>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When a data packet comes in on one of the lines, the </a:t>
            </a:r>
            <a:r>
              <a:rPr b="0" i="0" lang="en-US" sz="2800" u="none" cap="none" strike="noStrike">
                <a:solidFill>
                  <a:srgbClr val="5B9BD4"/>
                </a:solidFill>
                <a:latin typeface="Arial"/>
                <a:ea typeface="Arial"/>
                <a:cs typeface="Arial"/>
                <a:sym typeface="Arial"/>
              </a:rPr>
              <a:t>router reads </a:t>
            </a:r>
            <a:r>
              <a:rPr b="0" i="0" lang="en-US" sz="2800" u="none" cap="none" strike="noStrike">
                <a:solidFill>
                  <a:srgbClr val="000000"/>
                </a:solidFill>
                <a:latin typeface="Arial"/>
                <a:ea typeface="Arial"/>
                <a:cs typeface="Arial"/>
                <a:sym typeface="Arial"/>
              </a:rPr>
              <a:t> the network address information in the packet header to determine  the ultimate destination. Then, using information in its </a:t>
            </a:r>
            <a:r>
              <a:rPr b="0" i="0" lang="en-US" sz="2800" u="none" cap="none" strike="noStrike">
                <a:solidFill>
                  <a:srgbClr val="5B9BD4"/>
                </a:solidFill>
                <a:latin typeface="Arial"/>
                <a:ea typeface="Arial"/>
                <a:cs typeface="Arial"/>
                <a:sym typeface="Arial"/>
              </a:rPr>
              <a:t>routing table  or routing policy, </a:t>
            </a:r>
            <a:r>
              <a:rPr b="0" i="0" lang="en-US" sz="2800" u="none" cap="none" strike="noStrike">
                <a:solidFill>
                  <a:srgbClr val="000000"/>
                </a:solidFill>
                <a:latin typeface="Arial"/>
                <a:ea typeface="Arial"/>
                <a:cs typeface="Arial"/>
                <a:sym typeface="Arial"/>
              </a:rPr>
              <a:t>it directs the packet to the next network on its  journey.</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7" name="Shape 627"/>
        <p:cNvGrpSpPr/>
        <p:nvPr/>
      </p:nvGrpSpPr>
      <p:grpSpPr>
        <a:xfrm>
          <a:off x="0" y="0"/>
          <a:ext cx="0" cy="0"/>
          <a:chOff x="0" y="0"/>
          <a:chExt cx="0" cy="0"/>
        </a:xfrm>
      </p:grpSpPr>
      <p:sp>
        <p:nvSpPr>
          <p:cNvPr id="628" name="Google Shape;628;p36"/>
          <p:cNvSpPr txBox="1"/>
          <p:nvPr>
            <p:ph type="title"/>
          </p:nvPr>
        </p:nvSpPr>
        <p:spPr>
          <a:xfrm>
            <a:off x="916958" y="574675"/>
            <a:ext cx="9846300" cy="690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Internet Protocol (IP)</a:t>
            </a:r>
            <a:endParaRPr/>
          </a:p>
        </p:txBody>
      </p:sp>
      <p:sp>
        <p:nvSpPr>
          <p:cNvPr id="629" name="Google Shape;629;p36"/>
          <p:cNvSpPr txBox="1"/>
          <p:nvPr/>
        </p:nvSpPr>
        <p:spPr>
          <a:xfrm>
            <a:off x="916939" y="1270863"/>
            <a:ext cx="10286365" cy="4964430"/>
          </a:xfrm>
          <a:prstGeom prst="rect">
            <a:avLst/>
          </a:prstGeom>
          <a:noFill/>
          <a:ln>
            <a:noFill/>
          </a:ln>
        </p:spPr>
        <p:txBody>
          <a:bodyPr anchorCtr="0" anchor="t" bIns="0" lIns="0" spcFirstLastPara="1" rIns="0" wrap="square" tIns="99050">
            <a:spAutoFit/>
          </a:bodyPr>
          <a:lstStyle/>
          <a:p>
            <a:pPr indent="-303530" lvl="0" marL="315595" marR="0" rtl="0" algn="l">
              <a:lnSpc>
                <a:spcPct val="100000"/>
              </a:lnSpc>
              <a:spcBef>
                <a:spcPts val="0"/>
              </a:spcBef>
              <a:spcAft>
                <a:spcPts val="0"/>
              </a:spcAft>
              <a:buClr>
                <a:srgbClr val="000000"/>
              </a:buClr>
              <a:buSzPts val="2600"/>
              <a:buFont typeface="Arial"/>
              <a:buChar char="•"/>
            </a:pPr>
            <a:r>
              <a:rPr b="1" i="0" lang="en-US" sz="2600" u="none" cap="none" strike="noStrike">
                <a:solidFill>
                  <a:srgbClr val="000000"/>
                </a:solidFill>
                <a:latin typeface="Arial"/>
                <a:ea typeface="Arial"/>
                <a:cs typeface="Arial"/>
                <a:sym typeface="Arial"/>
              </a:rPr>
              <a:t>Forwarding and Addressing in the Internet</a:t>
            </a:r>
            <a:endParaRPr b="0" i="0" sz="2600" u="none" cap="none" strike="noStrike">
              <a:solidFill>
                <a:srgbClr val="000000"/>
              </a:solidFill>
              <a:latin typeface="Arial"/>
              <a:ea typeface="Arial"/>
              <a:cs typeface="Arial"/>
              <a:sym typeface="Arial"/>
            </a:endParaRPr>
          </a:p>
          <a:p>
            <a:pPr indent="-228600" lvl="0" marL="241300" marR="750570" rtl="0" algn="l">
              <a:lnSpc>
                <a:spcPct val="108076"/>
              </a:lnSpc>
              <a:spcBef>
                <a:spcPts val="104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Internet addressing and forwarding are important components of the  Internet Protocol (IP). There are two versions of IP in use today.</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65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IP protocol version 4, which is usually referred to simply as IPv4</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68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IP version 6</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685"/>
              </a:spcBef>
              <a:spcAft>
                <a:spcPts val="0"/>
              </a:spcAft>
              <a:buClr>
                <a:srgbClr val="000000"/>
              </a:buClr>
              <a:buSzPts val="2600"/>
              <a:buFont typeface="Arial"/>
              <a:buChar char="•"/>
            </a:pPr>
            <a:r>
              <a:rPr b="1" i="0" lang="en-US" sz="2600" u="none" cap="none" strike="noStrike">
                <a:solidFill>
                  <a:srgbClr val="000000"/>
                </a:solidFill>
                <a:latin typeface="Arial"/>
                <a:ea typeface="Arial"/>
                <a:cs typeface="Arial"/>
                <a:sym typeface="Arial"/>
              </a:rPr>
              <a:t>Internet’s network layer has three major components.</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70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first component is the IP protocol.</a:t>
            </a:r>
            <a:endParaRPr b="0" i="0" sz="2600" u="none" cap="none" strike="noStrike">
              <a:solidFill>
                <a:srgbClr val="000000"/>
              </a:solidFill>
              <a:latin typeface="Arial"/>
              <a:ea typeface="Arial"/>
              <a:cs typeface="Arial"/>
              <a:sym typeface="Arial"/>
            </a:endParaRPr>
          </a:p>
          <a:p>
            <a:pPr indent="-228600" lvl="0" marL="241300" marR="5080" rtl="0" algn="l">
              <a:lnSpc>
                <a:spcPct val="108076"/>
              </a:lnSpc>
              <a:spcBef>
                <a:spcPts val="103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second major component is the routing component, which determines  the path a datagram follows from source to destination.</a:t>
            </a:r>
            <a:endParaRPr b="0" i="0" sz="2600" u="none" cap="none" strike="noStrike">
              <a:solidFill>
                <a:srgbClr val="000000"/>
              </a:solidFill>
              <a:latin typeface="Arial"/>
              <a:ea typeface="Arial"/>
              <a:cs typeface="Arial"/>
              <a:sym typeface="Arial"/>
            </a:endParaRPr>
          </a:p>
          <a:p>
            <a:pPr indent="-228600" lvl="0" marL="241300" marR="130810" rtl="0" algn="l">
              <a:lnSpc>
                <a:spcPct val="108076"/>
              </a:lnSpc>
              <a:spcBef>
                <a:spcPts val="994"/>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final component of the network layer is a facility to report errors in  datagrams and respond to requests for certain network-layer information.</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3" name="Shape 633"/>
        <p:cNvGrpSpPr/>
        <p:nvPr/>
      </p:nvGrpSpPr>
      <p:grpSpPr>
        <a:xfrm>
          <a:off x="0" y="0"/>
          <a:ext cx="0" cy="0"/>
          <a:chOff x="0" y="0"/>
          <a:chExt cx="0" cy="0"/>
        </a:xfrm>
      </p:grpSpPr>
      <p:sp>
        <p:nvSpPr>
          <p:cNvPr id="634" name="Google Shape;634;p37"/>
          <p:cNvSpPr txBox="1"/>
          <p:nvPr>
            <p:ph type="title"/>
          </p:nvPr>
        </p:nvSpPr>
        <p:spPr>
          <a:xfrm>
            <a:off x="916939" y="437514"/>
            <a:ext cx="7722234"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Inside the Internet’s network layer</a:t>
            </a:r>
            <a:endParaRPr/>
          </a:p>
        </p:txBody>
      </p:sp>
      <p:sp>
        <p:nvSpPr>
          <p:cNvPr id="635" name="Google Shape;635;p37"/>
          <p:cNvSpPr/>
          <p:nvPr/>
        </p:nvSpPr>
        <p:spPr>
          <a:xfrm>
            <a:off x="2234183" y="1575895"/>
            <a:ext cx="8359248" cy="524980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9" name="Shape 639"/>
        <p:cNvGrpSpPr/>
        <p:nvPr/>
      </p:nvGrpSpPr>
      <p:grpSpPr>
        <a:xfrm>
          <a:off x="0" y="0"/>
          <a:ext cx="0" cy="0"/>
          <a:chOff x="0" y="0"/>
          <a:chExt cx="0" cy="0"/>
        </a:xfrm>
      </p:grpSpPr>
      <p:sp>
        <p:nvSpPr>
          <p:cNvPr id="640" name="Google Shape;640;p38"/>
          <p:cNvSpPr txBox="1"/>
          <p:nvPr>
            <p:ph type="title"/>
          </p:nvPr>
        </p:nvSpPr>
        <p:spPr>
          <a:xfrm>
            <a:off x="916967" y="325950"/>
            <a:ext cx="9819900" cy="690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Datagram Format</a:t>
            </a:r>
            <a:endParaRPr/>
          </a:p>
        </p:txBody>
      </p:sp>
      <p:sp>
        <p:nvSpPr>
          <p:cNvPr id="641" name="Google Shape;641;p38"/>
          <p:cNvSpPr txBox="1"/>
          <p:nvPr/>
        </p:nvSpPr>
        <p:spPr>
          <a:xfrm>
            <a:off x="916939" y="1175535"/>
            <a:ext cx="7772400" cy="1049655"/>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network-layer packet is referred to as a </a:t>
            </a:r>
            <a:r>
              <a:rPr b="0" i="1" lang="en-US" sz="2800" u="none" cap="none" strike="noStrike">
                <a:solidFill>
                  <a:srgbClr val="000000"/>
                </a:solidFill>
                <a:latin typeface="Arial"/>
                <a:ea typeface="Arial"/>
                <a:cs typeface="Arial"/>
                <a:sym typeface="Arial"/>
              </a:rPr>
              <a:t>datagram.</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67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datagram plays a central role in the Internet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5" name="Shape 645"/>
        <p:cNvGrpSpPr/>
        <p:nvPr/>
      </p:nvGrpSpPr>
      <p:grpSpPr>
        <a:xfrm>
          <a:off x="0" y="0"/>
          <a:ext cx="0" cy="0"/>
          <a:chOff x="0" y="0"/>
          <a:chExt cx="0" cy="0"/>
        </a:xfrm>
      </p:grpSpPr>
      <p:sp>
        <p:nvSpPr>
          <p:cNvPr id="646" name="Google Shape;646;p39"/>
          <p:cNvSpPr txBox="1"/>
          <p:nvPr>
            <p:ph type="title"/>
          </p:nvPr>
        </p:nvSpPr>
        <p:spPr>
          <a:xfrm>
            <a:off x="916939" y="150113"/>
            <a:ext cx="488188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IPv4 datagram format</a:t>
            </a:r>
            <a:endParaRPr/>
          </a:p>
        </p:txBody>
      </p:sp>
      <p:sp>
        <p:nvSpPr>
          <p:cNvPr id="647" name="Google Shape;647;p39"/>
          <p:cNvSpPr/>
          <p:nvPr/>
        </p:nvSpPr>
        <p:spPr>
          <a:xfrm>
            <a:off x="2124455" y="833694"/>
            <a:ext cx="7942894" cy="573607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1" name="Shape 651"/>
        <p:cNvGrpSpPr/>
        <p:nvPr/>
      </p:nvGrpSpPr>
      <p:grpSpPr>
        <a:xfrm>
          <a:off x="0" y="0"/>
          <a:ext cx="0" cy="0"/>
          <a:chOff x="0" y="0"/>
          <a:chExt cx="0" cy="0"/>
        </a:xfrm>
      </p:grpSpPr>
      <p:sp>
        <p:nvSpPr>
          <p:cNvPr id="652" name="Google Shape;652;p40"/>
          <p:cNvSpPr txBox="1"/>
          <p:nvPr/>
        </p:nvSpPr>
        <p:spPr>
          <a:xfrm>
            <a:off x="916939" y="304876"/>
            <a:ext cx="10218420" cy="5242560"/>
          </a:xfrm>
          <a:prstGeom prst="rect">
            <a:avLst/>
          </a:prstGeom>
          <a:noFill/>
          <a:ln>
            <a:noFill/>
          </a:ln>
        </p:spPr>
        <p:txBody>
          <a:bodyPr anchorCtr="0" anchor="t" bIns="0" lIns="0" spcFirstLastPara="1" rIns="0" wrap="square" tIns="92700">
            <a:spAutoFit/>
          </a:bodyPr>
          <a:lstStyle/>
          <a:p>
            <a:pPr indent="-228600" lvl="0" marL="241300" marR="5080" rtl="0" algn="l">
              <a:lnSpc>
                <a:spcPct val="80000"/>
              </a:lnSpc>
              <a:spcBef>
                <a:spcPts val="0"/>
              </a:spcBef>
              <a:spcAft>
                <a:spcPts val="0"/>
              </a:spcAft>
              <a:buClr>
                <a:srgbClr val="000000"/>
              </a:buClr>
              <a:buSzPts val="2600"/>
              <a:buFont typeface="Arial"/>
              <a:buChar char="•"/>
            </a:pPr>
            <a:r>
              <a:rPr b="0" i="1" lang="en-US" sz="2600" u="none" cap="none" strike="noStrike">
                <a:solidFill>
                  <a:srgbClr val="000000"/>
                </a:solidFill>
                <a:latin typeface="Arial"/>
                <a:ea typeface="Arial"/>
                <a:cs typeface="Arial"/>
                <a:sym typeface="Arial"/>
              </a:rPr>
              <a:t>Version number. </a:t>
            </a:r>
            <a:r>
              <a:rPr b="0" i="0" lang="en-US" sz="2600" u="none" cap="none" strike="noStrike">
                <a:solidFill>
                  <a:srgbClr val="000000"/>
                </a:solidFill>
                <a:latin typeface="Arial"/>
                <a:ea typeface="Arial"/>
                <a:cs typeface="Arial"/>
                <a:sym typeface="Arial"/>
              </a:rPr>
              <a:t>These 4 bits specify the IP protocol version of the  datagram.By looking at the version number, the router can determine how  to interpret the remainder of the IP datagram.</a:t>
            </a:r>
            <a:endParaRPr b="0" i="0" sz="2600" u="none" cap="none" strike="noStrike">
              <a:solidFill>
                <a:srgbClr val="000000"/>
              </a:solidFill>
              <a:latin typeface="Arial"/>
              <a:ea typeface="Arial"/>
              <a:cs typeface="Arial"/>
              <a:sym typeface="Arial"/>
            </a:endParaRPr>
          </a:p>
          <a:p>
            <a:pPr indent="-228600" lvl="0" marL="241300" marR="792480" rtl="0" algn="just">
              <a:lnSpc>
                <a:spcPct val="80000"/>
              </a:lnSpc>
              <a:spcBef>
                <a:spcPts val="994"/>
              </a:spcBef>
              <a:spcAft>
                <a:spcPts val="0"/>
              </a:spcAft>
              <a:buClr>
                <a:srgbClr val="000000"/>
              </a:buClr>
              <a:buSzPts val="2600"/>
              <a:buFont typeface="Arial"/>
              <a:buChar char="•"/>
            </a:pPr>
            <a:r>
              <a:rPr b="0" i="1" lang="en-US" sz="2600" u="none" cap="none" strike="noStrike">
                <a:solidFill>
                  <a:srgbClr val="000000"/>
                </a:solidFill>
                <a:latin typeface="Arial"/>
                <a:ea typeface="Arial"/>
                <a:cs typeface="Arial"/>
                <a:sym typeface="Arial"/>
              </a:rPr>
              <a:t>Header length. T</a:t>
            </a:r>
            <a:r>
              <a:rPr b="0" i="0" lang="en-US" sz="2600" u="none" cap="none" strike="noStrike">
                <a:solidFill>
                  <a:srgbClr val="000000"/>
                </a:solidFill>
                <a:latin typeface="Arial"/>
                <a:ea typeface="Arial"/>
                <a:cs typeface="Arial"/>
                <a:sym typeface="Arial"/>
              </a:rPr>
              <a:t>hese 4 bits are needed to determine where in the IP  datagram the data actually begins. Most IP datagrams, the typical IP  datagram has a 20-byte header.</a:t>
            </a:r>
            <a:endParaRPr b="0" i="0" sz="2600" u="none" cap="none" strike="noStrike">
              <a:solidFill>
                <a:srgbClr val="000000"/>
              </a:solidFill>
              <a:latin typeface="Arial"/>
              <a:ea typeface="Arial"/>
              <a:cs typeface="Arial"/>
              <a:sym typeface="Arial"/>
            </a:endParaRPr>
          </a:p>
          <a:p>
            <a:pPr indent="-228600" lvl="0" marL="241300" marR="238125" rtl="0" algn="l">
              <a:lnSpc>
                <a:spcPct val="80000"/>
              </a:lnSpc>
              <a:spcBef>
                <a:spcPts val="1010"/>
              </a:spcBef>
              <a:spcAft>
                <a:spcPts val="0"/>
              </a:spcAft>
              <a:buClr>
                <a:srgbClr val="000000"/>
              </a:buClr>
              <a:buSzPts val="2600"/>
              <a:buFont typeface="Arial"/>
              <a:buChar char="•"/>
            </a:pPr>
            <a:r>
              <a:rPr b="0" i="1" lang="en-US" sz="2600" u="none" cap="none" strike="noStrike">
                <a:solidFill>
                  <a:srgbClr val="000000"/>
                </a:solidFill>
                <a:latin typeface="Arial"/>
                <a:ea typeface="Arial"/>
                <a:cs typeface="Arial"/>
                <a:sym typeface="Arial"/>
              </a:rPr>
              <a:t>Type of service. </a:t>
            </a:r>
            <a:r>
              <a:rPr b="0" i="0" lang="en-US" sz="2600" u="none" cap="none" strike="noStrike">
                <a:solidFill>
                  <a:srgbClr val="000000"/>
                </a:solidFill>
                <a:latin typeface="Arial"/>
                <a:ea typeface="Arial"/>
                <a:cs typeface="Arial"/>
                <a:sym typeface="Arial"/>
              </a:rPr>
              <a:t>The type of service (TOS) bits were included in the IPv4  header to allow different types of IP datagrams to be distinguished from  each other. For example, it might be useful to distinguish real-time  datagrams (such as those used by an IP telephony application) from non-  real-time traffic (for example, FTP).</a:t>
            </a:r>
            <a:endParaRPr b="0" i="0" sz="2600" u="none" cap="none" strike="noStrike">
              <a:solidFill>
                <a:srgbClr val="000000"/>
              </a:solidFill>
              <a:latin typeface="Arial"/>
              <a:ea typeface="Arial"/>
              <a:cs typeface="Arial"/>
              <a:sym typeface="Arial"/>
            </a:endParaRPr>
          </a:p>
          <a:p>
            <a:pPr indent="-228600" lvl="0" marL="241300" marR="36830" rtl="0" algn="l">
              <a:lnSpc>
                <a:spcPct val="96153"/>
              </a:lnSpc>
              <a:spcBef>
                <a:spcPts val="969"/>
              </a:spcBef>
              <a:spcAft>
                <a:spcPts val="0"/>
              </a:spcAft>
              <a:buClr>
                <a:srgbClr val="000000"/>
              </a:buClr>
              <a:buSzPts val="2600"/>
              <a:buFont typeface="Arial"/>
              <a:buChar char="•"/>
            </a:pPr>
            <a:r>
              <a:rPr b="0" i="1" lang="en-US" sz="2600" u="none" cap="none" strike="noStrike">
                <a:solidFill>
                  <a:srgbClr val="000000"/>
                </a:solidFill>
                <a:latin typeface="Arial"/>
                <a:ea typeface="Arial"/>
                <a:cs typeface="Arial"/>
                <a:sym typeface="Arial"/>
              </a:rPr>
              <a:t>Datagram length. </a:t>
            </a:r>
            <a:r>
              <a:rPr b="0" i="0" lang="en-US" sz="2600" u="none" cap="none" strike="noStrike">
                <a:solidFill>
                  <a:srgbClr val="000000"/>
                </a:solidFill>
                <a:latin typeface="Arial"/>
                <a:ea typeface="Arial"/>
                <a:cs typeface="Arial"/>
                <a:sym typeface="Arial"/>
              </a:rPr>
              <a:t>This is the total length of the IP datagram (header plus  data), measured in bytes. Since this field is 16 bits long, the theoretical  maximum size of the IP datagram is 65,535 bytes. However, datagrams are  rarely larger than 1,500 bytes.</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6" name="Shape 656"/>
        <p:cNvGrpSpPr/>
        <p:nvPr/>
      </p:nvGrpSpPr>
      <p:grpSpPr>
        <a:xfrm>
          <a:off x="0" y="0"/>
          <a:ext cx="0" cy="0"/>
          <a:chOff x="0" y="0"/>
          <a:chExt cx="0" cy="0"/>
        </a:xfrm>
      </p:grpSpPr>
      <p:sp>
        <p:nvSpPr>
          <p:cNvPr id="657" name="Google Shape;657;p41"/>
          <p:cNvSpPr txBox="1"/>
          <p:nvPr/>
        </p:nvSpPr>
        <p:spPr>
          <a:xfrm>
            <a:off x="916939" y="298780"/>
            <a:ext cx="10339705" cy="5398770"/>
          </a:xfrm>
          <a:prstGeom prst="rect">
            <a:avLst/>
          </a:prstGeom>
          <a:noFill/>
          <a:ln>
            <a:noFill/>
          </a:ln>
        </p:spPr>
        <p:txBody>
          <a:bodyPr anchorCtr="0" anchor="t" bIns="0" lIns="0" spcFirstLastPara="1" rIns="0" wrap="square" tIns="94600">
            <a:spAutoFit/>
          </a:bodyPr>
          <a:lstStyle/>
          <a:p>
            <a:pPr indent="-228600" lvl="0" marL="241300" marR="367030" rtl="0" algn="l">
              <a:lnSpc>
                <a:spcPct val="96071"/>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1" lang="en-US" sz="2800" u="none" cap="none" strike="noStrike">
                <a:solidFill>
                  <a:srgbClr val="000000"/>
                </a:solidFill>
                <a:latin typeface="Arial"/>
                <a:ea typeface="Arial"/>
                <a:cs typeface="Arial"/>
                <a:sym typeface="Arial"/>
              </a:rPr>
              <a:t>Identifier, flags, fragmentation offset. </a:t>
            </a:r>
            <a:r>
              <a:rPr b="0" i="0" lang="en-US" sz="2800" u="none" cap="none" strike="noStrike">
                <a:solidFill>
                  <a:srgbClr val="000000"/>
                </a:solidFill>
                <a:latin typeface="Arial"/>
                <a:ea typeface="Arial"/>
                <a:cs typeface="Arial"/>
                <a:sym typeface="Arial"/>
              </a:rPr>
              <a:t>These three fields have to do  with so-called IP fragmentation</a:t>
            </a:r>
            <a:endParaRPr b="0" i="0" sz="2800" u="none" cap="none" strike="noStrike">
              <a:solidFill>
                <a:srgbClr val="000000"/>
              </a:solidFill>
              <a:latin typeface="Arial"/>
              <a:ea typeface="Arial"/>
              <a:cs typeface="Arial"/>
              <a:sym typeface="Arial"/>
            </a:endParaRPr>
          </a:p>
          <a:p>
            <a:pPr indent="-228600" lvl="0" marL="241300" marR="5080" rtl="0" algn="l">
              <a:lnSpc>
                <a:spcPct val="80000"/>
              </a:lnSpc>
              <a:spcBef>
                <a:spcPts val="1019"/>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Time-to-live. </a:t>
            </a:r>
            <a:r>
              <a:rPr b="0" i="0" lang="en-US" sz="2800" u="none" cap="none" strike="noStrike">
                <a:solidFill>
                  <a:srgbClr val="000000"/>
                </a:solidFill>
                <a:latin typeface="Arial"/>
                <a:ea typeface="Arial"/>
                <a:cs typeface="Arial"/>
                <a:sym typeface="Arial"/>
              </a:rPr>
              <a:t>The time-to-live (TTL) field is included to ensure that  datagrams do not circulate forever in the network. This field is  decremented by one each time the datagram is processed by a router.  If the TTL field reaches 0, the datagram must be dropped.</a:t>
            </a:r>
            <a:endParaRPr b="0" i="0" sz="2800" u="none" cap="none" strike="noStrike">
              <a:solidFill>
                <a:srgbClr val="000000"/>
              </a:solidFill>
              <a:latin typeface="Arial"/>
              <a:ea typeface="Arial"/>
              <a:cs typeface="Arial"/>
              <a:sym typeface="Arial"/>
            </a:endParaRPr>
          </a:p>
          <a:p>
            <a:pPr indent="-228600" lvl="0" marL="241300" marR="201295" rtl="0" algn="l">
              <a:lnSpc>
                <a:spcPct val="80000"/>
              </a:lnSpc>
              <a:spcBef>
                <a:spcPts val="100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Protocol. </a:t>
            </a:r>
            <a:r>
              <a:rPr b="0" i="0" lang="en-US" sz="2800" u="none" cap="none" strike="noStrike">
                <a:solidFill>
                  <a:srgbClr val="000000"/>
                </a:solidFill>
                <a:latin typeface="Arial"/>
                <a:ea typeface="Arial"/>
                <a:cs typeface="Arial"/>
                <a:sym typeface="Arial"/>
              </a:rPr>
              <a:t>This field is used only when an IP datagram reaches its final  destination. The value of this field indicates the specific transport-  layer protocol.</a:t>
            </a:r>
            <a:endParaRPr b="0" i="0" sz="2800" u="none" cap="none" strike="noStrike">
              <a:solidFill>
                <a:srgbClr val="000000"/>
              </a:solidFill>
              <a:latin typeface="Arial"/>
              <a:ea typeface="Arial"/>
              <a:cs typeface="Arial"/>
              <a:sym typeface="Arial"/>
            </a:endParaRPr>
          </a:p>
          <a:p>
            <a:pPr indent="-228600" lvl="0" marL="241300" marR="67310" rtl="0" algn="just">
              <a:lnSpc>
                <a:spcPct val="96071"/>
              </a:lnSpc>
              <a:spcBef>
                <a:spcPts val="97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Header checksum. </a:t>
            </a:r>
            <a:r>
              <a:rPr b="0" i="0" lang="en-US" sz="2800" u="none" cap="none" strike="noStrike">
                <a:solidFill>
                  <a:srgbClr val="000000"/>
                </a:solidFill>
                <a:latin typeface="Arial"/>
                <a:ea typeface="Arial"/>
                <a:cs typeface="Arial"/>
                <a:sym typeface="Arial"/>
              </a:rPr>
              <a:t>The header checksum aids a router in detecting bit  errors in a</a:t>
            </a:r>
            <a:endParaRPr b="0" i="0" sz="2800" u="none" cap="none" strike="noStrike">
              <a:solidFill>
                <a:srgbClr val="000000"/>
              </a:solidFill>
              <a:latin typeface="Arial"/>
              <a:ea typeface="Arial"/>
              <a:cs typeface="Arial"/>
              <a:sym typeface="Arial"/>
            </a:endParaRPr>
          </a:p>
          <a:p>
            <a:pPr indent="-228600" lvl="0" marL="241300" marR="132080" rtl="0" algn="just">
              <a:lnSpc>
                <a:spcPct val="80000"/>
              </a:lnSpc>
              <a:spcBef>
                <a:spcPts val="101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received IP datagram. The header checksum is computed by treating  each 2 bytes in the header as a number and summing these numbers  using 1s complement arithmetic.</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1" name="Shape 661"/>
        <p:cNvGrpSpPr/>
        <p:nvPr/>
      </p:nvGrpSpPr>
      <p:grpSpPr>
        <a:xfrm>
          <a:off x="0" y="0"/>
          <a:ext cx="0" cy="0"/>
          <a:chOff x="0" y="0"/>
          <a:chExt cx="0" cy="0"/>
        </a:xfrm>
      </p:grpSpPr>
      <p:sp>
        <p:nvSpPr>
          <p:cNvPr id="662" name="Google Shape;662;p42"/>
          <p:cNvSpPr txBox="1"/>
          <p:nvPr/>
        </p:nvSpPr>
        <p:spPr>
          <a:xfrm>
            <a:off x="916939" y="516381"/>
            <a:ext cx="10198735" cy="5570220"/>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Source and destination IP addresses. </a:t>
            </a:r>
            <a:r>
              <a:rPr b="0" i="0" lang="en-US" sz="2800" u="none" cap="none" strike="noStrike">
                <a:solidFill>
                  <a:srgbClr val="000000"/>
                </a:solidFill>
                <a:latin typeface="Arial"/>
                <a:ea typeface="Arial"/>
                <a:cs typeface="Arial"/>
                <a:sym typeface="Arial"/>
              </a:rPr>
              <a:t>When a source creates a  datagram, it inserts its IP address into the source IP address field and  inserts the address of the ultimate destination into the destination IP  address field.</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640"/>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Options. </a:t>
            </a:r>
            <a:r>
              <a:rPr b="0" i="0" lang="en-US" sz="2800" u="none" cap="none" strike="noStrike">
                <a:solidFill>
                  <a:srgbClr val="000000"/>
                </a:solidFill>
                <a:latin typeface="Arial"/>
                <a:ea typeface="Arial"/>
                <a:cs typeface="Arial"/>
                <a:sym typeface="Arial"/>
              </a:rPr>
              <a:t>The options fields allow an IP header to be extended.</a:t>
            </a:r>
            <a:endParaRPr b="0" i="0" sz="2800" u="none" cap="none" strike="noStrike">
              <a:solidFill>
                <a:srgbClr val="000000"/>
              </a:solidFill>
              <a:latin typeface="Arial"/>
              <a:ea typeface="Arial"/>
              <a:cs typeface="Arial"/>
              <a:sym typeface="Arial"/>
            </a:endParaRPr>
          </a:p>
          <a:p>
            <a:pPr indent="-228600" lvl="0" marL="241300" marR="1054100" rtl="0" algn="l">
              <a:lnSpc>
                <a:spcPct val="107857"/>
              </a:lnSpc>
              <a:spcBef>
                <a:spcPts val="104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Data (payload). T</a:t>
            </a:r>
            <a:r>
              <a:rPr b="0" i="0" lang="en-US" sz="2800" u="none" cap="none" strike="noStrike">
                <a:solidFill>
                  <a:srgbClr val="000000"/>
                </a:solidFill>
                <a:latin typeface="Arial"/>
                <a:ea typeface="Arial"/>
                <a:cs typeface="Arial"/>
                <a:sym typeface="Arial"/>
              </a:rPr>
              <a:t>he data field of the IP datagram contains the  transport-layer segment (TCP or UDP) to be delivered to the  destination.</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50"/>
              </a:spcBef>
              <a:spcAft>
                <a:spcPts val="0"/>
              </a:spcAft>
              <a:buClr>
                <a:schemeClr val="dk1"/>
              </a:buClr>
              <a:buSzPts val="4050"/>
              <a:buFont typeface="Calibri"/>
              <a:buNone/>
            </a:pPr>
            <a:r>
              <a:t/>
            </a:r>
            <a:endParaRPr b="0" i="0" sz="4050" u="none" cap="none" strike="noStrike">
              <a:solidFill>
                <a:srgbClr val="000000"/>
              </a:solidFill>
              <a:latin typeface="Arial"/>
              <a:ea typeface="Arial"/>
              <a:cs typeface="Arial"/>
              <a:sym typeface="Arial"/>
            </a:endParaRPr>
          </a:p>
          <a:p>
            <a:pPr indent="-228600" lvl="0" marL="241300" marR="133350" rtl="0" algn="l">
              <a:lnSpc>
                <a:spcPct val="90000"/>
              </a:lnSpc>
              <a:spcBef>
                <a:spcPts val="0"/>
              </a:spcBef>
              <a:spcAft>
                <a:spcPts val="0"/>
              </a:spcAft>
              <a:buClr>
                <a:srgbClr val="5B9BD4"/>
              </a:buClr>
              <a:buSzPts val="2800"/>
              <a:buFont typeface="Arial"/>
              <a:buChar char="•"/>
            </a:pPr>
            <a:r>
              <a:rPr b="0" i="0" lang="en-US" sz="2800" u="none" cap="none" strike="noStrike">
                <a:solidFill>
                  <a:srgbClr val="5B9BD4"/>
                </a:solidFill>
                <a:latin typeface="Arial"/>
                <a:ea typeface="Arial"/>
                <a:cs typeface="Arial"/>
                <a:sym typeface="Arial"/>
              </a:rPr>
              <a:t>If the datagram carries a TCP segment, then each (nonfragmented)  datagram carries a total of 40 bytes of header (20 bytes of IP header  plus 20 bytes of TCP header) along with the application-layer  message.</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6" name="Shape 666"/>
        <p:cNvGrpSpPr/>
        <p:nvPr/>
      </p:nvGrpSpPr>
      <p:grpSpPr>
        <a:xfrm>
          <a:off x="0" y="0"/>
          <a:ext cx="0" cy="0"/>
          <a:chOff x="0" y="0"/>
          <a:chExt cx="0" cy="0"/>
        </a:xfrm>
      </p:grpSpPr>
      <p:sp>
        <p:nvSpPr>
          <p:cNvPr id="667" name="Google Shape;667;p43"/>
          <p:cNvSpPr txBox="1"/>
          <p:nvPr>
            <p:ph type="title"/>
          </p:nvPr>
        </p:nvSpPr>
        <p:spPr>
          <a:xfrm>
            <a:off x="916958" y="371675"/>
            <a:ext cx="10422900" cy="690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 Datagram Fragmentation</a:t>
            </a:r>
            <a:endParaRPr/>
          </a:p>
        </p:txBody>
      </p:sp>
      <p:sp>
        <p:nvSpPr>
          <p:cNvPr id="668" name="Google Shape;668;p43"/>
          <p:cNvSpPr txBox="1"/>
          <p:nvPr/>
        </p:nvSpPr>
        <p:spPr>
          <a:xfrm>
            <a:off x="916939" y="1182750"/>
            <a:ext cx="10332085" cy="4674235"/>
          </a:xfrm>
          <a:prstGeom prst="rect">
            <a:avLst/>
          </a:prstGeom>
          <a:noFill/>
          <a:ln>
            <a:noFill/>
          </a:ln>
        </p:spPr>
        <p:txBody>
          <a:bodyPr anchorCtr="0" anchor="t" bIns="0" lIns="0" spcFirstLastPara="1" rIns="0" wrap="square" tIns="60950">
            <a:spAutoFit/>
          </a:bodyPr>
          <a:lstStyle/>
          <a:p>
            <a:pPr indent="-228600" lvl="0" marL="241300" marR="4826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Some protocols can carry big datagrams, whereas other protocols can  carry only little packets. For example, Ethernet frames can carry up to  1,500 bytes of data, whereas frames for some wide-area links can  carry no more than 576 bytes.</a:t>
            </a:r>
            <a:endParaRPr b="0" i="0" sz="2800" u="none" cap="none" strike="noStrike">
              <a:solidFill>
                <a:srgbClr val="000000"/>
              </a:solidFill>
              <a:latin typeface="Arial"/>
              <a:ea typeface="Arial"/>
              <a:cs typeface="Arial"/>
              <a:sym typeface="Arial"/>
            </a:endParaRPr>
          </a:p>
          <a:p>
            <a:pPr indent="-228600" lvl="0" marL="241300" marR="757555" rtl="0" algn="l">
              <a:lnSpc>
                <a:spcPct val="107857"/>
              </a:lnSpc>
              <a:spcBef>
                <a:spcPts val="102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maximum amount of data that a link-layer frame can carry is  called the </a:t>
            </a:r>
            <a:r>
              <a:rPr b="0" i="0" lang="en-US" sz="2800" u="none" cap="none" strike="noStrike">
                <a:solidFill>
                  <a:srgbClr val="5B9BD4"/>
                </a:solidFill>
                <a:latin typeface="Arial"/>
                <a:ea typeface="Arial"/>
                <a:cs typeface="Arial"/>
                <a:sym typeface="Arial"/>
              </a:rPr>
              <a:t>maximum transmission unit (MTU).</a:t>
            </a:r>
            <a:endParaRPr b="0" i="0" sz="2800" u="none" cap="none" strike="noStrike">
              <a:solidFill>
                <a:srgbClr val="000000"/>
              </a:solidFill>
              <a:latin typeface="Arial"/>
              <a:ea typeface="Arial"/>
              <a:cs typeface="Arial"/>
              <a:sym typeface="Arial"/>
            </a:endParaRPr>
          </a:p>
          <a:p>
            <a:pPr indent="-228600" lvl="0" marL="241300" marR="255904" rtl="0" algn="l">
              <a:lnSpc>
                <a:spcPct val="108214"/>
              </a:lnSpc>
              <a:spcBef>
                <a:spcPts val="994"/>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router that interconnects several links, each running different link-  layer protocols with different MTUs.</a:t>
            </a:r>
            <a:endParaRPr b="0" i="0" sz="2800" u="none" cap="none" strike="noStrike">
              <a:solidFill>
                <a:srgbClr val="000000"/>
              </a:solidFill>
              <a:latin typeface="Arial"/>
              <a:ea typeface="Arial"/>
              <a:cs typeface="Arial"/>
              <a:sym typeface="Arial"/>
            </a:endParaRPr>
          </a:p>
          <a:p>
            <a:pPr indent="-228600" lvl="0" marL="241300" marR="5080" rtl="0" algn="just">
              <a:lnSpc>
                <a:spcPct val="107857"/>
              </a:lnSpc>
              <a:spcBef>
                <a:spcPts val="994"/>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Suppose it receive an IP datagram from one link. The forwarding table  determine the outgoing link, and this </a:t>
            </a:r>
            <a:r>
              <a:rPr b="0" i="0" lang="en-US" sz="2800" u="none" cap="none" strike="noStrike">
                <a:solidFill>
                  <a:srgbClr val="006FC0"/>
                </a:solidFill>
                <a:latin typeface="Arial"/>
                <a:ea typeface="Arial"/>
                <a:cs typeface="Arial"/>
                <a:sym typeface="Arial"/>
              </a:rPr>
              <a:t>outgoing link has an MTU that is  smaller than the length of the IP datagram</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2" name="Shape 672"/>
        <p:cNvGrpSpPr/>
        <p:nvPr/>
      </p:nvGrpSpPr>
      <p:grpSpPr>
        <a:xfrm>
          <a:off x="0" y="0"/>
          <a:ext cx="0" cy="0"/>
          <a:chOff x="0" y="0"/>
          <a:chExt cx="0" cy="0"/>
        </a:xfrm>
      </p:grpSpPr>
      <p:sp>
        <p:nvSpPr>
          <p:cNvPr id="673" name="Google Shape;673;p44"/>
          <p:cNvSpPr txBox="1"/>
          <p:nvPr/>
        </p:nvSpPr>
        <p:spPr>
          <a:xfrm>
            <a:off x="916939" y="367995"/>
            <a:ext cx="10354310" cy="5624195"/>
          </a:xfrm>
          <a:prstGeom prst="rect">
            <a:avLst/>
          </a:prstGeom>
          <a:noFill/>
          <a:ln>
            <a:noFill/>
          </a:ln>
        </p:spPr>
        <p:txBody>
          <a:bodyPr anchorCtr="0" anchor="t" bIns="0" lIns="0" spcFirstLastPara="1" rIns="0" wrap="square" tIns="132075">
            <a:spAutoFit/>
          </a:bodyPr>
          <a:lstStyle/>
          <a:p>
            <a:pPr indent="-228600" lvl="0" marL="241300" marR="236220" rtl="0" algn="l">
              <a:lnSpc>
                <a:spcPct val="70000"/>
              </a:lnSpc>
              <a:spcBef>
                <a:spcPts val="0"/>
              </a:spcBef>
              <a:spcAft>
                <a:spcPts val="0"/>
              </a:spcAft>
              <a:buClr>
                <a:srgbClr val="006FC0"/>
              </a:buClr>
              <a:buSzPts val="2600"/>
              <a:buFont typeface="Arial"/>
              <a:buChar char="•"/>
            </a:pPr>
            <a:r>
              <a:rPr b="0" i="0" lang="en-US" sz="2600" u="none" cap="none" strike="noStrike">
                <a:solidFill>
                  <a:srgbClr val="006FC0"/>
                </a:solidFill>
                <a:latin typeface="Arial"/>
                <a:ea typeface="Arial"/>
                <a:cs typeface="Arial"/>
                <a:sym typeface="Arial"/>
              </a:rPr>
              <a:t>The solution is </a:t>
            </a:r>
            <a:r>
              <a:rPr b="0" i="0" lang="en-US" sz="2600" u="none" cap="none" strike="noStrike">
                <a:solidFill>
                  <a:srgbClr val="000000"/>
                </a:solidFill>
                <a:latin typeface="Arial"/>
                <a:ea typeface="Arial"/>
                <a:cs typeface="Arial"/>
                <a:sym typeface="Arial"/>
              </a:rPr>
              <a:t>to fragment the data in the IP datagram into two or more  smaller IP datagrams, encapsulate each of these smaller IP datagrams in a  separate link-layer frame; and send these frames over the outgoing link.</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6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Each of these smaller datagrams is referred to as a </a:t>
            </a:r>
            <a:r>
              <a:rPr b="1" i="0" lang="en-US" sz="2600" u="none" cap="none" strike="noStrike">
                <a:solidFill>
                  <a:srgbClr val="000000"/>
                </a:solidFill>
                <a:latin typeface="Arial"/>
                <a:ea typeface="Arial"/>
                <a:cs typeface="Arial"/>
                <a:sym typeface="Arial"/>
              </a:rPr>
              <a:t>fragment</a:t>
            </a:r>
            <a:r>
              <a:rPr b="0" i="0" lang="en-US" sz="2600" u="none" cap="none" strike="noStrike">
                <a:solidFill>
                  <a:srgbClr val="000000"/>
                </a:solidFill>
                <a:latin typeface="Arial"/>
                <a:ea typeface="Arial"/>
                <a:cs typeface="Arial"/>
                <a:sym typeface="Arial"/>
              </a:rPr>
              <a:t>.</a:t>
            </a:r>
            <a:endParaRPr b="0" i="0" sz="2600" u="none" cap="none" strike="noStrike">
              <a:solidFill>
                <a:srgbClr val="000000"/>
              </a:solidFill>
              <a:latin typeface="Arial"/>
              <a:ea typeface="Arial"/>
              <a:cs typeface="Arial"/>
              <a:sym typeface="Arial"/>
            </a:endParaRPr>
          </a:p>
          <a:p>
            <a:pPr indent="-228600" lvl="0" marL="241300" marR="19050" rtl="0" algn="l">
              <a:lnSpc>
                <a:spcPct val="70100"/>
              </a:lnSpc>
              <a:spcBef>
                <a:spcPts val="994"/>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Fragments need to be reassembled before they reach the transport layer at  the destination.</a:t>
            </a:r>
            <a:endParaRPr b="0" i="0" sz="2600" u="none" cap="none" strike="noStrike">
              <a:solidFill>
                <a:srgbClr val="000000"/>
              </a:solidFill>
              <a:latin typeface="Arial"/>
              <a:ea typeface="Arial"/>
              <a:cs typeface="Arial"/>
              <a:sym typeface="Arial"/>
            </a:endParaRPr>
          </a:p>
          <a:p>
            <a:pPr indent="-228600" lvl="0" marL="241300" marR="72390" rtl="0" algn="l">
              <a:lnSpc>
                <a:spcPct val="70000"/>
              </a:lnSpc>
              <a:spcBef>
                <a:spcPts val="100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designers of IPv4 decided to put the job of datagram reassembly in the  end systems rather than in network routers.</a:t>
            </a:r>
            <a:endParaRPr b="0" i="0" sz="2600" u="none" cap="none" strike="noStrike">
              <a:solidFill>
                <a:srgbClr val="000000"/>
              </a:solidFill>
              <a:latin typeface="Arial"/>
              <a:ea typeface="Arial"/>
              <a:cs typeface="Arial"/>
              <a:sym typeface="Arial"/>
            </a:endParaRPr>
          </a:p>
          <a:p>
            <a:pPr indent="-228600" lvl="0" marL="241300" marR="701675" rtl="0" algn="l">
              <a:lnSpc>
                <a:spcPct val="70000"/>
              </a:lnSpc>
              <a:spcBef>
                <a:spcPts val="100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When a </a:t>
            </a:r>
            <a:r>
              <a:rPr b="0" i="0" lang="en-US" sz="2600" u="none" cap="none" strike="noStrike">
                <a:solidFill>
                  <a:srgbClr val="006FC0"/>
                </a:solidFill>
                <a:latin typeface="Arial"/>
                <a:ea typeface="Arial"/>
                <a:cs typeface="Arial"/>
                <a:sym typeface="Arial"/>
              </a:rPr>
              <a:t>destination host receives </a:t>
            </a:r>
            <a:r>
              <a:rPr b="0" i="0" lang="en-US" sz="2600" u="none" cap="none" strike="noStrike">
                <a:solidFill>
                  <a:srgbClr val="000000"/>
                </a:solidFill>
                <a:latin typeface="Arial"/>
                <a:ea typeface="Arial"/>
                <a:cs typeface="Arial"/>
                <a:sym typeface="Arial"/>
              </a:rPr>
              <a:t>a series of datagrams from the same  source, it needs to determine whether any of these datagrams are  fragments of some original, larger datagram.</a:t>
            </a:r>
            <a:endParaRPr b="0" i="0" sz="2600" u="none" cap="none" strike="noStrike">
              <a:solidFill>
                <a:srgbClr val="000000"/>
              </a:solidFill>
              <a:latin typeface="Arial"/>
              <a:ea typeface="Arial"/>
              <a:cs typeface="Arial"/>
              <a:sym typeface="Arial"/>
            </a:endParaRPr>
          </a:p>
          <a:p>
            <a:pPr indent="-228600" lvl="0" marL="241300" marR="5080" rtl="0" algn="l">
              <a:lnSpc>
                <a:spcPct val="70000"/>
              </a:lnSpc>
              <a:spcBef>
                <a:spcPts val="994"/>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If some datagrams are fragments, it must further determine when it has  received the last fragment and how the fragments it has received should be  pieced back together to form the original datagram.</a:t>
            </a:r>
            <a:endParaRPr b="0" i="0" sz="2600" u="none" cap="none" strike="noStrike">
              <a:solidFill>
                <a:srgbClr val="000000"/>
              </a:solidFill>
              <a:latin typeface="Arial"/>
              <a:ea typeface="Arial"/>
              <a:cs typeface="Arial"/>
              <a:sym typeface="Arial"/>
            </a:endParaRPr>
          </a:p>
          <a:p>
            <a:pPr indent="-228600" lvl="0" marL="241300" marR="103504" rtl="0" algn="l">
              <a:lnSpc>
                <a:spcPct val="70000"/>
              </a:lnSpc>
              <a:spcBef>
                <a:spcPts val="100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600" u="none" cap="none" strike="noStrike">
                <a:solidFill>
                  <a:srgbClr val="000000"/>
                </a:solidFill>
                <a:latin typeface="Arial"/>
                <a:ea typeface="Arial"/>
                <a:cs typeface="Arial"/>
                <a:sym typeface="Arial"/>
              </a:rPr>
              <a:t>To allow the destination host to perform these </a:t>
            </a:r>
            <a:r>
              <a:rPr b="0" i="0" lang="en-US" sz="2600" u="none" cap="none" strike="noStrike">
                <a:solidFill>
                  <a:srgbClr val="006FC0"/>
                </a:solidFill>
                <a:latin typeface="Arial"/>
                <a:ea typeface="Arial"/>
                <a:cs typeface="Arial"/>
                <a:sym typeface="Arial"/>
              </a:rPr>
              <a:t>reassembly tasks</a:t>
            </a:r>
            <a:r>
              <a:rPr b="0" i="0" lang="en-US" sz="2600" u="none" cap="none" strike="noStrike">
                <a:solidFill>
                  <a:srgbClr val="000000"/>
                </a:solidFill>
                <a:latin typeface="Arial"/>
                <a:ea typeface="Arial"/>
                <a:cs typeface="Arial"/>
                <a:sym typeface="Arial"/>
              </a:rPr>
              <a:t>, the  designers of IP (version 4) put </a:t>
            </a:r>
            <a:r>
              <a:rPr b="0" i="1" lang="en-US" sz="2600" u="none" cap="none" strike="noStrike">
                <a:solidFill>
                  <a:srgbClr val="000000"/>
                </a:solidFill>
                <a:latin typeface="Arial"/>
                <a:ea typeface="Arial"/>
                <a:cs typeface="Arial"/>
                <a:sym typeface="Arial"/>
              </a:rPr>
              <a:t>identification, flag, </a:t>
            </a:r>
            <a:r>
              <a:rPr b="0" i="0" lang="en-US" sz="2600" u="none" cap="none" strike="noStrike">
                <a:solidFill>
                  <a:srgbClr val="000000"/>
                </a:solidFill>
                <a:latin typeface="Arial"/>
                <a:ea typeface="Arial"/>
                <a:cs typeface="Arial"/>
                <a:sym typeface="Arial"/>
              </a:rPr>
              <a:t>and </a:t>
            </a:r>
            <a:r>
              <a:rPr b="0" i="1" lang="en-US" sz="2600" u="none" cap="none" strike="noStrike">
                <a:solidFill>
                  <a:srgbClr val="000000"/>
                </a:solidFill>
                <a:latin typeface="Arial"/>
                <a:ea typeface="Arial"/>
                <a:cs typeface="Arial"/>
                <a:sym typeface="Arial"/>
              </a:rPr>
              <a:t>fragmentation offset  </a:t>
            </a:r>
            <a:r>
              <a:rPr b="0" i="0" lang="en-US" sz="2600" u="none" cap="none" strike="noStrike">
                <a:solidFill>
                  <a:srgbClr val="000000"/>
                </a:solidFill>
                <a:latin typeface="Arial"/>
                <a:ea typeface="Arial"/>
                <a:cs typeface="Arial"/>
                <a:sym typeface="Arial"/>
              </a:rPr>
              <a:t>fields in the IP datagram header.</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7" name="Shape 677"/>
        <p:cNvGrpSpPr/>
        <p:nvPr/>
      </p:nvGrpSpPr>
      <p:grpSpPr>
        <a:xfrm>
          <a:off x="0" y="0"/>
          <a:ext cx="0" cy="0"/>
          <a:chOff x="0" y="0"/>
          <a:chExt cx="0" cy="0"/>
        </a:xfrm>
      </p:grpSpPr>
      <p:sp>
        <p:nvSpPr>
          <p:cNvPr id="678" name="Google Shape;678;p45"/>
          <p:cNvSpPr/>
          <p:nvPr/>
        </p:nvSpPr>
        <p:spPr>
          <a:xfrm>
            <a:off x="1763267" y="222536"/>
            <a:ext cx="8888146" cy="657760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2" name="Shape 682"/>
        <p:cNvGrpSpPr/>
        <p:nvPr/>
      </p:nvGrpSpPr>
      <p:grpSpPr>
        <a:xfrm>
          <a:off x="0" y="0"/>
          <a:ext cx="0" cy="0"/>
          <a:chOff x="0" y="0"/>
          <a:chExt cx="0" cy="0"/>
        </a:xfrm>
      </p:grpSpPr>
      <p:sp>
        <p:nvSpPr>
          <p:cNvPr id="683" name="Google Shape;683;p46"/>
          <p:cNvSpPr txBox="1"/>
          <p:nvPr/>
        </p:nvSpPr>
        <p:spPr>
          <a:xfrm>
            <a:off x="916939" y="1793493"/>
            <a:ext cx="10335895" cy="2500630"/>
          </a:xfrm>
          <a:prstGeom prst="rect">
            <a:avLst/>
          </a:prstGeom>
          <a:noFill/>
          <a:ln>
            <a:noFill/>
          </a:ln>
        </p:spPr>
        <p:txBody>
          <a:bodyPr anchorCtr="0" anchor="t" bIns="0" lIns="0" spcFirstLastPara="1" rIns="0" wrap="square" tIns="60950">
            <a:spAutoFit/>
          </a:bodyPr>
          <a:lstStyle/>
          <a:p>
            <a:pPr indent="-228600" lvl="0" marL="241300" marR="854075" rtl="0" algn="just">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At the destination, the payload of the datagram is passed to the  transport layer </a:t>
            </a:r>
            <a:r>
              <a:rPr b="0" i="0" lang="en-US" sz="2800" u="none" cap="none" strike="noStrike">
                <a:solidFill>
                  <a:srgbClr val="006FC0"/>
                </a:solidFill>
                <a:latin typeface="Arial"/>
                <a:ea typeface="Arial"/>
                <a:cs typeface="Arial"/>
                <a:sym typeface="Arial"/>
              </a:rPr>
              <a:t>only after </a:t>
            </a:r>
            <a:r>
              <a:rPr b="0" i="0" lang="en-US" sz="2800" u="none" cap="none" strike="noStrike">
                <a:solidFill>
                  <a:srgbClr val="000000"/>
                </a:solidFill>
                <a:latin typeface="Arial"/>
                <a:ea typeface="Arial"/>
                <a:cs typeface="Arial"/>
                <a:sym typeface="Arial"/>
              </a:rPr>
              <a:t>the IP layer has fully reconstructed the  original IP datagram.</a:t>
            </a:r>
            <a:endParaRPr b="0" i="0" sz="2800" u="none" cap="none" strike="noStrike">
              <a:solidFill>
                <a:srgbClr val="000000"/>
              </a:solidFill>
              <a:latin typeface="Arial"/>
              <a:ea typeface="Arial"/>
              <a:cs typeface="Arial"/>
              <a:sym typeface="Arial"/>
            </a:endParaRPr>
          </a:p>
          <a:p>
            <a:pPr indent="-228600" lvl="0" marL="241300" marR="5080" rtl="0" algn="l">
              <a:lnSpc>
                <a:spcPct val="107857"/>
              </a:lnSpc>
              <a:spcBef>
                <a:spcPts val="1019"/>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If one or more of the fragments does not arrive at the destination,  the </a:t>
            </a:r>
            <a:r>
              <a:rPr b="0" i="0" lang="en-US" sz="2800" u="none" cap="none" strike="noStrike">
                <a:solidFill>
                  <a:srgbClr val="006FC0"/>
                </a:solidFill>
                <a:latin typeface="Arial"/>
                <a:ea typeface="Arial"/>
                <a:cs typeface="Arial"/>
                <a:sym typeface="Arial"/>
              </a:rPr>
              <a:t>incomplete datagram is discarded </a:t>
            </a:r>
            <a:r>
              <a:rPr b="0" i="0" lang="en-US" sz="2800" u="none" cap="none" strike="noStrike">
                <a:solidFill>
                  <a:srgbClr val="000000"/>
                </a:solidFill>
                <a:latin typeface="Arial"/>
                <a:ea typeface="Arial"/>
                <a:cs typeface="Arial"/>
                <a:sym typeface="Arial"/>
              </a:rPr>
              <a:t>and not passed to the transport  layer.</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7" name="Shape 687"/>
        <p:cNvGrpSpPr/>
        <p:nvPr/>
      </p:nvGrpSpPr>
      <p:grpSpPr>
        <a:xfrm>
          <a:off x="0" y="0"/>
          <a:ext cx="0" cy="0"/>
          <a:chOff x="0" y="0"/>
          <a:chExt cx="0" cy="0"/>
        </a:xfrm>
      </p:grpSpPr>
      <p:sp>
        <p:nvSpPr>
          <p:cNvPr id="688" name="Google Shape;688;p47"/>
          <p:cNvSpPr txBox="1"/>
          <p:nvPr>
            <p:ph type="title"/>
          </p:nvPr>
        </p:nvSpPr>
        <p:spPr>
          <a:xfrm>
            <a:off x="916965" y="371675"/>
            <a:ext cx="6814800" cy="6906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 fragments</a:t>
            </a:r>
            <a:endParaRPr/>
          </a:p>
        </p:txBody>
      </p:sp>
      <p:sp>
        <p:nvSpPr>
          <p:cNvPr id="689" name="Google Shape;689;p47"/>
          <p:cNvSpPr/>
          <p:nvPr/>
        </p:nvSpPr>
        <p:spPr>
          <a:xfrm>
            <a:off x="207263" y="1514774"/>
            <a:ext cx="11744522" cy="446826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3" name="Shape 693"/>
        <p:cNvGrpSpPr/>
        <p:nvPr/>
      </p:nvGrpSpPr>
      <p:grpSpPr>
        <a:xfrm>
          <a:off x="0" y="0"/>
          <a:ext cx="0" cy="0"/>
          <a:chOff x="0" y="0"/>
          <a:chExt cx="0" cy="0"/>
        </a:xfrm>
      </p:grpSpPr>
      <p:sp>
        <p:nvSpPr>
          <p:cNvPr id="694" name="Google Shape;694;p48"/>
          <p:cNvSpPr txBox="1"/>
          <p:nvPr/>
        </p:nvSpPr>
        <p:spPr>
          <a:xfrm>
            <a:off x="916939" y="257878"/>
            <a:ext cx="10299065" cy="6114415"/>
          </a:xfrm>
          <a:prstGeom prst="rect">
            <a:avLst/>
          </a:prstGeom>
          <a:noFill/>
          <a:ln>
            <a:noFill/>
          </a:ln>
        </p:spPr>
        <p:txBody>
          <a:bodyPr anchorCtr="0" anchor="t" bIns="0" lIns="0" spcFirstLastPara="1" rIns="0" wrap="square" tIns="60325">
            <a:spAutoFit/>
          </a:bodyPr>
          <a:lstStyle/>
          <a:p>
            <a:pPr indent="-228600" lvl="0" marL="2413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But fragmentation also has its costs.</a:t>
            </a:r>
            <a:endParaRPr b="0" i="0" sz="2600" u="none" cap="none" strike="noStrike">
              <a:solidFill>
                <a:srgbClr val="000000"/>
              </a:solidFill>
              <a:latin typeface="Times New Roman"/>
              <a:ea typeface="Times New Roman"/>
              <a:cs typeface="Times New Roman"/>
              <a:sym typeface="Times New Roman"/>
            </a:endParaRPr>
          </a:p>
          <a:p>
            <a:pPr indent="-228600" lvl="0" marL="241300" marR="283845" rtl="0" algn="l">
              <a:lnSpc>
                <a:spcPct val="96153"/>
              </a:lnSpc>
              <a:spcBef>
                <a:spcPts val="975"/>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Times New Roman"/>
                <a:ea typeface="Times New Roman"/>
                <a:cs typeface="Times New Roman"/>
                <a:sym typeface="Times New Roman"/>
              </a:rPr>
              <a:t>First, </a:t>
            </a:r>
            <a:r>
              <a:rPr b="0" i="0" lang="en-US" sz="2600" u="none" cap="none" strike="noStrike">
                <a:solidFill>
                  <a:srgbClr val="006FC0"/>
                </a:solidFill>
                <a:latin typeface="Times New Roman"/>
                <a:ea typeface="Times New Roman"/>
                <a:cs typeface="Times New Roman"/>
                <a:sym typeface="Times New Roman"/>
              </a:rPr>
              <a:t>it complicates </a:t>
            </a:r>
            <a:r>
              <a:rPr b="0" i="0" lang="en-US" sz="2600" u="none" cap="none" strike="noStrike">
                <a:solidFill>
                  <a:srgbClr val="000000"/>
                </a:solidFill>
                <a:latin typeface="Times New Roman"/>
                <a:ea typeface="Times New Roman"/>
                <a:cs typeface="Times New Roman"/>
                <a:sym typeface="Times New Roman"/>
              </a:rPr>
              <a:t>routers and end systems, which need to be designed  to accommodate datagram fragmentation and reassembly.</a:t>
            </a:r>
            <a:endParaRPr b="0" i="0" sz="2600" u="none" cap="none" strike="noStrike">
              <a:solidFill>
                <a:srgbClr val="000000"/>
              </a:solidFill>
              <a:latin typeface="Times New Roman"/>
              <a:ea typeface="Times New Roman"/>
              <a:cs typeface="Times New Roman"/>
              <a:sym typeface="Times New Roman"/>
            </a:endParaRPr>
          </a:p>
          <a:p>
            <a:pPr indent="-228600" lvl="0" marL="241300" marR="511809" rtl="0" algn="l">
              <a:lnSpc>
                <a:spcPct val="96153"/>
              </a:lnSpc>
              <a:spcBef>
                <a:spcPts val="100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	</a:t>
            </a:r>
            <a:r>
              <a:rPr b="0" i="0" lang="en-US" sz="2600" u="none" cap="none" strike="noStrike">
                <a:solidFill>
                  <a:srgbClr val="000000"/>
                </a:solidFill>
                <a:latin typeface="Times New Roman"/>
                <a:ea typeface="Times New Roman"/>
                <a:cs typeface="Times New Roman"/>
                <a:sym typeface="Times New Roman"/>
              </a:rPr>
              <a:t>Second, fragmentation can be used to create </a:t>
            </a:r>
            <a:r>
              <a:rPr b="0" i="0" lang="en-US" sz="2600" u="none" cap="none" strike="noStrike">
                <a:solidFill>
                  <a:srgbClr val="006FC0"/>
                </a:solidFill>
                <a:latin typeface="Times New Roman"/>
                <a:ea typeface="Times New Roman"/>
                <a:cs typeface="Times New Roman"/>
                <a:sym typeface="Times New Roman"/>
              </a:rPr>
              <a:t>DoS attacks</a:t>
            </a:r>
            <a:r>
              <a:rPr b="0" i="0" lang="en-US" sz="2600" u="none" cap="none" strike="noStrike">
                <a:solidFill>
                  <a:srgbClr val="000000"/>
                </a:solidFill>
                <a:latin typeface="Times New Roman"/>
                <a:ea typeface="Times New Roman"/>
                <a:cs typeface="Times New Roman"/>
                <a:sym typeface="Times New Roman"/>
              </a:rPr>
              <a:t>, whereby the  attacker sends a series of unexpected fragments.</a:t>
            </a:r>
            <a:endParaRPr b="0" i="0" sz="2600" u="none" cap="none" strike="noStrike">
              <a:solidFill>
                <a:srgbClr val="000000"/>
              </a:solidFill>
              <a:latin typeface="Times New Roman"/>
              <a:ea typeface="Times New Roman"/>
              <a:cs typeface="Times New Roman"/>
              <a:sym typeface="Times New Roman"/>
            </a:endParaRPr>
          </a:p>
          <a:p>
            <a:pPr indent="-228600" lvl="0" marL="241300" marR="205104" rtl="0" algn="l">
              <a:lnSpc>
                <a:spcPct val="80000"/>
              </a:lnSpc>
              <a:spcBef>
                <a:spcPts val="1015"/>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A classic example is the </a:t>
            </a:r>
            <a:r>
              <a:rPr b="0" i="0" lang="en-US" sz="2600" u="none" cap="none" strike="noStrike">
                <a:solidFill>
                  <a:srgbClr val="006FC0"/>
                </a:solidFill>
                <a:latin typeface="Times New Roman"/>
                <a:ea typeface="Times New Roman"/>
                <a:cs typeface="Times New Roman"/>
                <a:sym typeface="Times New Roman"/>
              </a:rPr>
              <a:t>Jolt2 attack</a:t>
            </a:r>
            <a:r>
              <a:rPr b="0" i="0" lang="en-US" sz="2600" u="none" cap="none" strike="noStrike">
                <a:solidFill>
                  <a:srgbClr val="000000"/>
                </a:solidFill>
                <a:latin typeface="Times New Roman"/>
                <a:ea typeface="Times New Roman"/>
                <a:cs typeface="Times New Roman"/>
                <a:sym typeface="Times New Roman"/>
              </a:rPr>
              <a:t>, where the attacker sends a stream of  small fragments to the target host, none of which has an offset of zero.</a:t>
            </a:r>
            <a:endParaRPr b="0" i="0" sz="2600" u="none" cap="none" strike="noStrike">
              <a:solidFill>
                <a:srgbClr val="000000"/>
              </a:solidFill>
              <a:latin typeface="Times New Roman"/>
              <a:ea typeface="Times New Roman"/>
              <a:cs typeface="Times New Roman"/>
              <a:sym typeface="Times New Roman"/>
            </a:endParaRPr>
          </a:p>
          <a:p>
            <a:pPr indent="-228600" lvl="0" marL="241300" marR="792480" rtl="0" algn="l">
              <a:lnSpc>
                <a:spcPct val="96153"/>
              </a:lnSpc>
              <a:spcBef>
                <a:spcPts val="969"/>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The target can collapse as it attempts to rebuild datagrams out of the  degenerate packets.</a:t>
            </a:r>
            <a:endParaRPr b="0" i="0" sz="2600" u="none" cap="none" strike="noStrike">
              <a:solidFill>
                <a:srgbClr val="000000"/>
              </a:solidFill>
              <a:latin typeface="Times New Roman"/>
              <a:ea typeface="Times New Roman"/>
              <a:cs typeface="Times New Roman"/>
              <a:sym typeface="Times New Roman"/>
            </a:endParaRPr>
          </a:p>
          <a:p>
            <a:pPr indent="-228600" lvl="0" marL="241300" marR="5080" rtl="0" algn="l">
              <a:lnSpc>
                <a:spcPct val="80000"/>
              </a:lnSpc>
              <a:spcBef>
                <a:spcPts val="1025"/>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Another class of exploits sends overlapping IP fragments, that is, fragments  whose offset values are set so that the fragments do not align properly.</a:t>
            </a:r>
            <a:endParaRPr b="0" i="0" sz="2600" u="none" cap="none" strike="noStrike">
              <a:solidFill>
                <a:srgbClr val="000000"/>
              </a:solidFill>
              <a:latin typeface="Times New Roman"/>
              <a:ea typeface="Times New Roman"/>
              <a:cs typeface="Times New Roman"/>
              <a:sym typeface="Times New Roman"/>
            </a:endParaRPr>
          </a:p>
          <a:p>
            <a:pPr indent="-228600" lvl="0" marL="241300" marR="400685" rtl="0" algn="l">
              <a:lnSpc>
                <a:spcPct val="96153"/>
              </a:lnSpc>
              <a:spcBef>
                <a:spcPts val="975"/>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Vulnerable operating systems, not knowing what to do with overlapping  fragments, can crash .</a:t>
            </a:r>
            <a:endParaRPr/>
          </a:p>
          <a:p>
            <a:pPr indent="-228600" lvl="0" marL="241300" marR="423544" rtl="0" algn="l">
              <a:lnSpc>
                <a:spcPct val="80000"/>
              </a:lnSpc>
              <a:spcBef>
                <a:spcPts val="1015"/>
              </a:spcBef>
              <a:spcAft>
                <a:spcPts val="0"/>
              </a:spcAft>
              <a:buClr>
                <a:srgbClr val="000000"/>
              </a:buClr>
              <a:buSzPts val="2600"/>
              <a:buFont typeface="Arial"/>
              <a:buChar char="•"/>
            </a:pPr>
            <a:r>
              <a:rPr b="0" i="0" lang="en-US" sz="2600" u="none" cap="none" strike="noStrike">
                <a:solidFill>
                  <a:srgbClr val="000000"/>
                </a:solidFill>
                <a:latin typeface="Times New Roman"/>
                <a:ea typeface="Times New Roman"/>
                <a:cs typeface="Times New Roman"/>
                <a:sym typeface="Times New Roman"/>
              </a:rPr>
              <a:t>A new version of the IP protocol, IPv6, does away with fragmentation  altogether, thereby streamlining IP packet processing and </a:t>
            </a:r>
            <a:r>
              <a:rPr b="0" i="0" lang="en-US" sz="2600" u="none" cap="none" strike="noStrike">
                <a:solidFill>
                  <a:srgbClr val="006FC0"/>
                </a:solidFill>
                <a:latin typeface="Times New Roman"/>
                <a:ea typeface="Times New Roman"/>
                <a:cs typeface="Times New Roman"/>
                <a:sym typeface="Times New Roman"/>
              </a:rPr>
              <a:t>making IP less  vulnerable to attack.</a:t>
            </a:r>
            <a:endParaRPr b="0"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8" name="Shape 698"/>
        <p:cNvGrpSpPr/>
        <p:nvPr/>
      </p:nvGrpSpPr>
      <p:grpSpPr>
        <a:xfrm>
          <a:off x="0" y="0"/>
          <a:ext cx="0" cy="0"/>
          <a:chOff x="0" y="0"/>
          <a:chExt cx="0" cy="0"/>
        </a:xfrm>
      </p:grpSpPr>
      <p:sp>
        <p:nvSpPr>
          <p:cNvPr id="699" name="Google Shape;699;p49"/>
          <p:cNvSpPr txBox="1"/>
          <p:nvPr>
            <p:ph type="title"/>
          </p:nvPr>
        </p:nvSpPr>
        <p:spPr>
          <a:xfrm>
            <a:off x="916939" y="325958"/>
            <a:ext cx="350266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IPv4 Addressing</a:t>
            </a:r>
            <a:endParaRPr/>
          </a:p>
        </p:txBody>
      </p:sp>
      <p:sp>
        <p:nvSpPr>
          <p:cNvPr id="700" name="Google Shape;700;p49"/>
          <p:cNvSpPr txBox="1"/>
          <p:nvPr/>
        </p:nvSpPr>
        <p:spPr>
          <a:xfrm>
            <a:off x="904239" y="1279347"/>
            <a:ext cx="10233025" cy="4502150"/>
          </a:xfrm>
          <a:prstGeom prst="rect">
            <a:avLst/>
          </a:prstGeom>
          <a:noFill/>
          <a:ln>
            <a:noFill/>
          </a:ln>
        </p:spPr>
        <p:txBody>
          <a:bodyPr anchorCtr="0" anchor="t" bIns="0" lIns="0" spcFirstLastPara="1" rIns="0" wrap="square" tIns="94600">
            <a:spAutoFit/>
          </a:bodyPr>
          <a:lstStyle/>
          <a:p>
            <a:pPr indent="-228600" lvl="0" marL="254000" marR="482600" rtl="0" algn="l">
              <a:lnSpc>
                <a:spcPct val="96071"/>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When IP in the host wants to send a datagram, it does so over the  link.</a:t>
            </a:r>
            <a:endParaRPr b="0" i="0" sz="2800" u="none" cap="none" strike="noStrike">
              <a:solidFill>
                <a:srgbClr val="000000"/>
              </a:solidFill>
              <a:latin typeface="Arial"/>
              <a:ea typeface="Arial"/>
              <a:cs typeface="Arial"/>
              <a:sym typeface="Arial"/>
            </a:endParaRPr>
          </a:p>
          <a:p>
            <a:pPr indent="-228600" lvl="0" marL="254000" marR="0" rtl="0" algn="l">
              <a:lnSpc>
                <a:spcPct val="108035"/>
              </a:lnSpc>
              <a:spcBef>
                <a:spcPts val="34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boundary between the host and the physical link is called an</a:t>
            </a:r>
            <a:r>
              <a:rPr lang="en-US" sz="2800">
                <a:solidFill>
                  <a:srgbClr val="000000"/>
                </a:solidFill>
                <a:latin typeface="Arial"/>
                <a:ea typeface="Arial"/>
                <a:cs typeface="Arial"/>
                <a:sym typeface="Arial"/>
              </a:rPr>
              <a:t> </a:t>
            </a:r>
            <a:r>
              <a:rPr b="1" i="0" lang="en-US" sz="2800" u="none" cap="none" strike="noStrike">
                <a:solidFill>
                  <a:srgbClr val="000000"/>
                </a:solidFill>
                <a:latin typeface="Arial"/>
                <a:ea typeface="Arial"/>
                <a:cs typeface="Arial"/>
                <a:sym typeface="Arial"/>
              </a:rPr>
              <a:t>interface</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a:p>
            <a:pPr indent="-228600" lvl="0" marL="254000" marR="0" rtl="0" algn="l">
              <a:lnSpc>
                <a:spcPct val="100000"/>
              </a:lnSpc>
              <a:spcBef>
                <a:spcPts val="33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router thus has multiple interfaces, one for each of its links.</a:t>
            </a:r>
            <a:endParaRPr b="0" i="0" sz="2800" u="none" cap="none" strike="noStrike">
              <a:solidFill>
                <a:srgbClr val="000000"/>
              </a:solidFill>
              <a:latin typeface="Arial"/>
              <a:ea typeface="Arial"/>
              <a:cs typeface="Arial"/>
              <a:sym typeface="Arial"/>
            </a:endParaRPr>
          </a:p>
          <a:p>
            <a:pPr indent="-228600" lvl="0" marL="254000" marR="17780" rtl="0" algn="l">
              <a:lnSpc>
                <a:spcPct val="80000"/>
              </a:lnSpc>
              <a:spcBef>
                <a:spcPts val="10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Because every host and router is capable of sending and receiving IP  datagrams, IP requires each host and router interface to have its own  IP address.</a:t>
            </a:r>
            <a:endParaRPr b="0" i="0" sz="2800" u="none" cap="none" strike="noStrike">
              <a:solidFill>
                <a:srgbClr val="000000"/>
              </a:solidFill>
              <a:latin typeface="Arial"/>
              <a:ea typeface="Arial"/>
              <a:cs typeface="Arial"/>
              <a:sym typeface="Arial"/>
            </a:endParaRPr>
          </a:p>
          <a:p>
            <a:pPr indent="-309880" lvl="0" marL="334645" marR="0" rtl="0" algn="l">
              <a:lnSpc>
                <a:spcPct val="100000"/>
              </a:lnSpc>
              <a:spcBef>
                <a:spcPts val="32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Thus, an IP address is technically associated with an interface.</a:t>
            </a:r>
            <a:endParaRPr b="0" i="0" sz="2800" u="none" cap="none" strike="noStrike">
              <a:solidFill>
                <a:srgbClr val="000000"/>
              </a:solidFill>
              <a:latin typeface="Arial"/>
              <a:ea typeface="Arial"/>
              <a:cs typeface="Arial"/>
              <a:sym typeface="Arial"/>
            </a:endParaRPr>
          </a:p>
          <a:p>
            <a:pPr indent="-228600" lvl="0" marL="254000" marR="309880" rtl="0" algn="l">
              <a:lnSpc>
                <a:spcPct val="96071"/>
              </a:lnSpc>
              <a:spcBef>
                <a:spcPts val="98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Each IP address is 32 bits long (equivalently, 4 bytes), and there are  thus a total of </a:t>
            </a:r>
            <a:r>
              <a:rPr b="0" i="0" lang="en-US" sz="2800" u="none" cap="none" strike="noStrike">
                <a:solidFill>
                  <a:srgbClr val="006FC0"/>
                </a:solidFill>
                <a:latin typeface="Arial"/>
                <a:ea typeface="Arial"/>
                <a:cs typeface="Arial"/>
                <a:sym typeface="Arial"/>
              </a:rPr>
              <a:t>2</a:t>
            </a:r>
            <a:r>
              <a:rPr b="0" baseline="30000" i="0" lang="en-US" sz="2775" u="none" cap="none" strike="noStrike">
                <a:solidFill>
                  <a:srgbClr val="006FC0"/>
                </a:solidFill>
                <a:latin typeface="Arial"/>
                <a:ea typeface="Arial"/>
                <a:cs typeface="Arial"/>
                <a:sym typeface="Arial"/>
              </a:rPr>
              <a:t>32 </a:t>
            </a:r>
            <a:r>
              <a:rPr b="0" i="0" lang="en-US" sz="2800" u="none" cap="none" strike="noStrike">
                <a:solidFill>
                  <a:srgbClr val="006FC0"/>
                </a:solidFill>
                <a:latin typeface="Arial"/>
                <a:ea typeface="Arial"/>
                <a:cs typeface="Arial"/>
                <a:sym typeface="Arial"/>
              </a:rPr>
              <a:t>possible IP addresses.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4" name="Shape 704"/>
        <p:cNvGrpSpPr/>
        <p:nvPr/>
      </p:nvGrpSpPr>
      <p:grpSpPr>
        <a:xfrm>
          <a:off x="0" y="0"/>
          <a:ext cx="0" cy="0"/>
          <a:chOff x="0" y="0"/>
          <a:chExt cx="0" cy="0"/>
        </a:xfrm>
      </p:grpSpPr>
      <p:grpSp>
        <p:nvGrpSpPr>
          <p:cNvPr id="705" name="Google Shape;705;p50"/>
          <p:cNvGrpSpPr/>
          <p:nvPr/>
        </p:nvGrpSpPr>
        <p:grpSpPr>
          <a:xfrm>
            <a:off x="1523999" y="0"/>
            <a:ext cx="9144000" cy="1371600"/>
            <a:chOff x="1523999" y="0"/>
            <a:chExt cx="9144000" cy="1371600"/>
          </a:xfrm>
        </p:grpSpPr>
        <p:sp>
          <p:nvSpPr>
            <p:cNvPr id="706" name="Google Shape;706;p50"/>
            <p:cNvSpPr/>
            <p:nvPr/>
          </p:nvSpPr>
          <p:spPr>
            <a:xfrm>
              <a:off x="1523999" y="0"/>
              <a:ext cx="9144000" cy="1371600"/>
            </a:xfrm>
            <a:custGeom>
              <a:rect b="b" l="l" r="r" t="t"/>
              <a:pathLst>
                <a:path extrusionOk="0" h="1371600" w="9144000">
                  <a:moveTo>
                    <a:pt x="9144000" y="0"/>
                  </a:moveTo>
                  <a:lnTo>
                    <a:pt x="0" y="0"/>
                  </a:lnTo>
                  <a:lnTo>
                    <a:pt x="0" y="1371600"/>
                  </a:lnTo>
                  <a:lnTo>
                    <a:pt x="9144000" y="1371600"/>
                  </a:lnTo>
                  <a:lnTo>
                    <a:pt x="9144000" y="0"/>
                  </a:lnTo>
                  <a:close/>
                </a:path>
              </a:pathLst>
            </a:custGeom>
            <a:solidFill>
              <a:srgbClr val="33CC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 name="Google Shape;707;p50"/>
            <p:cNvSpPr/>
            <p:nvPr/>
          </p:nvSpPr>
          <p:spPr>
            <a:xfrm>
              <a:off x="1523999" y="0"/>
              <a:ext cx="9144000" cy="1371600"/>
            </a:xfrm>
            <a:custGeom>
              <a:rect b="b" l="l" r="r" t="t"/>
              <a:pathLst>
                <a:path extrusionOk="0" h="1371600" w="9144000">
                  <a:moveTo>
                    <a:pt x="0" y="1371600"/>
                  </a:moveTo>
                  <a:lnTo>
                    <a:pt x="9144000" y="1371600"/>
                  </a:lnTo>
                  <a:lnTo>
                    <a:pt x="9144000" y="0"/>
                  </a:lnTo>
                  <a:lnTo>
                    <a:pt x="0" y="0"/>
                  </a:lnTo>
                  <a:lnTo>
                    <a:pt x="0" y="13716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08" name="Google Shape;708;p50"/>
          <p:cNvSpPr txBox="1"/>
          <p:nvPr>
            <p:ph type="title"/>
          </p:nvPr>
        </p:nvSpPr>
        <p:spPr>
          <a:xfrm>
            <a:off x="1748027" y="350520"/>
            <a:ext cx="2772410" cy="655320"/>
          </a:xfrm>
          <a:prstGeom prst="rect">
            <a:avLst/>
          </a:prstGeom>
          <a:solidFill>
            <a:srgbClr val="800080"/>
          </a:solidFill>
          <a:ln>
            <a:noFill/>
          </a:ln>
        </p:spPr>
        <p:txBody>
          <a:bodyPr anchorCtr="0" anchor="t" bIns="0" lIns="0" spcFirstLastPara="1" rIns="0" wrap="square" tIns="35550">
            <a:spAutoFit/>
          </a:bodyPr>
          <a:lstStyle/>
          <a:p>
            <a:pPr indent="0" lvl="0" marL="95885" rtl="0" algn="l">
              <a:lnSpc>
                <a:spcPct val="100000"/>
              </a:lnSpc>
              <a:spcBef>
                <a:spcPts val="0"/>
              </a:spcBef>
              <a:spcAft>
                <a:spcPts val="0"/>
              </a:spcAft>
              <a:buNone/>
            </a:pPr>
            <a:r>
              <a:rPr b="0" lang="en-US" sz="3600">
                <a:solidFill>
                  <a:srgbClr val="FFFFFF"/>
                </a:solidFill>
                <a:latin typeface="Times New Roman"/>
                <a:ea typeface="Times New Roman"/>
                <a:cs typeface="Times New Roman"/>
                <a:sym typeface="Times New Roman"/>
              </a:rPr>
              <a:t>IPV4 Address</a:t>
            </a:r>
            <a:endParaRPr sz="3600">
              <a:latin typeface="Times New Roman"/>
              <a:ea typeface="Times New Roman"/>
              <a:cs typeface="Times New Roman"/>
              <a:sym typeface="Times New Roman"/>
            </a:endParaRPr>
          </a:p>
        </p:txBody>
      </p:sp>
      <p:sp>
        <p:nvSpPr>
          <p:cNvPr id="709" name="Google Shape;709;p50"/>
          <p:cNvSpPr txBox="1"/>
          <p:nvPr/>
        </p:nvSpPr>
        <p:spPr>
          <a:xfrm>
            <a:off x="1983994" y="1569161"/>
            <a:ext cx="8376920" cy="4290277"/>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 identifier used in the IP layer of the TCP/IP  protocol suite to identify each device connected to the  Internet is called </a:t>
            </a:r>
            <a:r>
              <a:rPr b="1" i="0" lang="en-US" sz="2800" u="none" cap="none" strike="noStrike">
                <a:solidFill>
                  <a:srgbClr val="C00000"/>
                </a:solidFill>
                <a:latin typeface="Arial"/>
                <a:ea typeface="Arial"/>
                <a:cs typeface="Arial"/>
                <a:sym typeface="Arial"/>
              </a:rPr>
              <a:t>the Internet address or IP address.</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chemeClr val="dk1"/>
              </a:buClr>
              <a:buSzPts val="2900"/>
              <a:buFont typeface="Calibri"/>
              <a:buNone/>
            </a:pPr>
            <a:r>
              <a:t/>
            </a:r>
            <a:endParaRPr b="0" i="0" sz="2900" u="none" cap="none" strike="noStrike">
              <a:solidFill>
                <a:srgbClr val="000000"/>
              </a:solidFill>
              <a:latin typeface="Arial"/>
              <a:ea typeface="Arial"/>
              <a:cs typeface="Arial"/>
              <a:sym typeface="Arial"/>
            </a:endParaRPr>
          </a:p>
          <a:p>
            <a:pPr indent="0" lvl="0" marL="12700" marR="5715" rtl="0" algn="just">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 IPv4 address is a 32-bit address that uniquely and  universally defines the connection of a host or a router  to the Internet;</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40"/>
              </a:spcBef>
              <a:spcAft>
                <a:spcPts val="0"/>
              </a:spcAft>
              <a:buClr>
                <a:schemeClr val="dk1"/>
              </a:buClr>
              <a:buSzPts val="2500"/>
              <a:buFont typeface="Calibri"/>
              <a:buNone/>
            </a:pPr>
            <a:r>
              <a:t/>
            </a:r>
            <a:endParaRPr b="0" i="0" sz="2500" u="none" cap="none" strike="noStrike">
              <a:solidFill>
                <a:srgbClr val="000000"/>
              </a:solidFill>
              <a:latin typeface="Arial"/>
              <a:ea typeface="Arial"/>
              <a:cs typeface="Arial"/>
              <a:sym typeface="Arial"/>
            </a:endParaRPr>
          </a:p>
          <a:p>
            <a:pPr indent="0" lvl="0" marL="12700" marR="0" rtl="0" algn="just">
              <a:lnSpc>
                <a:spcPct val="100000"/>
              </a:lnSpc>
              <a:spcBef>
                <a:spcPts val="0"/>
              </a:spcBef>
              <a:spcAft>
                <a:spcPts val="0"/>
              </a:spcAft>
              <a:buClr>
                <a:srgbClr val="000000"/>
              </a:buClr>
              <a:buSzPts val="2800"/>
              <a:buFont typeface="Arial"/>
              <a:buNone/>
            </a:pPr>
            <a:r>
              <a:rPr lang="en-US" sz="2800">
                <a:solidFill>
                  <a:srgbClr val="000000"/>
                </a:solidFill>
                <a:latin typeface="Arial"/>
                <a:ea typeface="Arial"/>
                <a:cs typeface="Arial"/>
                <a:sym typeface="Arial"/>
              </a:rPr>
              <a:t>A</a:t>
            </a:r>
            <a:r>
              <a:rPr b="0" i="0" lang="en-US" sz="2800" u="none" cap="none" strike="noStrike">
                <a:solidFill>
                  <a:srgbClr val="000000"/>
                </a:solidFill>
                <a:latin typeface="Arial"/>
                <a:ea typeface="Arial"/>
                <a:cs typeface="Arial"/>
                <a:sym typeface="Arial"/>
              </a:rPr>
              <a:t>n IP address is the address of the interface.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3" name="Shape 713"/>
        <p:cNvGrpSpPr/>
        <p:nvPr/>
      </p:nvGrpSpPr>
      <p:grpSpPr>
        <a:xfrm>
          <a:off x="0" y="0"/>
          <a:ext cx="0" cy="0"/>
          <a:chOff x="0" y="0"/>
          <a:chExt cx="0" cy="0"/>
        </a:xfrm>
      </p:grpSpPr>
      <p:sp>
        <p:nvSpPr>
          <p:cNvPr id="714" name="Google Shape;714;p51"/>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715" name="Google Shape;715;p51"/>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16</a:t>
            </a:r>
            <a:endParaRPr b="0" i="0" sz="1200" u="none" cap="none" strike="noStrike">
              <a:solidFill>
                <a:srgbClr val="000000"/>
              </a:solidFill>
              <a:latin typeface="Arial"/>
              <a:ea typeface="Arial"/>
              <a:cs typeface="Arial"/>
              <a:sym typeface="Arial"/>
            </a:endParaRPr>
          </a:p>
        </p:txBody>
      </p:sp>
      <p:grpSp>
        <p:nvGrpSpPr>
          <p:cNvPr id="716" name="Google Shape;716;p51"/>
          <p:cNvGrpSpPr/>
          <p:nvPr/>
        </p:nvGrpSpPr>
        <p:grpSpPr>
          <a:xfrm>
            <a:off x="1600200" y="0"/>
            <a:ext cx="8593836" cy="1219200"/>
            <a:chOff x="1600200" y="0"/>
            <a:chExt cx="8593836" cy="1219200"/>
          </a:xfrm>
        </p:grpSpPr>
        <p:sp>
          <p:nvSpPr>
            <p:cNvPr id="717" name="Google Shape;717;p51"/>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 name="Google Shape;718;p51"/>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 name="Google Shape;719;p51"/>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 name="Google Shape;720;p51"/>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1" name="Google Shape;721;p51"/>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 name="Google Shape;722;p51"/>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 name="Google Shape;723;p51"/>
            <p:cNvSpPr/>
            <p:nvPr/>
          </p:nvSpPr>
          <p:spPr>
            <a:xfrm>
              <a:off x="1967484" y="533400"/>
              <a:ext cx="8226552" cy="6858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24" name="Google Shape;724;p51"/>
          <p:cNvSpPr txBox="1"/>
          <p:nvPr/>
        </p:nvSpPr>
        <p:spPr>
          <a:xfrm>
            <a:off x="4860163" y="661161"/>
            <a:ext cx="243903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IPV4 Address Space</a:t>
            </a:r>
            <a:endParaRPr b="0" i="0" sz="2400" u="none" cap="none" strike="noStrike">
              <a:solidFill>
                <a:srgbClr val="000000"/>
              </a:solidFill>
              <a:latin typeface="Arial"/>
              <a:ea typeface="Arial"/>
              <a:cs typeface="Arial"/>
              <a:sym typeface="Arial"/>
            </a:endParaRPr>
          </a:p>
        </p:txBody>
      </p:sp>
      <p:sp>
        <p:nvSpPr>
          <p:cNvPr id="725" name="Google Shape;725;p51"/>
          <p:cNvSpPr/>
          <p:nvPr/>
        </p:nvSpPr>
        <p:spPr>
          <a:xfrm>
            <a:off x="2133600" y="2057400"/>
            <a:ext cx="8153400" cy="0"/>
          </a:xfrm>
          <a:custGeom>
            <a:rect b="b" l="l" r="r" t="t"/>
            <a:pathLst>
              <a:path extrusionOk="0" h="120000" w="8153400">
                <a:moveTo>
                  <a:pt x="0" y="0"/>
                </a:moveTo>
                <a:lnTo>
                  <a:pt x="8153400" y="0"/>
                </a:lnTo>
              </a:path>
            </a:pathLst>
          </a:custGeom>
          <a:noFill/>
          <a:ln cap="flat" cmpd="sng" w="76200">
            <a:solidFill>
              <a:srgbClr val="800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6" name="Google Shape;726;p51"/>
          <p:cNvSpPr/>
          <p:nvPr/>
        </p:nvSpPr>
        <p:spPr>
          <a:xfrm>
            <a:off x="2133600" y="2819400"/>
            <a:ext cx="8153400" cy="0"/>
          </a:xfrm>
          <a:custGeom>
            <a:rect b="b" l="l" r="r" t="t"/>
            <a:pathLst>
              <a:path extrusionOk="0" h="120000" w="8153400">
                <a:moveTo>
                  <a:pt x="0" y="0"/>
                </a:moveTo>
                <a:lnTo>
                  <a:pt x="8153400" y="0"/>
                </a:lnTo>
              </a:path>
            </a:pathLst>
          </a:custGeom>
          <a:noFill/>
          <a:ln cap="flat" cmpd="sng" w="76200">
            <a:solidFill>
              <a:srgbClr val="800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 name="Google Shape;727;p51"/>
          <p:cNvSpPr txBox="1"/>
          <p:nvPr>
            <p:ph type="title"/>
          </p:nvPr>
        </p:nvSpPr>
        <p:spPr>
          <a:xfrm>
            <a:off x="2171700" y="2148839"/>
            <a:ext cx="8077200" cy="581025"/>
          </a:xfrm>
          <a:prstGeom prst="rect">
            <a:avLst/>
          </a:prstGeom>
          <a:solidFill>
            <a:srgbClr val="3333CC"/>
          </a:solidFill>
          <a:ln>
            <a:noFill/>
          </a:ln>
        </p:spPr>
        <p:txBody>
          <a:bodyPr anchorCtr="0" anchor="t" bIns="0" lIns="0" spcFirstLastPara="1" rIns="0" wrap="square" tIns="34925">
            <a:spAutoFit/>
          </a:bodyPr>
          <a:lstStyle/>
          <a:p>
            <a:pPr indent="0" lvl="0" marL="8890" rtl="0" algn="ctr">
              <a:lnSpc>
                <a:spcPct val="100000"/>
              </a:lnSpc>
              <a:spcBef>
                <a:spcPts val="0"/>
              </a:spcBef>
              <a:spcAft>
                <a:spcPts val="0"/>
              </a:spcAft>
              <a:buNone/>
            </a:pPr>
            <a:r>
              <a:rPr b="0" i="1" lang="en-US" sz="3200">
                <a:solidFill>
                  <a:srgbClr val="FFFFFF"/>
                </a:solidFill>
                <a:latin typeface="Arial"/>
                <a:ea typeface="Arial"/>
                <a:cs typeface="Arial"/>
                <a:sym typeface="Arial"/>
              </a:rPr>
              <a:t>An IPv4 address is 32 bits long.</a:t>
            </a:r>
            <a:endParaRPr sz="3200">
              <a:latin typeface="Arial"/>
              <a:ea typeface="Arial"/>
              <a:cs typeface="Arial"/>
              <a:sym typeface="Arial"/>
            </a:endParaRPr>
          </a:p>
        </p:txBody>
      </p:sp>
      <p:sp>
        <p:nvSpPr>
          <p:cNvPr id="728" name="Google Shape;728;p51"/>
          <p:cNvSpPr/>
          <p:nvPr/>
        </p:nvSpPr>
        <p:spPr>
          <a:xfrm>
            <a:off x="2209800" y="4419600"/>
            <a:ext cx="8153400" cy="0"/>
          </a:xfrm>
          <a:custGeom>
            <a:rect b="b" l="l" r="r" t="t"/>
            <a:pathLst>
              <a:path extrusionOk="0" h="120000" w="8153400">
                <a:moveTo>
                  <a:pt x="0" y="0"/>
                </a:moveTo>
                <a:lnTo>
                  <a:pt x="8153400" y="0"/>
                </a:lnTo>
              </a:path>
            </a:pathLst>
          </a:custGeom>
          <a:noFill/>
          <a:ln cap="flat" cmpd="sng" w="76200">
            <a:solidFill>
              <a:srgbClr val="800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 name="Google Shape;729;p51"/>
          <p:cNvSpPr/>
          <p:nvPr/>
        </p:nvSpPr>
        <p:spPr>
          <a:xfrm>
            <a:off x="2209800" y="5638800"/>
            <a:ext cx="8153400" cy="0"/>
          </a:xfrm>
          <a:custGeom>
            <a:rect b="b" l="l" r="r" t="t"/>
            <a:pathLst>
              <a:path extrusionOk="0" h="120000" w="8153400">
                <a:moveTo>
                  <a:pt x="0" y="0"/>
                </a:moveTo>
                <a:lnTo>
                  <a:pt x="8153400" y="0"/>
                </a:lnTo>
              </a:path>
            </a:pathLst>
          </a:custGeom>
          <a:noFill/>
          <a:ln cap="flat" cmpd="sng" w="76200">
            <a:solidFill>
              <a:srgbClr val="80008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 name="Google Shape;730;p51"/>
          <p:cNvSpPr txBox="1"/>
          <p:nvPr/>
        </p:nvSpPr>
        <p:spPr>
          <a:xfrm>
            <a:off x="2247900" y="4511040"/>
            <a:ext cx="8077200" cy="1066800"/>
          </a:xfrm>
          <a:prstGeom prst="rect">
            <a:avLst/>
          </a:prstGeom>
          <a:solidFill>
            <a:srgbClr val="3333CC"/>
          </a:solidFill>
          <a:ln>
            <a:noFill/>
          </a:ln>
        </p:spPr>
        <p:txBody>
          <a:bodyPr anchorCtr="0" anchor="t" bIns="0" lIns="0" spcFirstLastPara="1" rIns="0" wrap="square" tIns="35550">
            <a:spAutoFit/>
          </a:bodyPr>
          <a:lstStyle/>
          <a:p>
            <a:pPr indent="-1555115" lvl="0" marL="2774950" marR="1201420" rtl="0" algn="l">
              <a:lnSpc>
                <a:spcPct val="100000"/>
              </a:lnSpc>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The IPv4 addresses are unique  and universal.</a:t>
            </a:r>
            <a:endParaRPr b="0" i="0" sz="3200" u="none" cap="none" strike="noStrike">
              <a:solidFill>
                <a:srgbClr val="000000"/>
              </a:solidFill>
              <a:latin typeface="Arial"/>
              <a:ea typeface="Arial"/>
              <a:cs typeface="Arial"/>
              <a:sym typeface="Arial"/>
            </a:endParaRPr>
          </a:p>
        </p:txBody>
      </p:sp>
      <p:sp>
        <p:nvSpPr>
          <p:cNvPr id="731" name="Google Shape;731;p51"/>
          <p:cNvSpPr txBox="1"/>
          <p:nvPr/>
        </p:nvSpPr>
        <p:spPr>
          <a:xfrm>
            <a:off x="2133600" y="3200400"/>
            <a:ext cx="8077200" cy="1066800"/>
          </a:xfrm>
          <a:prstGeom prst="rect">
            <a:avLst/>
          </a:prstGeom>
          <a:solidFill>
            <a:srgbClr val="3333CC"/>
          </a:solidFill>
          <a:ln>
            <a:noFill/>
          </a:ln>
        </p:spPr>
        <p:txBody>
          <a:bodyPr anchorCtr="0" anchor="t" bIns="0" lIns="0" spcFirstLastPara="1" rIns="0" wrap="square" tIns="34275">
            <a:spAutoFit/>
          </a:bodyPr>
          <a:lstStyle/>
          <a:p>
            <a:pPr indent="-708025" lvl="0" marL="2128520" marR="1414780" rtl="0" algn="l">
              <a:lnSpc>
                <a:spcPct val="100000"/>
              </a:lnSpc>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The address space of IPv4 is  2</a:t>
            </a:r>
            <a:r>
              <a:rPr b="0" baseline="30000" i="1" lang="en-US" sz="3150" u="none" cap="none" strike="noStrike">
                <a:solidFill>
                  <a:srgbClr val="FFFFFF"/>
                </a:solidFill>
                <a:latin typeface="Arial"/>
                <a:ea typeface="Arial"/>
                <a:cs typeface="Arial"/>
                <a:sym typeface="Arial"/>
              </a:rPr>
              <a:t>32 </a:t>
            </a:r>
            <a:r>
              <a:rPr b="0" i="1" lang="en-US" sz="3200" u="none" cap="none" strike="noStrike">
                <a:solidFill>
                  <a:srgbClr val="FFFFFF"/>
                </a:solidFill>
                <a:latin typeface="Arial"/>
                <a:ea typeface="Arial"/>
                <a:cs typeface="Arial"/>
                <a:sym typeface="Arial"/>
              </a:rPr>
              <a:t>or 4,294,967,296.</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5" name="Shape 735"/>
        <p:cNvGrpSpPr/>
        <p:nvPr/>
      </p:nvGrpSpPr>
      <p:grpSpPr>
        <a:xfrm>
          <a:off x="0" y="0"/>
          <a:ext cx="0" cy="0"/>
          <a:chOff x="0" y="0"/>
          <a:chExt cx="0" cy="0"/>
        </a:xfrm>
      </p:grpSpPr>
      <p:sp>
        <p:nvSpPr>
          <p:cNvPr id="736" name="Google Shape;736;p52"/>
          <p:cNvSpPr txBox="1"/>
          <p:nvPr>
            <p:ph type="title"/>
          </p:nvPr>
        </p:nvSpPr>
        <p:spPr>
          <a:xfrm>
            <a:off x="3830572" y="461899"/>
            <a:ext cx="6456427" cy="690574"/>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IP Address</a:t>
            </a:r>
            <a:r>
              <a:rPr b="0" lang="en-US"/>
              <a:t> </a:t>
            </a:r>
            <a:r>
              <a:rPr b="0" lang="en-US">
                <a:latin typeface="Arial"/>
                <a:ea typeface="Arial"/>
                <a:cs typeface="Arial"/>
                <a:sym typeface="Arial"/>
              </a:rPr>
              <a:t>Notation</a:t>
            </a:r>
            <a:endParaRPr b="0">
              <a:latin typeface="Arial"/>
              <a:ea typeface="Arial"/>
              <a:cs typeface="Arial"/>
              <a:sym typeface="Arial"/>
            </a:endParaRPr>
          </a:p>
        </p:txBody>
      </p:sp>
      <p:sp>
        <p:nvSpPr>
          <p:cNvPr id="737" name="Google Shape;737;p52"/>
          <p:cNvSpPr txBox="1"/>
          <p:nvPr/>
        </p:nvSpPr>
        <p:spPr>
          <a:xfrm>
            <a:off x="688340" y="1523961"/>
            <a:ext cx="9070975" cy="3099435"/>
          </a:xfrm>
          <a:prstGeom prst="rect">
            <a:avLst/>
          </a:prstGeom>
          <a:noFill/>
          <a:ln>
            <a:noFill/>
          </a:ln>
        </p:spPr>
        <p:txBody>
          <a:bodyPr anchorCtr="0" anchor="t" bIns="0" lIns="0" spcFirstLastPara="1" rIns="0" wrap="square" tIns="98425">
            <a:spAutoFit/>
          </a:bodyPr>
          <a:lstStyle/>
          <a:p>
            <a:pPr indent="-342900" lvl="0" marL="3556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There are three common notations to show an IPv4 address:</a:t>
            </a:r>
            <a:endParaRPr b="0" i="0" sz="2800" u="none" cap="none" strike="noStrike">
              <a:solidFill>
                <a:srgbClr val="000000"/>
              </a:solidFill>
              <a:latin typeface="Arial"/>
              <a:ea typeface="Arial"/>
              <a:cs typeface="Arial"/>
              <a:sym typeface="Arial"/>
            </a:endParaRPr>
          </a:p>
          <a:p>
            <a:pPr indent="-515619" lvl="0" marL="527685" marR="0" rtl="0" algn="l">
              <a:lnSpc>
                <a:spcPct val="100000"/>
              </a:lnSpc>
              <a:spcBef>
                <a:spcPts val="675"/>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binary notation (base 2)</a:t>
            </a:r>
            <a:endParaRPr b="0" i="0" sz="2800" u="none" cap="none" strike="noStrike">
              <a:solidFill>
                <a:srgbClr val="000000"/>
              </a:solidFill>
              <a:latin typeface="Arial"/>
              <a:ea typeface="Arial"/>
              <a:cs typeface="Arial"/>
              <a:sym typeface="Arial"/>
            </a:endParaRPr>
          </a:p>
          <a:p>
            <a:pPr indent="-515619" lvl="0" marL="527685" marR="0" rtl="0" algn="l">
              <a:lnSpc>
                <a:spcPct val="100000"/>
              </a:lnSpc>
              <a:spcBef>
                <a:spcPts val="675"/>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dotted-decimal notation (base 256)</a:t>
            </a:r>
            <a:endParaRPr b="0" i="0" sz="2800" u="none" cap="none" strike="noStrike">
              <a:solidFill>
                <a:srgbClr val="000000"/>
              </a:solidFill>
              <a:latin typeface="Arial"/>
              <a:ea typeface="Arial"/>
              <a:cs typeface="Arial"/>
              <a:sym typeface="Arial"/>
            </a:endParaRPr>
          </a:p>
          <a:p>
            <a:pPr indent="-515619" lvl="0" marL="527685" marR="0" rtl="0" algn="l">
              <a:lnSpc>
                <a:spcPct val="100000"/>
              </a:lnSpc>
              <a:spcBef>
                <a:spcPts val="670"/>
              </a:spcBef>
              <a:spcAft>
                <a:spcPts val="0"/>
              </a:spcAft>
              <a:buClr>
                <a:srgbClr val="000000"/>
              </a:buClr>
              <a:buSzPts val="2800"/>
              <a:buFont typeface="Arial"/>
              <a:buAutoNum type="arabicPeriod"/>
            </a:pPr>
            <a:r>
              <a:rPr b="0" i="0" lang="en-US" sz="2800" u="none" cap="none" strike="noStrike">
                <a:solidFill>
                  <a:srgbClr val="000000"/>
                </a:solidFill>
                <a:latin typeface="Arial"/>
                <a:ea typeface="Arial"/>
                <a:cs typeface="Arial"/>
                <a:sym typeface="Arial"/>
              </a:rPr>
              <a:t>hexadecimal notation (base 16).</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850"/>
              <a:buFont typeface="Calibri"/>
              <a:buNone/>
            </a:pPr>
            <a:r>
              <a:t/>
            </a:r>
            <a:endParaRPr b="0" i="0" sz="38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 most prevalent, however, is base 256.</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1" name="Shape 741"/>
        <p:cNvGrpSpPr/>
        <p:nvPr/>
      </p:nvGrpSpPr>
      <p:grpSpPr>
        <a:xfrm>
          <a:off x="0" y="0"/>
          <a:ext cx="0" cy="0"/>
          <a:chOff x="0" y="0"/>
          <a:chExt cx="0" cy="0"/>
        </a:xfrm>
      </p:grpSpPr>
      <p:sp>
        <p:nvSpPr>
          <p:cNvPr id="742" name="Google Shape;742;p53"/>
          <p:cNvSpPr txBox="1"/>
          <p:nvPr>
            <p:ph type="title"/>
          </p:nvPr>
        </p:nvSpPr>
        <p:spPr>
          <a:xfrm>
            <a:off x="1894713" y="461899"/>
            <a:ext cx="9610852"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IP Address Notation: </a:t>
            </a:r>
            <a:r>
              <a:rPr lang="en-US"/>
              <a:t>binary notation</a:t>
            </a:r>
            <a:endParaRPr/>
          </a:p>
        </p:txBody>
      </p:sp>
      <p:sp>
        <p:nvSpPr>
          <p:cNvPr id="743" name="Google Shape;743;p53"/>
          <p:cNvSpPr txBox="1"/>
          <p:nvPr/>
        </p:nvSpPr>
        <p:spPr>
          <a:xfrm>
            <a:off x="688340" y="1613661"/>
            <a:ext cx="10817225" cy="3521477"/>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In </a:t>
            </a:r>
            <a:r>
              <a:rPr b="1" i="0" lang="en-US" sz="2400" u="none" cap="none" strike="noStrike">
                <a:solidFill>
                  <a:srgbClr val="C00000"/>
                </a:solidFill>
                <a:latin typeface="Arial"/>
                <a:ea typeface="Arial"/>
                <a:cs typeface="Arial"/>
                <a:sym typeface="Arial"/>
              </a:rPr>
              <a:t>binary notation</a:t>
            </a:r>
            <a:r>
              <a:rPr b="1" i="0" lang="en-US" sz="2400" u="none" cap="none" strike="noStrike">
                <a:solidFill>
                  <a:srgbClr val="000000"/>
                </a:solidFill>
                <a:latin typeface="Arial"/>
                <a:ea typeface="Arial"/>
                <a:cs typeface="Arial"/>
                <a:sym typeface="Arial"/>
              </a:rPr>
              <a:t>, an IPv4 address is displayed as 32 bits.</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Calibri"/>
              <a:buNone/>
            </a:pPr>
            <a:r>
              <a:t/>
            </a:r>
            <a:endParaRPr b="0" i="0" sz="3300" u="none" cap="none" strike="noStrike">
              <a:solidFill>
                <a:srgbClr val="000000"/>
              </a:solidFill>
              <a:latin typeface="Arial"/>
              <a:ea typeface="Arial"/>
              <a:cs typeface="Arial"/>
              <a:sym typeface="Arial"/>
            </a:endParaRPr>
          </a:p>
          <a:p>
            <a:pPr indent="-342900" lvl="0" marL="355600" marR="5080" rtl="0" algn="l">
              <a:lnSpc>
                <a:spcPct val="100000"/>
              </a:lnSpc>
              <a:spcBef>
                <a:spcPts val="0"/>
              </a:spcBef>
              <a:spcAft>
                <a:spcPts val="0"/>
              </a:spcAft>
              <a:buClr>
                <a:srgbClr val="000000"/>
              </a:buClr>
              <a:buSzPts val="2400"/>
              <a:buFont typeface="Arial"/>
              <a:buChar char="•"/>
            </a:pPr>
            <a:r>
              <a:rPr i="0" lang="en-US" sz="2400" u="none" cap="none" strike="noStrike">
                <a:solidFill>
                  <a:srgbClr val="000000"/>
                </a:solidFill>
                <a:latin typeface="Arial"/>
                <a:ea typeface="Arial"/>
                <a:cs typeface="Arial"/>
                <a:sym typeface="Arial"/>
              </a:rPr>
              <a:t>To	make	the	address	more	readable,	one	or	more	spaces	is	usually	inserted  between each octet (8 bits).</a:t>
            </a:r>
            <a:endParaRPr i="0" sz="24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Calibri"/>
              <a:buNone/>
            </a:pPr>
            <a:r>
              <a:t/>
            </a:r>
            <a:endParaRPr i="0" sz="3300" u="none" cap="none" strike="noStrike">
              <a:solidFill>
                <a:srgbClr val="000000"/>
              </a:solidFill>
              <a:latin typeface="Arial"/>
              <a:ea typeface="Arial"/>
              <a:cs typeface="Arial"/>
              <a:sym typeface="Arial"/>
            </a:endParaRPr>
          </a:p>
          <a:p>
            <a:pPr indent="-411480" lvl="0" marL="42418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Each octet is often referred to as a byte.</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35"/>
              </a:spcBef>
              <a:spcAft>
                <a:spcPts val="0"/>
              </a:spcAft>
              <a:buClr>
                <a:schemeClr val="dk1"/>
              </a:buClr>
              <a:buSzPts val="3800"/>
              <a:buFont typeface="Calibri"/>
              <a:buNone/>
            </a:pPr>
            <a:r>
              <a:t/>
            </a:r>
            <a:endParaRPr b="0" i="0" sz="3800" u="none" cap="none" strike="noStrike">
              <a:solidFill>
                <a:srgbClr val="000000"/>
              </a:solidFill>
              <a:latin typeface="Arial"/>
              <a:ea typeface="Arial"/>
              <a:cs typeface="Arial"/>
              <a:sym typeface="Arial"/>
            </a:endParaRPr>
          </a:p>
          <a:p>
            <a:pPr indent="-342900" lvl="0" marL="355600" marR="0" rtl="0" algn="l">
              <a:lnSpc>
                <a:spcPct val="100000"/>
              </a:lnSpc>
              <a:spcBef>
                <a:spcPts val="5"/>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01110101 10010101 00011101 11101010</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7" name="Shape 747"/>
        <p:cNvGrpSpPr/>
        <p:nvPr/>
      </p:nvGrpSpPr>
      <p:grpSpPr>
        <a:xfrm>
          <a:off x="0" y="0"/>
          <a:ext cx="0" cy="0"/>
          <a:chOff x="0" y="0"/>
          <a:chExt cx="0" cy="0"/>
        </a:xfrm>
      </p:grpSpPr>
      <p:sp>
        <p:nvSpPr>
          <p:cNvPr id="748" name="Google Shape;748;p54"/>
          <p:cNvSpPr txBox="1"/>
          <p:nvPr>
            <p:ph type="title"/>
          </p:nvPr>
        </p:nvSpPr>
        <p:spPr>
          <a:xfrm>
            <a:off x="2358008" y="192150"/>
            <a:ext cx="8919592"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4000">
                <a:latin typeface="Arial"/>
                <a:ea typeface="Arial"/>
                <a:cs typeface="Arial"/>
                <a:sym typeface="Arial"/>
              </a:rPr>
              <a:t>Dotted-Decimal Notation: Base 256</a:t>
            </a:r>
            <a:endParaRPr sz="4000">
              <a:latin typeface="Arial"/>
              <a:ea typeface="Arial"/>
              <a:cs typeface="Arial"/>
              <a:sym typeface="Arial"/>
            </a:endParaRPr>
          </a:p>
        </p:txBody>
      </p:sp>
      <p:sp>
        <p:nvSpPr>
          <p:cNvPr id="749" name="Google Shape;749;p54"/>
          <p:cNvSpPr txBox="1"/>
          <p:nvPr>
            <p:ph idx="1" type="body"/>
          </p:nvPr>
        </p:nvSpPr>
        <p:spPr>
          <a:xfrm>
            <a:off x="2060194" y="1156461"/>
            <a:ext cx="8071611" cy="2000885"/>
          </a:xfrm>
          <a:prstGeom prst="rect">
            <a:avLst/>
          </a:prstGeom>
          <a:noFill/>
          <a:ln>
            <a:noFill/>
          </a:ln>
        </p:spPr>
        <p:txBody>
          <a:bodyPr anchorCtr="0" anchor="t" bIns="0" lIns="0" spcFirstLastPara="1" rIns="0" wrap="square" tIns="12700">
            <a:spAutoFit/>
          </a:bodyPr>
          <a:lstStyle/>
          <a:p>
            <a:pPr indent="-342900" lvl="0" marL="355600" marR="5080" rtl="0" algn="just">
              <a:lnSpc>
                <a:spcPct val="100000"/>
              </a:lnSpc>
              <a:spcBef>
                <a:spcPts val="0"/>
              </a:spcBef>
              <a:spcAft>
                <a:spcPts val="0"/>
              </a:spcAft>
              <a:buClr>
                <a:schemeClr val="dk1"/>
              </a:buClr>
              <a:buSzPts val="2400"/>
              <a:buFont typeface="Arial"/>
              <a:buChar char="•"/>
            </a:pPr>
            <a:r>
              <a:rPr lang="en-US"/>
              <a:t>To make the IPv4 address more compact and easier to read,  an IPv4 address is usually written in decimal form with a  decimal point (dot) separating the bytes.</a:t>
            </a:r>
            <a:endParaRPr/>
          </a:p>
          <a:p>
            <a:pPr indent="0" lvl="0" marL="0" rtl="0" algn="l">
              <a:lnSpc>
                <a:spcPct val="100000"/>
              </a:lnSpc>
              <a:spcBef>
                <a:spcPts val="5"/>
              </a:spcBef>
              <a:spcAft>
                <a:spcPts val="0"/>
              </a:spcAft>
              <a:buClr>
                <a:schemeClr val="dk1"/>
              </a:buClr>
              <a:buSzPts val="3300"/>
              <a:buFont typeface="Arial"/>
              <a:buNone/>
            </a:pPr>
            <a:r>
              <a:t/>
            </a:r>
            <a:endParaRPr sz="3300"/>
          </a:p>
          <a:p>
            <a:pPr indent="-342900" lvl="0" marL="355600" rtl="0" algn="l">
              <a:lnSpc>
                <a:spcPct val="100000"/>
              </a:lnSpc>
              <a:spcBef>
                <a:spcPts val="0"/>
              </a:spcBef>
              <a:spcAft>
                <a:spcPts val="0"/>
              </a:spcAft>
              <a:buClr>
                <a:schemeClr val="dk1"/>
              </a:buClr>
              <a:buSzPts val="2400"/>
              <a:buFont typeface="Arial"/>
              <a:buChar char="•"/>
            </a:pPr>
            <a:r>
              <a:rPr lang="en-US"/>
              <a:t>This format is referred to as </a:t>
            </a:r>
            <a:r>
              <a:rPr b="1" lang="en-US">
                <a:latin typeface="Arial"/>
                <a:ea typeface="Arial"/>
                <a:cs typeface="Arial"/>
                <a:sym typeface="Arial"/>
              </a:rPr>
              <a:t>dotted-decimal notation.</a:t>
            </a:r>
            <a:endParaRPr/>
          </a:p>
        </p:txBody>
      </p:sp>
      <p:sp>
        <p:nvSpPr>
          <p:cNvPr id="750" name="Google Shape;750;p54"/>
          <p:cNvSpPr/>
          <p:nvPr/>
        </p:nvSpPr>
        <p:spPr>
          <a:xfrm>
            <a:off x="3339819" y="3788568"/>
            <a:ext cx="6502239" cy="133588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4" name="Shape 754"/>
        <p:cNvGrpSpPr/>
        <p:nvPr/>
      </p:nvGrpSpPr>
      <p:grpSpPr>
        <a:xfrm>
          <a:off x="0" y="0"/>
          <a:ext cx="0" cy="0"/>
          <a:chOff x="0" y="0"/>
          <a:chExt cx="0" cy="0"/>
        </a:xfrm>
      </p:grpSpPr>
      <p:sp>
        <p:nvSpPr>
          <p:cNvPr id="755" name="Google Shape;755;p55"/>
          <p:cNvSpPr txBox="1"/>
          <p:nvPr>
            <p:ph type="title"/>
          </p:nvPr>
        </p:nvSpPr>
        <p:spPr>
          <a:xfrm>
            <a:off x="3540632" y="461899"/>
            <a:ext cx="6746367" cy="690574"/>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Hexadecimal notation</a:t>
            </a:r>
            <a:endParaRPr/>
          </a:p>
        </p:txBody>
      </p:sp>
      <p:sp>
        <p:nvSpPr>
          <p:cNvPr id="756" name="Google Shape;756;p55"/>
          <p:cNvSpPr txBox="1"/>
          <p:nvPr/>
        </p:nvSpPr>
        <p:spPr>
          <a:xfrm>
            <a:off x="688340" y="1540129"/>
            <a:ext cx="10817860" cy="3538220"/>
          </a:xfrm>
          <a:prstGeom prst="rect">
            <a:avLst/>
          </a:prstGeom>
          <a:noFill/>
          <a:ln>
            <a:noFill/>
          </a:ln>
        </p:spPr>
        <p:txBody>
          <a:bodyPr anchorCtr="0" anchor="t" bIns="0" lIns="0" spcFirstLastPara="1" rIns="0" wrap="square" tIns="85725">
            <a:spAutoFit/>
          </a:bodyPr>
          <a:lstStyle/>
          <a:p>
            <a:pPr indent="-342900" lvl="0" marL="3556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We sometimes see an IPv4 address in </a:t>
            </a:r>
            <a:r>
              <a:rPr b="1" i="0" lang="en-US" sz="2400" u="none" cap="none" strike="noStrike">
                <a:solidFill>
                  <a:srgbClr val="000000"/>
                </a:solidFill>
                <a:latin typeface="Arial"/>
                <a:ea typeface="Arial"/>
                <a:cs typeface="Arial"/>
                <a:sym typeface="Arial"/>
              </a:rPr>
              <a:t>hexadecimal notation.</a:t>
            </a:r>
            <a:endParaRPr b="0" i="0" sz="2400" u="none" cap="none" strike="noStrike">
              <a:solidFill>
                <a:srgbClr val="000000"/>
              </a:solidFill>
              <a:latin typeface="Arial"/>
              <a:ea typeface="Arial"/>
              <a:cs typeface="Arial"/>
              <a:sym typeface="Arial"/>
            </a:endParaRPr>
          </a:p>
          <a:p>
            <a:pPr indent="-342900" lvl="0" marL="355600" marR="0" rtl="0" algn="l">
              <a:lnSpc>
                <a:spcPct val="100000"/>
              </a:lnSpc>
              <a:spcBef>
                <a:spcPts val="58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Each hexadecimal digit </a:t>
            </a:r>
            <a:r>
              <a:rPr b="0" i="0" lang="en-US" sz="2400" u="none" cap="none" strike="noStrike">
                <a:solidFill>
                  <a:srgbClr val="000000"/>
                </a:solidFill>
                <a:latin typeface="Arial"/>
                <a:ea typeface="Arial"/>
                <a:cs typeface="Arial"/>
                <a:sym typeface="Arial"/>
              </a:rPr>
              <a:t>is equivalent to four bits.</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Arial"/>
              <a:buNone/>
            </a:pPr>
            <a:r>
              <a:t/>
            </a:r>
            <a:endParaRPr b="0" i="0" sz="3300" u="none" cap="none" strike="noStrike">
              <a:solidFill>
                <a:srgbClr val="000000"/>
              </a:solidFill>
              <a:latin typeface="Arial"/>
              <a:ea typeface="Arial"/>
              <a:cs typeface="Arial"/>
              <a:sym typeface="Arial"/>
            </a:endParaRPr>
          </a:p>
          <a:p>
            <a:pPr indent="-411480" lvl="0" marL="42418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This means that a 32-bit address has 8 hexadecimal digits.</a:t>
            </a:r>
            <a:endParaRPr b="0" i="0" sz="2400" u="none" cap="none" strike="noStrike">
              <a:solidFill>
                <a:srgbClr val="000000"/>
              </a:solidFill>
              <a:latin typeface="Arial"/>
              <a:ea typeface="Arial"/>
              <a:cs typeface="Arial"/>
              <a:sym typeface="Arial"/>
            </a:endParaRPr>
          </a:p>
          <a:p>
            <a:pPr indent="-342900" lvl="0" marL="355600" marR="0" rtl="0" algn="l">
              <a:lnSpc>
                <a:spcPct val="100000"/>
              </a:lnSpc>
              <a:spcBef>
                <a:spcPts val="575"/>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This notation is often used in network programming.</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5"/>
              </a:spcBef>
              <a:spcAft>
                <a:spcPts val="0"/>
              </a:spcAft>
              <a:buClr>
                <a:schemeClr val="dk1"/>
              </a:buClr>
              <a:buSzPts val="3300"/>
              <a:buFont typeface="Arial"/>
              <a:buNone/>
            </a:pPr>
            <a:r>
              <a:t/>
            </a:r>
            <a:endParaRPr b="0" i="0" sz="3300" u="none" cap="none" strike="noStrike">
              <a:solidFill>
                <a:srgbClr val="000000"/>
              </a:solidFill>
              <a:latin typeface="Arial"/>
              <a:ea typeface="Arial"/>
              <a:cs typeface="Arial"/>
              <a:sym typeface="Arial"/>
            </a:endParaRPr>
          </a:p>
          <a:p>
            <a:pPr indent="-342900" lvl="0" marL="35560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Arial"/>
                <a:ea typeface="Arial"/>
                <a:cs typeface="Arial"/>
                <a:sym typeface="Arial"/>
              </a:rPr>
              <a:t>1000 0001 0000 1011 0000 1011 1110 1111</a:t>
            </a:r>
            <a:endParaRPr b="0" i="0" sz="2400" u="none" cap="none" strike="noStrike">
              <a:solidFill>
                <a:srgbClr val="000000"/>
              </a:solidFill>
              <a:latin typeface="Arial"/>
              <a:ea typeface="Arial"/>
              <a:cs typeface="Arial"/>
              <a:sym typeface="Arial"/>
            </a:endParaRPr>
          </a:p>
          <a:p>
            <a:pPr indent="-342900" lvl="0" marL="355600" marR="0" rtl="0" algn="l">
              <a:lnSpc>
                <a:spcPct val="100000"/>
              </a:lnSpc>
              <a:spcBef>
                <a:spcPts val="58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0X810B0BEF or 810B0BEF16</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0" name="Shape 760"/>
        <p:cNvGrpSpPr/>
        <p:nvPr/>
      </p:nvGrpSpPr>
      <p:grpSpPr>
        <a:xfrm>
          <a:off x="0" y="0"/>
          <a:ext cx="0" cy="0"/>
          <a:chOff x="0" y="0"/>
          <a:chExt cx="0" cy="0"/>
        </a:xfrm>
      </p:grpSpPr>
      <p:sp>
        <p:nvSpPr>
          <p:cNvPr id="761" name="Google Shape;761;p56"/>
          <p:cNvSpPr txBox="1"/>
          <p:nvPr>
            <p:ph type="title"/>
          </p:nvPr>
        </p:nvSpPr>
        <p:spPr>
          <a:xfrm>
            <a:off x="3815334" y="461899"/>
            <a:ext cx="6319266" cy="690574"/>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Classful addressing.</a:t>
            </a:r>
            <a:endParaRPr/>
          </a:p>
        </p:txBody>
      </p:sp>
      <p:sp>
        <p:nvSpPr>
          <p:cNvPr id="762" name="Google Shape;762;p56"/>
          <p:cNvSpPr txBox="1"/>
          <p:nvPr/>
        </p:nvSpPr>
        <p:spPr>
          <a:xfrm>
            <a:off x="688340" y="1610309"/>
            <a:ext cx="10811510" cy="1903095"/>
          </a:xfrm>
          <a:prstGeom prst="rect">
            <a:avLst/>
          </a:prstGeom>
          <a:noFill/>
          <a:ln>
            <a:noFill/>
          </a:ln>
        </p:spPr>
        <p:txBody>
          <a:bodyPr anchorCtr="0" anchor="t" bIns="0" lIns="0" spcFirstLastPara="1" rIns="0" wrap="square" tIns="12050">
            <a:spAutoFit/>
          </a:bodyPr>
          <a:lstStyle/>
          <a:p>
            <a:pPr indent="-342900" lvl="0" marL="355600" marR="508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classful addressing, the IP address space is divided into five </a:t>
            </a:r>
            <a:r>
              <a:rPr b="1" i="0" lang="en-US" sz="2800" u="none" cap="none" strike="noStrike">
                <a:solidFill>
                  <a:srgbClr val="000000"/>
                </a:solidFill>
                <a:latin typeface="Arial"/>
                <a:ea typeface="Arial"/>
                <a:cs typeface="Arial"/>
                <a:sym typeface="Arial"/>
              </a:rPr>
              <a:t>classes: A,  B, C, D, and E.</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10"/>
              </a:spcBef>
              <a:spcAft>
                <a:spcPts val="0"/>
              </a:spcAft>
              <a:buClr>
                <a:schemeClr val="dk1"/>
              </a:buClr>
              <a:buSzPts val="3850"/>
              <a:buFont typeface="Arial"/>
              <a:buNone/>
            </a:pPr>
            <a:r>
              <a:t/>
            </a:r>
            <a:endParaRPr b="0" i="0" sz="3850" u="none" cap="none" strike="noStrike">
              <a:solidFill>
                <a:srgbClr val="000000"/>
              </a:solidFill>
              <a:latin typeface="Arial"/>
              <a:ea typeface="Arial"/>
              <a:cs typeface="Arial"/>
              <a:sym typeface="Arial"/>
            </a:endParaRPr>
          </a:p>
          <a:p>
            <a:pPr indent="-424179" lvl="0" marL="436244" marR="0" rtl="0" algn="l">
              <a:lnSpc>
                <a:spcPct val="100000"/>
              </a:lnSpc>
              <a:spcBef>
                <a:spcPts val="0"/>
              </a:spcBef>
              <a:spcAft>
                <a:spcPts val="0"/>
              </a:spcAft>
              <a:buClr>
                <a:srgbClr val="000000"/>
              </a:buClr>
              <a:buSzPts val="2800"/>
              <a:buFont typeface="Arial"/>
              <a:buChar char="•"/>
            </a:pPr>
            <a:r>
              <a:rPr b="1" i="0" lang="en-US" sz="2800" u="none" cap="none" strike="noStrike">
                <a:solidFill>
                  <a:srgbClr val="000000"/>
                </a:solidFill>
                <a:latin typeface="Arial"/>
                <a:ea typeface="Arial"/>
                <a:cs typeface="Arial"/>
                <a:sym typeface="Arial"/>
              </a:rPr>
              <a:t>Each class occupies some part of the whole address space</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6" name="Shape 766"/>
        <p:cNvGrpSpPr/>
        <p:nvPr/>
      </p:nvGrpSpPr>
      <p:grpSpPr>
        <a:xfrm>
          <a:off x="0" y="0"/>
          <a:ext cx="0" cy="0"/>
          <a:chOff x="0" y="0"/>
          <a:chExt cx="0" cy="0"/>
        </a:xfrm>
      </p:grpSpPr>
      <p:sp>
        <p:nvSpPr>
          <p:cNvPr id="767" name="Google Shape;767;p57"/>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768" name="Google Shape;768;p57"/>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22</a:t>
            </a:r>
            <a:endParaRPr b="0" i="0" sz="1200" u="none" cap="none" strike="noStrike">
              <a:solidFill>
                <a:srgbClr val="000000"/>
              </a:solidFill>
              <a:latin typeface="Arial"/>
              <a:ea typeface="Arial"/>
              <a:cs typeface="Arial"/>
              <a:sym typeface="Arial"/>
            </a:endParaRPr>
          </a:p>
        </p:txBody>
      </p:sp>
      <p:sp>
        <p:nvSpPr>
          <p:cNvPr id="769" name="Google Shape;769;p57"/>
          <p:cNvSpPr txBox="1"/>
          <p:nvPr>
            <p:ph type="title"/>
          </p:nvPr>
        </p:nvSpPr>
        <p:spPr>
          <a:xfrm>
            <a:off x="2707894" y="115951"/>
            <a:ext cx="259270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i="1" lang="en-US" sz="1800">
                <a:latin typeface="Times New Roman"/>
                <a:ea typeface="Times New Roman"/>
                <a:cs typeface="Times New Roman"/>
                <a:sym typeface="Times New Roman"/>
              </a:rPr>
              <a:t>Finding the class of address</a:t>
            </a:r>
            <a:endParaRPr sz="1800">
              <a:latin typeface="Times New Roman"/>
              <a:ea typeface="Times New Roman"/>
              <a:cs typeface="Times New Roman"/>
              <a:sym typeface="Times New Roman"/>
            </a:endParaRPr>
          </a:p>
        </p:txBody>
      </p:sp>
      <p:grpSp>
        <p:nvGrpSpPr>
          <p:cNvPr id="770" name="Google Shape;770;p57"/>
          <p:cNvGrpSpPr/>
          <p:nvPr/>
        </p:nvGrpSpPr>
        <p:grpSpPr>
          <a:xfrm>
            <a:off x="1600200" y="0"/>
            <a:ext cx="8593836" cy="1053465"/>
            <a:chOff x="1600200" y="0"/>
            <a:chExt cx="8593836" cy="1053465"/>
          </a:xfrm>
        </p:grpSpPr>
        <p:sp>
          <p:nvSpPr>
            <p:cNvPr id="771" name="Google Shape;771;p57"/>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2" name="Google Shape;772;p57"/>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3" name="Google Shape;773;p57"/>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4" name="Google Shape;774;p57"/>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5" name="Google Shape;775;p57"/>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 name="Google Shape;776;p57"/>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 name="Google Shape;777;p57"/>
            <p:cNvSpPr/>
            <p:nvPr/>
          </p:nvSpPr>
          <p:spPr>
            <a:xfrm>
              <a:off x="1967484" y="533400"/>
              <a:ext cx="8226552" cy="3200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78" name="Google Shape;778;p57"/>
          <p:cNvSpPr/>
          <p:nvPr/>
        </p:nvSpPr>
        <p:spPr>
          <a:xfrm>
            <a:off x="1758307" y="3690040"/>
            <a:ext cx="4566292" cy="2324896"/>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 name="Google Shape;779;p57"/>
          <p:cNvSpPr/>
          <p:nvPr/>
        </p:nvSpPr>
        <p:spPr>
          <a:xfrm>
            <a:off x="6405918" y="3613778"/>
            <a:ext cx="4033481" cy="2271861"/>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0" name="Google Shape;780;p57"/>
          <p:cNvSpPr txBox="1"/>
          <p:nvPr/>
        </p:nvSpPr>
        <p:spPr>
          <a:xfrm>
            <a:off x="2136394" y="1235709"/>
            <a:ext cx="8150859" cy="1245870"/>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We can find the class of an address when the address is given either in binary  or dotted decimal notation. In the binary notation, the first few bits can  immediately tell us the class of the address; in the dotted-decimal notation,  the value of the first byte can give the class of an address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4" name="Shape 784"/>
        <p:cNvGrpSpPr/>
        <p:nvPr/>
      </p:nvGrpSpPr>
      <p:grpSpPr>
        <a:xfrm>
          <a:off x="0" y="0"/>
          <a:ext cx="0" cy="0"/>
          <a:chOff x="0" y="0"/>
          <a:chExt cx="0" cy="0"/>
        </a:xfrm>
      </p:grpSpPr>
      <p:sp>
        <p:nvSpPr>
          <p:cNvPr id="785" name="Google Shape;785;p58"/>
          <p:cNvSpPr txBox="1"/>
          <p:nvPr>
            <p:ph type="title"/>
          </p:nvPr>
        </p:nvSpPr>
        <p:spPr>
          <a:xfrm>
            <a:off x="2732913" y="461899"/>
            <a:ext cx="8087487"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Finding Class of an IP Address</a:t>
            </a:r>
            <a:endParaRPr/>
          </a:p>
        </p:txBody>
      </p:sp>
      <p:sp>
        <p:nvSpPr>
          <p:cNvPr id="786" name="Google Shape;786;p58"/>
          <p:cNvSpPr/>
          <p:nvPr/>
        </p:nvSpPr>
        <p:spPr>
          <a:xfrm>
            <a:off x="3517238" y="1676400"/>
            <a:ext cx="5781466" cy="178448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9"/>
          <p:cNvSpPr txBox="1"/>
          <p:nvPr>
            <p:ph type="title"/>
          </p:nvPr>
        </p:nvSpPr>
        <p:spPr>
          <a:xfrm>
            <a:off x="2732913" y="461899"/>
            <a:ext cx="8087487"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Finding Class of an IP Address</a:t>
            </a:r>
            <a:endParaRPr/>
          </a:p>
        </p:txBody>
      </p:sp>
      <p:sp>
        <p:nvSpPr>
          <p:cNvPr id="792" name="Google Shape;792;p59"/>
          <p:cNvSpPr/>
          <p:nvPr/>
        </p:nvSpPr>
        <p:spPr>
          <a:xfrm>
            <a:off x="3517238" y="1676400"/>
            <a:ext cx="5781466" cy="178448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3" name="Google Shape;793;p59"/>
          <p:cNvSpPr/>
          <p:nvPr/>
        </p:nvSpPr>
        <p:spPr>
          <a:xfrm>
            <a:off x="3535808" y="4191000"/>
            <a:ext cx="6206650" cy="15132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7" name="Shape 797"/>
        <p:cNvGrpSpPr/>
        <p:nvPr/>
      </p:nvGrpSpPr>
      <p:grpSpPr>
        <a:xfrm>
          <a:off x="0" y="0"/>
          <a:ext cx="0" cy="0"/>
          <a:chOff x="0" y="0"/>
          <a:chExt cx="0" cy="0"/>
        </a:xfrm>
      </p:grpSpPr>
      <p:sp>
        <p:nvSpPr>
          <p:cNvPr id="798" name="Google Shape;798;p60"/>
          <p:cNvSpPr txBox="1"/>
          <p:nvPr>
            <p:ph type="title"/>
          </p:nvPr>
        </p:nvSpPr>
        <p:spPr>
          <a:xfrm>
            <a:off x="2732913" y="461899"/>
            <a:ext cx="8087487"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Finding Class of an IP Address</a:t>
            </a:r>
            <a:endParaRPr/>
          </a:p>
        </p:txBody>
      </p:sp>
      <p:sp>
        <p:nvSpPr>
          <p:cNvPr id="799" name="Google Shape;799;p60"/>
          <p:cNvSpPr/>
          <p:nvPr/>
        </p:nvSpPr>
        <p:spPr>
          <a:xfrm>
            <a:off x="2133600" y="152400"/>
            <a:ext cx="7897540" cy="4114800"/>
          </a:xfrm>
          <a:prstGeom prst="rect">
            <a:avLst/>
          </a:prstGeom>
          <a:blipFill rotWithShape="1">
            <a:blip r:embed="rId3">
              <a:alphaModFix/>
            </a:blip>
            <a:stretch>
              <a:fillRect b="-48396" l="3647" r="-3647" t="48396"/>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61"/>
          <p:cNvSpPr txBox="1"/>
          <p:nvPr>
            <p:ph type="title"/>
          </p:nvPr>
        </p:nvSpPr>
        <p:spPr>
          <a:xfrm>
            <a:off x="2732913" y="461899"/>
            <a:ext cx="8087487"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a:latin typeface="Arial"/>
                <a:ea typeface="Arial"/>
                <a:cs typeface="Arial"/>
                <a:sym typeface="Arial"/>
              </a:rPr>
              <a:t>Finding Class of an IP Address</a:t>
            </a:r>
            <a:endParaRPr/>
          </a:p>
        </p:txBody>
      </p:sp>
      <p:sp>
        <p:nvSpPr>
          <p:cNvPr id="805" name="Google Shape;805;p61"/>
          <p:cNvSpPr/>
          <p:nvPr/>
        </p:nvSpPr>
        <p:spPr>
          <a:xfrm>
            <a:off x="2084659" y="1752600"/>
            <a:ext cx="7897540" cy="411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9" name="Shape 809"/>
        <p:cNvGrpSpPr/>
        <p:nvPr/>
      </p:nvGrpSpPr>
      <p:grpSpPr>
        <a:xfrm>
          <a:off x="0" y="0"/>
          <a:ext cx="0" cy="0"/>
          <a:chOff x="0" y="0"/>
          <a:chExt cx="0" cy="0"/>
        </a:xfrm>
      </p:grpSpPr>
      <p:sp>
        <p:nvSpPr>
          <p:cNvPr id="810" name="Google Shape;810;p62"/>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811" name="Google Shape;811;p62"/>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25</a:t>
            </a:r>
            <a:endParaRPr b="0" i="0" sz="1200" u="none" cap="none" strike="noStrike">
              <a:solidFill>
                <a:srgbClr val="000000"/>
              </a:solidFill>
              <a:latin typeface="Arial"/>
              <a:ea typeface="Arial"/>
              <a:cs typeface="Arial"/>
              <a:sym typeface="Arial"/>
            </a:endParaRPr>
          </a:p>
        </p:txBody>
      </p:sp>
      <p:sp>
        <p:nvSpPr>
          <p:cNvPr id="812" name="Google Shape;812;p62"/>
          <p:cNvSpPr txBox="1"/>
          <p:nvPr>
            <p:ph type="title"/>
          </p:nvPr>
        </p:nvSpPr>
        <p:spPr>
          <a:xfrm>
            <a:off x="2764282" y="109550"/>
            <a:ext cx="2717165"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i="1" lang="en-US" sz="3200">
                <a:latin typeface="Times New Roman"/>
                <a:ea typeface="Times New Roman"/>
                <a:cs typeface="Times New Roman"/>
                <a:sym typeface="Times New Roman"/>
              </a:rPr>
              <a:t>Netid and hostid</a:t>
            </a:r>
            <a:endParaRPr sz="3200">
              <a:latin typeface="Times New Roman"/>
              <a:ea typeface="Times New Roman"/>
              <a:cs typeface="Times New Roman"/>
              <a:sym typeface="Times New Roman"/>
            </a:endParaRPr>
          </a:p>
        </p:txBody>
      </p:sp>
      <p:grpSp>
        <p:nvGrpSpPr>
          <p:cNvPr id="813" name="Google Shape;813;p62"/>
          <p:cNvGrpSpPr/>
          <p:nvPr/>
        </p:nvGrpSpPr>
        <p:grpSpPr>
          <a:xfrm>
            <a:off x="1600200" y="0"/>
            <a:ext cx="8593836" cy="1053465"/>
            <a:chOff x="1600200" y="0"/>
            <a:chExt cx="8593836" cy="1053465"/>
          </a:xfrm>
        </p:grpSpPr>
        <p:sp>
          <p:nvSpPr>
            <p:cNvPr id="814" name="Google Shape;814;p62"/>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5" name="Google Shape;815;p62"/>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6" name="Google Shape;816;p62"/>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7" name="Google Shape;817;p62"/>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8" name="Google Shape;818;p62"/>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9" name="Google Shape;819;p62"/>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0" name="Google Shape;820;p62"/>
            <p:cNvSpPr/>
            <p:nvPr/>
          </p:nvSpPr>
          <p:spPr>
            <a:xfrm>
              <a:off x="1967484" y="533400"/>
              <a:ext cx="8226552" cy="3200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21" name="Google Shape;821;p62"/>
          <p:cNvSpPr/>
          <p:nvPr/>
        </p:nvSpPr>
        <p:spPr>
          <a:xfrm>
            <a:off x="2139899" y="2597127"/>
            <a:ext cx="7729321" cy="278428"/>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2" name="Google Shape;822;p62"/>
          <p:cNvSpPr/>
          <p:nvPr/>
        </p:nvSpPr>
        <p:spPr>
          <a:xfrm>
            <a:off x="2139899" y="3235849"/>
            <a:ext cx="7735620" cy="27067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3" name="Google Shape;823;p62"/>
          <p:cNvSpPr/>
          <p:nvPr/>
        </p:nvSpPr>
        <p:spPr>
          <a:xfrm>
            <a:off x="2139899" y="3866851"/>
            <a:ext cx="7735620" cy="27210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4" name="Google Shape;824;p62"/>
          <p:cNvSpPr/>
          <p:nvPr/>
        </p:nvSpPr>
        <p:spPr>
          <a:xfrm>
            <a:off x="2139901" y="4499245"/>
            <a:ext cx="7744762" cy="27067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5" name="Google Shape;825;p62"/>
          <p:cNvSpPr/>
          <p:nvPr/>
        </p:nvSpPr>
        <p:spPr>
          <a:xfrm>
            <a:off x="2139902" y="5131771"/>
            <a:ext cx="7726473" cy="2721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62"/>
          <p:cNvSpPr/>
          <p:nvPr/>
        </p:nvSpPr>
        <p:spPr>
          <a:xfrm>
            <a:off x="2971800" y="1790466"/>
            <a:ext cx="6864096" cy="498581"/>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0" name="Shape 830"/>
        <p:cNvGrpSpPr/>
        <p:nvPr/>
      </p:nvGrpSpPr>
      <p:grpSpPr>
        <a:xfrm>
          <a:off x="0" y="0"/>
          <a:ext cx="0" cy="0"/>
          <a:chOff x="0" y="0"/>
          <a:chExt cx="0" cy="0"/>
        </a:xfrm>
      </p:grpSpPr>
      <p:sp>
        <p:nvSpPr>
          <p:cNvPr id="831" name="Google Shape;831;p63"/>
          <p:cNvSpPr txBox="1"/>
          <p:nvPr>
            <p:ph type="title"/>
          </p:nvPr>
        </p:nvSpPr>
        <p:spPr>
          <a:xfrm>
            <a:off x="2402204" y="179019"/>
            <a:ext cx="9408796"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Classful Addressing :Classes and Blocks</a:t>
            </a:r>
            <a:endParaRPr sz="3600"/>
          </a:p>
        </p:txBody>
      </p:sp>
      <p:sp>
        <p:nvSpPr>
          <p:cNvPr id="832" name="Google Shape;832;p63"/>
          <p:cNvSpPr txBox="1"/>
          <p:nvPr/>
        </p:nvSpPr>
        <p:spPr>
          <a:xfrm>
            <a:off x="688340" y="1607261"/>
            <a:ext cx="10817225" cy="1490345"/>
          </a:xfrm>
          <a:prstGeom prst="rect">
            <a:avLst/>
          </a:prstGeom>
          <a:noFill/>
          <a:ln>
            <a:noFill/>
          </a:ln>
        </p:spPr>
        <p:txBody>
          <a:bodyPr anchorCtr="0" anchor="t" bIns="0" lIns="0" spcFirstLastPara="1" rIns="0" wrap="square" tIns="13325">
            <a:spAutoFit/>
          </a:bodyPr>
          <a:lstStyle/>
          <a:p>
            <a:pPr indent="-342900" lvl="0" marL="355600" marR="5080" rtl="0" algn="just">
              <a:lnSpc>
                <a:spcPct val="100000"/>
              </a:lnSpc>
              <a:spcBef>
                <a:spcPts val="0"/>
              </a:spcBef>
              <a:spcAft>
                <a:spcPts val="0"/>
              </a:spcAft>
              <a:buClr>
                <a:srgbClr val="000000"/>
              </a:buClr>
              <a:buSzPts val="3200"/>
              <a:buFont typeface="Arial"/>
              <a:buChar char="•"/>
            </a:pPr>
            <a:r>
              <a:rPr b="0" i="0" lang="en-US" sz="3200" u="none" cap="none" strike="noStrike">
                <a:solidFill>
                  <a:srgbClr val="000000"/>
                </a:solidFill>
                <a:latin typeface="Arial"/>
                <a:ea typeface="Arial"/>
                <a:cs typeface="Arial"/>
                <a:sym typeface="Arial"/>
              </a:rPr>
              <a:t>One problem with classful addressing is that each class is  divided into a </a:t>
            </a:r>
            <a:r>
              <a:rPr b="0" i="0" lang="en-US" sz="3200" u="none" cap="none" strike="noStrike">
                <a:solidFill>
                  <a:srgbClr val="C00000"/>
                </a:solidFill>
                <a:latin typeface="Arial"/>
                <a:ea typeface="Arial"/>
                <a:cs typeface="Arial"/>
                <a:sym typeface="Arial"/>
              </a:rPr>
              <a:t>fixed number of blocks with each block having a  fixed size.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6" name="Shape 836"/>
        <p:cNvGrpSpPr/>
        <p:nvPr/>
      </p:nvGrpSpPr>
      <p:grpSpPr>
        <a:xfrm>
          <a:off x="0" y="0"/>
          <a:ext cx="0" cy="0"/>
          <a:chOff x="0" y="0"/>
          <a:chExt cx="0" cy="0"/>
        </a:xfrm>
      </p:grpSpPr>
      <p:sp>
        <p:nvSpPr>
          <p:cNvPr id="837" name="Google Shape;837;p64"/>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838" name="Google Shape;838;p64"/>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27</a:t>
            </a:r>
            <a:endParaRPr b="0" i="0" sz="1200" u="none" cap="none" strike="noStrike">
              <a:solidFill>
                <a:srgbClr val="000000"/>
              </a:solidFill>
              <a:latin typeface="Arial"/>
              <a:ea typeface="Arial"/>
              <a:cs typeface="Arial"/>
              <a:sym typeface="Arial"/>
            </a:endParaRPr>
          </a:p>
        </p:txBody>
      </p:sp>
      <p:sp>
        <p:nvSpPr>
          <p:cNvPr id="839" name="Google Shape;839;p64"/>
          <p:cNvSpPr txBox="1"/>
          <p:nvPr/>
        </p:nvSpPr>
        <p:spPr>
          <a:xfrm>
            <a:off x="2764282" y="115951"/>
            <a:ext cx="281622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Times New Roman"/>
              <a:buNone/>
            </a:pPr>
            <a:r>
              <a:rPr b="0" i="1" lang="en-US" sz="1800" u="none" cap="none" strike="noStrike">
                <a:solidFill>
                  <a:srgbClr val="000000"/>
                </a:solidFill>
                <a:latin typeface="Times New Roman"/>
                <a:ea typeface="Times New Roman"/>
                <a:cs typeface="Times New Roman"/>
                <a:sym typeface="Times New Roman"/>
              </a:rPr>
              <a:t>Blocks in Class An EXAMPLE</a:t>
            </a:r>
            <a:endParaRPr b="0" i="0" sz="1800" u="none" cap="none" strike="noStrike">
              <a:solidFill>
                <a:srgbClr val="000000"/>
              </a:solidFill>
              <a:latin typeface="Times New Roman"/>
              <a:ea typeface="Times New Roman"/>
              <a:cs typeface="Times New Roman"/>
              <a:sym typeface="Times New Roman"/>
            </a:endParaRPr>
          </a:p>
        </p:txBody>
      </p:sp>
      <p:grpSp>
        <p:nvGrpSpPr>
          <p:cNvPr id="840" name="Google Shape;840;p64"/>
          <p:cNvGrpSpPr/>
          <p:nvPr/>
        </p:nvGrpSpPr>
        <p:grpSpPr>
          <a:xfrm>
            <a:off x="1600200" y="0"/>
            <a:ext cx="8593836" cy="1053465"/>
            <a:chOff x="1600200" y="0"/>
            <a:chExt cx="8593836" cy="1053465"/>
          </a:xfrm>
        </p:grpSpPr>
        <p:sp>
          <p:nvSpPr>
            <p:cNvPr id="841" name="Google Shape;841;p64"/>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2" name="Google Shape;842;p64"/>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3" name="Google Shape;843;p64"/>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4" name="Google Shape;844;p64"/>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5" name="Google Shape;845;p64"/>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6" name="Google Shape;846;p64"/>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7" name="Google Shape;847;p64"/>
            <p:cNvSpPr/>
            <p:nvPr/>
          </p:nvSpPr>
          <p:spPr>
            <a:xfrm>
              <a:off x="1967484" y="533400"/>
              <a:ext cx="8226552" cy="3200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48" name="Google Shape;848;p64"/>
          <p:cNvSpPr/>
          <p:nvPr/>
        </p:nvSpPr>
        <p:spPr>
          <a:xfrm>
            <a:off x="1757549" y="1371600"/>
            <a:ext cx="8642226" cy="154838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9" name="Google Shape;849;p64"/>
          <p:cNvSpPr txBox="1"/>
          <p:nvPr>
            <p:ph type="title"/>
          </p:nvPr>
        </p:nvSpPr>
        <p:spPr>
          <a:xfrm>
            <a:off x="2362200" y="4114800"/>
            <a:ext cx="8077200" cy="1066800"/>
          </a:xfrm>
          <a:prstGeom prst="rect">
            <a:avLst/>
          </a:prstGeom>
          <a:solidFill>
            <a:srgbClr val="3333CC"/>
          </a:solidFill>
          <a:ln>
            <a:noFill/>
          </a:ln>
        </p:spPr>
        <p:txBody>
          <a:bodyPr anchorCtr="0" anchor="t" bIns="0" lIns="0" spcFirstLastPara="1" rIns="0" wrap="square" tIns="34925">
            <a:spAutoFit/>
          </a:bodyPr>
          <a:lstStyle/>
          <a:p>
            <a:pPr indent="-1544319" lvl="0" marL="2989580" marR="1437640" rtl="0" algn="l">
              <a:lnSpc>
                <a:spcPct val="100000"/>
              </a:lnSpc>
              <a:spcBef>
                <a:spcPts val="0"/>
              </a:spcBef>
              <a:spcAft>
                <a:spcPts val="0"/>
              </a:spcAft>
              <a:buNone/>
            </a:pPr>
            <a:r>
              <a:rPr b="0" i="1" lang="en-US" sz="3200">
                <a:solidFill>
                  <a:srgbClr val="FFFFFF"/>
                </a:solidFill>
                <a:latin typeface="Arial"/>
                <a:ea typeface="Arial"/>
                <a:cs typeface="Arial"/>
                <a:sym typeface="Arial"/>
              </a:rPr>
              <a:t>Millions of class A addresses  are wasted.</a:t>
            </a:r>
            <a:endParaRPr sz="3200">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3" name="Shape 853"/>
        <p:cNvGrpSpPr/>
        <p:nvPr/>
      </p:nvGrpSpPr>
      <p:grpSpPr>
        <a:xfrm>
          <a:off x="0" y="0"/>
          <a:ext cx="0" cy="0"/>
          <a:chOff x="0" y="0"/>
          <a:chExt cx="0" cy="0"/>
        </a:xfrm>
      </p:grpSpPr>
      <p:sp>
        <p:nvSpPr>
          <p:cNvPr id="854" name="Google Shape;854;p65"/>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855" name="Google Shape;855;p65"/>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28</a:t>
            </a:r>
            <a:endParaRPr b="0" i="0" sz="1200" u="none" cap="none" strike="noStrike">
              <a:solidFill>
                <a:srgbClr val="000000"/>
              </a:solidFill>
              <a:latin typeface="Arial"/>
              <a:ea typeface="Arial"/>
              <a:cs typeface="Arial"/>
              <a:sym typeface="Arial"/>
            </a:endParaRPr>
          </a:p>
        </p:txBody>
      </p:sp>
      <p:grpSp>
        <p:nvGrpSpPr>
          <p:cNvPr id="856" name="Google Shape;856;p65"/>
          <p:cNvGrpSpPr/>
          <p:nvPr/>
        </p:nvGrpSpPr>
        <p:grpSpPr>
          <a:xfrm>
            <a:off x="1600200" y="0"/>
            <a:ext cx="8763000" cy="1981200"/>
            <a:chOff x="1600200" y="0"/>
            <a:chExt cx="8763000" cy="1981200"/>
          </a:xfrm>
        </p:grpSpPr>
        <p:sp>
          <p:nvSpPr>
            <p:cNvPr id="857" name="Google Shape;857;p65"/>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8" name="Google Shape;858;p65"/>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9" name="Google Shape;859;p65"/>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0" name="Google Shape;860;p65"/>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1" name="Google Shape;861;p65"/>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2" name="Google Shape;862;p65"/>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3" name="Google Shape;863;p65"/>
            <p:cNvSpPr/>
            <p:nvPr/>
          </p:nvSpPr>
          <p:spPr>
            <a:xfrm>
              <a:off x="1967484" y="533400"/>
              <a:ext cx="8226552" cy="3200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4" name="Google Shape;864;p65"/>
            <p:cNvSpPr/>
            <p:nvPr/>
          </p:nvSpPr>
          <p:spPr>
            <a:xfrm>
              <a:off x="2286000" y="914400"/>
              <a:ext cx="8077200" cy="1066800"/>
            </a:xfrm>
            <a:custGeom>
              <a:rect b="b" l="l" r="r" t="t"/>
              <a:pathLst>
                <a:path extrusionOk="0" h="1066800" w="8077200">
                  <a:moveTo>
                    <a:pt x="8077200" y="0"/>
                  </a:moveTo>
                  <a:lnTo>
                    <a:pt x="0" y="0"/>
                  </a:lnTo>
                  <a:lnTo>
                    <a:pt x="0" y="1066800"/>
                  </a:lnTo>
                  <a:lnTo>
                    <a:pt x="8077200" y="1066800"/>
                  </a:lnTo>
                  <a:lnTo>
                    <a:pt x="8077200" y="0"/>
                  </a:lnTo>
                  <a:close/>
                </a:path>
              </a:pathLst>
            </a:custGeom>
            <a:solidFill>
              <a:srgbClr val="3333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65" name="Google Shape;865;p65"/>
          <p:cNvSpPr txBox="1"/>
          <p:nvPr/>
        </p:nvSpPr>
        <p:spPr>
          <a:xfrm>
            <a:off x="2286000" y="2286000"/>
            <a:ext cx="8077200" cy="1066800"/>
          </a:xfrm>
          <a:prstGeom prst="rect">
            <a:avLst/>
          </a:prstGeom>
          <a:solidFill>
            <a:srgbClr val="3333CC"/>
          </a:solidFill>
          <a:ln>
            <a:noFill/>
          </a:ln>
        </p:spPr>
        <p:txBody>
          <a:bodyPr anchorCtr="0" anchor="t" bIns="0" lIns="0" spcFirstLastPara="1" rIns="0" wrap="square" tIns="34275">
            <a:spAutoFit/>
          </a:bodyPr>
          <a:lstStyle/>
          <a:p>
            <a:pPr indent="-1050290" lvl="0" marL="1433195" marR="375920" rtl="0" algn="l">
              <a:lnSpc>
                <a:spcPct val="100000"/>
              </a:lnSpc>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The only block of class E addresses was  reserved for future purposes.</a:t>
            </a:r>
            <a:endParaRPr b="0" i="0" sz="3200" u="none" cap="none" strike="noStrike">
              <a:solidFill>
                <a:srgbClr val="000000"/>
              </a:solidFill>
              <a:latin typeface="Arial"/>
              <a:ea typeface="Arial"/>
              <a:cs typeface="Arial"/>
              <a:sym typeface="Arial"/>
            </a:endParaRPr>
          </a:p>
        </p:txBody>
      </p:sp>
      <p:sp>
        <p:nvSpPr>
          <p:cNvPr id="866" name="Google Shape;866;p65"/>
          <p:cNvSpPr txBox="1"/>
          <p:nvPr/>
        </p:nvSpPr>
        <p:spPr>
          <a:xfrm>
            <a:off x="2286000" y="4038600"/>
            <a:ext cx="8077200" cy="2062480"/>
          </a:xfrm>
          <a:prstGeom prst="rect">
            <a:avLst/>
          </a:prstGeom>
          <a:solidFill>
            <a:srgbClr val="3333CC"/>
          </a:solidFill>
          <a:ln>
            <a:noFill/>
          </a:ln>
        </p:spPr>
        <p:txBody>
          <a:bodyPr anchorCtr="0" anchor="t" bIns="0" lIns="0" spcFirstLastPara="1" rIns="0" wrap="square" tIns="34925">
            <a:spAutoFit/>
          </a:bodyPr>
          <a:lstStyle/>
          <a:p>
            <a:pPr indent="0" lvl="0" marL="520065" marR="513080" rtl="0" algn="ctr">
              <a:lnSpc>
                <a:spcPct val="100000"/>
              </a:lnSpc>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The range of addresses allocated to an  organization in classful addressing  was a block of addresses in</a:t>
            </a:r>
            <a:endParaRPr b="0" i="0" sz="3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Class A, B, or C.</a:t>
            </a:r>
            <a:endParaRPr b="0" i="0" sz="3200" u="none" cap="none" strike="noStrike">
              <a:solidFill>
                <a:srgbClr val="000000"/>
              </a:solidFill>
              <a:latin typeface="Arial"/>
              <a:ea typeface="Arial"/>
              <a:cs typeface="Arial"/>
              <a:sym typeface="Arial"/>
            </a:endParaRPr>
          </a:p>
        </p:txBody>
      </p:sp>
      <p:sp>
        <p:nvSpPr>
          <p:cNvPr id="867" name="Google Shape;867;p65"/>
          <p:cNvSpPr txBox="1"/>
          <p:nvPr>
            <p:ph type="title"/>
          </p:nvPr>
        </p:nvSpPr>
        <p:spPr>
          <a:xfrm>
            <a:off x="2267711" y="935482"/>
            <a:ext cx="8095615" cy="1001394"/>
          </a:xfrm>
          <a:prstGeom prst="rect">
            <a:avLst/>
          </a:prstGeom>
          <a:noFill/>
          <a:ln>
            <a:noFill/>
          </a:ln>
        </p:spPr>
        <p:txBody>
          <a:bodyPr anchorCtr="0" anchor="t" bIns="0" lIns="0" spcFirstLastPara="1" rIns="0" wrap="square" tIns="13325">
            <a:spAutoFit/>
          </a:bodyPr>
          <a:lstStyle/>
          <a:p>
            <a:pPr indent="-1906904" lvl="0" marL="2139315" marR="207009" rtl="0" algn="l">
              <a:lnSpc>
                <a:spcPct val="100000"/>
              </a:lnSpc>
              <a:spcBef>
                <a:spcPts val="0"/>
              </a:spcBef>
              <a:spcAft>
                <a:spcPts val="0"/>
              </a:spcAft>
              <a:buNone/>
            </a:pPr>
            <a:r>
              <a:rPr b="0" i="1" lang="en-US" sz="3200">
                <a:solidFill>
                  <a:srgbClr val="FFFFFF"/>
                </a:solidFill>
                <a:latin typeface="Arial"/>
                <a:ea typeface="Arial"/>
                <a:cs typeface="Arial"/>
                <a:sym typeface="Arial"/>
              </a:rPr>
              <a:t>Class D addresses are made of one block,  used for multicasting.</a:t>
            </a:r>
            <a:endParaRPr sz="3200">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1" name="Shape 871"/>
        <p:cNvGrpSpPr/>
        <p:nvPr/>
      </p:nvGrpSpPr>
      <p:grpSpPr>
        <a:xfrm>
          <a:off x="0" y="0"/>
          <a:ext cx="0" cy="0"/>
          <a:chOff x="0" y="0"/>
          <a:chExt cx="0" cy="0"/>
        </a:xfrm>
      </p:grpSpPr>
      <p:sp>
        <p:nvSpPr>
          <p:cNvPr id="872" name="Google Shape;872;p66"/>
          <p:cNvSpPr txBox="1"/>
          <p:nvPr/>
        </p:nvSpPr>
        <p:spPr>
          <a:xfrm>
            <a:off x="688340" y="6426504"/>
            <a:ext cx="132778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TCP/IP Protocol Suite</a:t>
            </a:r>
            <a:endParaRPr b="0" i="0" sz="1200" u="none" cap="none" strike="noStrike">
              <a:solidFill>
                <a:srgbClr val="000000"/>
              </a:solidFill>
              <a:latin typeface="Arial"/>
              <a:ea typeface="Arial"/>
              <a:cs typeface="Arial"/>
              <a:sym typeface="Arial"/>
            </a:endParaRPr>
          </a:p>
        </p:txBody>
      </p:sp>
      <p:sp>
        <p:nvSpPr>
          <p:cNvPr id="873" name="Google Shape;873;p66"/>
          <p:cNvSpPr txBox="1"/>
          <p:nvPr/>
        </p:nvSpPr>
        <p:spPr>
          <a:xfrm>
            <a:off x="6005829" y="6426504"/>
            <a:ext cx="180975" cy="2089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888888"/>
              </a:buClr>
              <a:buSzPts val="1200"/>
              <a:buFont typeface="Arial"/>
              <a:buNone/>
            </a:pPr>
            <a:r>
              <a:rPr b="0" i="0" lang="en-US" sz="1200" u="none" cap="none" strike="noStrike">
                <a:solidFill>
                  <a:srgbClr val="888888"/>
                </a:solidFill>
                <a:latin typeface="Arial"/>
                <a:ea typeface="Arial"/>
                <a:cs typeface="Arial"/>
                <a:sym typeface="Arial"/>
              </a:rPr>
              <a:t>29</a:t>
            </a:r>
            <a:endParaRPr b="0" i="0" sz="1200" u="none" cap="none" strike="noStrike">
              <a:solidFill>
                <a:srgbClr val="000000"/>
              </a:solidFill>
              <a:latin typeface="Arial"/>
              <a:ea typeface="Arial"/>
              <a:cs typeface="Arial"/>
              <a:sym typeface="Arial"/>
            </a:endParaRPr>
          </a:p>
        </p:txBody>
      </p:sp>
      <p:sp>
        <p:nvSpPr>
          <p:cNvPr id="874" name="Google Shape;874;p66"/>
          <p:cNvSpPr txBox="1"/>
          <p:nvPr>
            <p:ph type="title"/>
          </p:nvPr>
        </p:nvSpPr>
        <p:spPr>
          <a:xfrm>
            <a:off x="2707894" y="115951"/>
            <a:ext cx="400367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i="1" lang="en-US" sz="1800">
                <a:latin typeface="Times New Roman"/>
                <a:ea typeface="Times New Roman"/>
                <a:cs typeface="Times New Roman"/>
                <a:sym typeface="Times New Roman"/>
              </a:rPr>
              <a:t>Two-level addressing in classful addressing</a:t>
            </a:r>
            <a:endParaRPr sz="1800">
              <a:latin typeface="Times New Roman"/>
              <a:ea typeface="Times New Roman"/>
              <a:cs typeface="Times New Roman"/>
              <a:sym typeface="Times New Roman"/>
            </a:endParaRPr>
          </a:p>
        </p:txBody>
      </p:sp>
      <p:grpSp>
        <p:nvGrpSpPr>
          <p:cNvPr id="875" name="Google Shape;875;p66"/>
          <p:cNvGrpSpPr/>
          <p:nvPr/>
        </p:nvGrpSpPr>
        <p:grpSpPr>
          <a:xfrm>
            <a:off x="1600200" y="0"/>
            <a:ext cx="8593836" cy="1053465"/>
            <a:chOff x="1600200" y="0"/>
            <a:chExt cx="8593836" cy="1053465"/>
          </a:xfrm>
        </p:grpSpPr>
        <p:sp>
          <p:nvSpPr>
            <p:cNvPr id="876" name="Google Shape;876;p66"/>
            <p:cNvSpPr/>
            <p:nvPr/>
          </p:nvSpPr>
          <p:spPr>
            <a:xfrm>
              <a:off x="1891284" y="108204"/>
              <a:ext cx="437515" cy="474345"/>
            </a:xfrm>
            <a:custGeom>
              <a:rect b="b" l="l" r="r" t="t"/>
              <a:pathLst>
                <a:path extrusionOk="0" h="474345" w="437514">
                  <a:moveTo>
                    <a:pt x="437388" y="0"/>
                  </a:moveTo>
                  <a:lnTo>
                    <a:pt x="0" y="0"/>
                  </a:lnTo>
                  <a:lnTo>
                    <a:pt x="0" y="473963"/>
                  </a:lnTo>
                  <a:lnTo>
                    <a:pt x="437388" y="473963"/>
                  </a:lnTo>
                  <a:lnTo>
                    <a:pt x="437388"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7" name="Google Shape;877;p66"/>
            <p:cNvSpPr/>
            <p:nvPr/>
          </p:nvSpPr>
          <p:spPr>
            <a:xfrm>
              <a:off x="2273808" y="108204"/>
              <a:ext cx="327660" cy="4739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8" name="Google Shape;878;p66"/>
            <p:cNvSpPr/>
            <p:nvPr/>
          </p:nvSpPr>
          <p:spPr>
            <a:xfrm>
              <a:off x="2014727" y="530351"/>
              <a:ext cx="422275" cy="474345"/>
            </a:xfrm>
            <a:custGeom>
              <a:rect b="b" l="l" r="r" t="t"/>
              <a:pathLst>
                <a:path extrusionOk="0" h="474344" w="422275">
                  <a:moveTo>
                    <a:pt x="422148" y="0"/>
                  </a:moveTo>
                  <a:lnTo>
                    <a:pt x="0" y="0"/>
                  </a:lnTo>
                  <a:lnTo>
                    <a:pt x="0" y="473963"/>
                  </a:lnTo>
                  <a:lnTo>
                    <a:pt x="422148" y="473963"/>
                  </a:lnTo>
                  <a:lnTo>
                    <a:pt x="422148" y="0"/>
                  </a:lnTo>
                  <a:close/>
                </a:path>
              </a:pathLst>
            </a:custGeom>
            <a:solidFill>
              <a:srgbClr val="80008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9" name="Google Shape;879;p66"/>
            <p:cNvSpPr/>
            <p:nvPr/>
          </p:nvSpPr>
          <p:spPr>
            <a:xfrm>
              <a:off x="2385059" y="530351"/>
              <a:ext cx="367284" cy="47396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0" name="Google Shape;880;p66"/>
            <p:cNvSpPr/>
            <p:nvPr/>
          </p:nvSpPr>
          <p:spPr>
            <a:xfrm>
              <a:off x="1600200" y="457200"/>
              <a:ext cx="560832" cy="4221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1" name="Google Shape;881;p66"/>
            <p:cNvSpPr/>
            <p:nvPr/>
          </p:nvSpPr>
          <p:spPr>
            <a:xfrm>
              <a:off x="2235708" y="0"/>
              <a:ext cx="32384" cy="1053465"/>
            </a:xfrm>
            <a:custGeom>
              <a:rect b="b" l="l" r="r" t="t"/>
              <a:pathLst>
                <a:path extrusionOk="0" h="1053465" w="32385">
                  <a:moveTo>
                    <a:pt x="32004" y="0"/>
                  </a:moveTo>
                  <a:lnTo>
                    <a:pt x="0" y="0"/>
                  </a:lnTo>
                  <a:lnTo>
                    <a:pt x="0" y="1053084"/>
                  </a:lnTo>
                  <a:lnTo>
                    <a:pt x="32004" y="1053084"/>
                  </a:lnTo>
                  <a:lnTo>
                    <a:pt x="32004" y="0"/>
                  </a:lnTo>
                  <a:close/>
                </a:path>
              </a:pathLst>
            </a:custGeom>
            <a:solidFill>
              <a:srgbClr val="EDEBE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2" name="Google Shape;882;p66"/>
            <p:cNvSpPr/>
            <p:nvPr/>
          </p:nvSpPr>
          <p:spPr>
            <a:xfrm>
              <a:off x="1967484" y="533400"/>
              <a:ext cx="8226552" cy="3200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83" name="Google Shape;883;p66"/>
          <p:cNvSpPr/>
          <p:nvPr/>
        </p:nvSpPr>
        <p:spPr>
          <a:xfrm>
            <a:off x="2057400" y="1828800"/>
            <a:ext cx="6946392" cy="1574291"/>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4" name="Google Shape;884;p66"/>
          <p:cNvSpPr/>
          <p:nvPr/>
        </p:nvSpPr>
        <p:spPr>
          <a:xfrm>
            <a:off x="4419600" y="3657600"/>
            <a:ext cx="2916936" cy="170078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5" name="Google Shape;885;p66"/>
          <p:cNvSpPr txBox="1"/>
          <p:nvPr/>
        </p:nvSpPr>
        <p:spPr>
          <a:xfrm>
            <a:off x="3279394" y="856234"/>
            <a:ext cx="5438140"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Netid : Define the network.</a:t>
            </a:r>
            <a:endParaRPr b="0" i="0" sz="18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Hostid: define a particular host connected to that network</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9" name="Shape 889"/>
        <p:cNvGrpSpPr/>
        <p:nvPr/>
      </p:nvGrpSpPr>
      <p:grpSpPr>
        <a:xfrm>
          <a:off x="0" y="0"/>
          <a:ext cx="0" cy="0"/>
          <a:chOff x="0" y="0"/>
          <a:chExt cx="0" cy="0"/>
        </a:xfrm>
      </p:grpSpPr>
      <p:sp>
        <p:nvSpPr>
          <p:cNvPr id="890" name="Google Shape;890;p67"/>
          <p:cNvSpPr txBox="1"/>
          <p:nvPr>
            <p:ph type="title"/>
          </p:nvPr>
        </p:nvSpPr>
        <p:spPr>
          <a:xfrm>
            <a:off x="916939" y="305816"/>
            <a:ext cx="1442720"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Subnet</a:t>
            </a:r>
            <a:endParaRPr sz="4000"/>
          </a:p>
        </p:txBody>
      </p:sp>
      <p:sp>
        <p:nvSpPr>
          <p:cNvPr id="891" name="Google Shape;891;p67"/>
          <p:cNvSpPr txBox="1"/>
          <p:nvPr/>
        </p:nvSpPr>
        <p:spPr>
          <a:xfrm>
            <a:off x="916939" y="1365630"/>
            <a:ext cx="9326880" cy="835660"/>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subnet is also called an </a:t>
            </a:r>
            <a:r>
              <a:rPr b="0" i="1" lang="en-US" sz="2800" u="none" cap="none" strike="noStrike">
                <a:solidFill>
                  <a:srgbClr val="000000"/>
                </a:solidFill>
                <a:latin typeface="Arial"/>
                <a:ea typeface="Arial"/>
                <a:cs typeface="Arial"/>
                <a:sym typeface="Arial"/>
              </a:rPr>
              <a:t>IP network </a:t>
            </a:r>
            <a:r>
              <a:rPr b="0" i="0" lang="en-US" sz="2800" u="none" cap="none" strike="noStrike">
                <a:solidFill>
                  <a:srgbClr val="000000"/>
                </a:solidFill>
                <a:latin typeface="Arial"/>
                <a:ea typeface="Arial"/>
                <a:cs typeface="Arial"/>
                <a:sym typeface="Arial"/>
              </a:rPr>
              <a:t>or simply a </a:t>
            </a:r>
            <a:r>
              <a:rPr b="0" i="1" lang="en-US" sz="2800" u="none" cap="none" strike="noStrike">
                <a:solidFill>
                  <a:srgbClr val="000000"/>
                </a:solidFill>
                <a:latin typeface="Arial"/>
                <a:ea typeface="Arial"/>
                <a:cs typeface="Arial"/>
                <a:sym typeface="Arial"/>
              </a:rPr>
              <a:t>network </a:t>
            </a:r>
            <a:r>
              <a:rPr b="0" i="0" lang="en-US" sz="2800" u="none" cap="none" strike="noStrike">
                <a:solidFill>
                  <a:srgbClr val="000000"/>
                </a:solidFill>
                <a:latin typeface="Arial"/>
                <a:ea typeface="Arial"/>
                <a:cs typeface="Arial"/>
                <a:sym typeface="Arial"/>
              </a:rPr>
              <a:t>in the  Internet literature.</a:t>
            </a:r>
            <a:endParaRPr b="0" i="0" sz="2800" u="none" cap="none" strike="noStrike">
              <a:solidFill>
                <a:srgbClr val="000000"/>
              </a:solidFill>
              <a:latin typeface="Arial"/>
              <a:ea typeface="Arial"/>
              <a:cs typeface="Arial"/>
              <a:sym typeface="Arial"/>
            </a:endParaRPr>
          </a:p>
        </p:txBody>
      </p:sp>
      <p:sp>
        <p:nvSpPr>
          <p:cNvPr id="892" name="Google Shape;892;p67"/>
          <p:cNvSpPr/>
          <p:nvPr/>
        </p:nvSpPr>
        <p:spPr>
          <a:xfrm>
            <a:off x="3493007" y="2234127"/>
            <a:ext cx="6220644" cy="443032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6" name="Shape 896"/>
        <p:cNvGrpSpPr/>
        <p:nvPr/>
      </p:nvGrpSpPr>
      <p:grpSpPr>
        <a:xfrm>
          <a:off x="0" y="0"/>
          <a:ext cx="0" cy="0"/>
          <a:chOff x="0" y="0"/>
          <a:chExt cx="0" cy="0"/>
        </a:xfrm>
      </p:grpSpPr>
      <p:sp>
        <p:nvSpPr>
          <p:cNvPr id="897" name="Google Shape;897;p68"/>
          <p:cNvSpPr txBox="1"/>
          <p:nvPr/>
        </p:nvSpPr>
        <p:spPr>
          <a:xfrm>
            <a:off x="916939" y="541985"/>
            <a:ext cx="10297160" cy="4928870"/>
          </a:xfrm>
          <a:prstGeom prst="rect">
            <a:avLst/>
          </a:prstGeom>
          <a:noFill/>
          <a:ln>
            <a:noFill/>
          </a:ln>
        </p:spPr>
        <p:txBody>
          <a:bodyPr anchorCtr="0" anchor="t" bIns="0" lIns="0" spcFirstLastPara="1" rIns="0" wrap="square" tIns="60325">
            <a:spAutoFit/>
          </a:bodyPr>
          <a:lstStyle/>
          <a:p>
            <a:pPr indent="-228600" lvl="0" marL="241300" marR="5080" rtl="0" algn="l">
              <a:lnSpc>
                <a:spcPct val="108214"/>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the figure one router (with three interfaces) is used to interconnect  seven hosts.</a:t>
            </a:r>
            <a:endParaRPr b="0" i="0" sz="2800" u="none" cap="none" strike="noStrike">
              <a:solidFill>
                <a:srgbClr val="000000"/>
              </a:solidFill>
              <a:latin typeface="Arial"/>
              <a:ea typeface="Arial"/>
              <a:cs typeface="Arial"/>
              <a:sym typeface="Arial"/>
            </a:endParaRPr>
          </a:p>
          <a:p>
            <a:pPr indent="-228600" lvl="0" marL="241300" marR="382270" rtl="0" algn="l">
              <a:lnSpc>
                <a:spcPct val="107857"/>
              </a:lnSpc>
              <a:spcBef>
                <a:spcPts val="100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three hosts in the upper-left portion of Figure	and the router  interface to which they are connected, all have an IP address of the  form 223.1.1.xxx.</a:t>
            </a:r>
            <a:endParaRPr b="0" i="0" sz="2800" u="none" cap="none" strike="noStrike">
              <a:solidFill>
                <a:srgbClr val="000000"/>
              </a:solidFill>
              <a:latin typeface="Arial"/>
              <a:ea typeface="Arial"/>
              <a:cs typeface="Arial"/>
              <a:sym typeface="Arial"/>
            </a:endParaRPr>
          </a:p>
          <a:p>
            <a:pPr indent="-309880" lvl="0" marL="321945" marR="0" rtl="0" algn="l">
              <a:lnSpc>
                <a:spcPct val="100000"/>
              </a:lnSpc>
              <a:spcBef>
                <a:spcPts val="62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That is, they all have the same leftmost 24 bits in their IP address.</a:t>
            </a:r>
            <a:endParaRPr b="0" i="0" sz="2800" u="none" cap="none" strike="noStrike">
              <a:solidFill>
                <a:srgbClr val="000000"/>
              </a:solidFill>
              <a:latin typeface="Arial"/>
              <a:ea typeface="Arial"/>
              <a:cs typeface="Arial"/>
              <a:sym typeface="Arial"/>
            </a:endParaRPr>
          </a:p>
          <a:p>
            <a:pPr indent="-228600" lvl="0" marL="241300" marR="1075055" rtl="0" algn="l">
              <a:lnSpc>
                <a:spcPct val="107857"/>
              </a:lnSpc>
              <a:spcBef>
                <a:spcPts val="104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The four interfaces are also interconnected to each other by a  network </a:t>
            </a:r>
            <a:r>
              <a:rPr b="0" i="1" lang="en-US" sz="2800" u="none" cap="none" strike="noStrike">
                <a:solidFill>
                  <a:srgbClr val="000000"/>
                </a:solidFill>
                <a:latin typeface="Arial"/>
                <a:ea typeface="Arial"/>
                <a:cs typeface="Arial"/>
                <a:sym typeface="Arial"/>
              </a:rPr>
              <a:t>that contains no routers</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63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This network could be interconnected by an Ethernet LAN.</a:t>
            </a:r>
            <a:endParaRPr b="0" i="0" sz="2800" u="none" cap="none" strike="noStrike">
              <a:solidFill>
                <a:srgbClr val="000000"/>
              </a:solidFill>
              <a:latin typeface="Arial"/>
              <a:ea typeface="Arial"/>
              <a:cs typeface="Arial"/>
              <a:sym typeface="Arial"/>
            </a:endParaRPr>
          </a:p>
          <a:p>
            <a:pPr indent="-228600" lvl="0" marL="241300" marR="462915" rtl="0" algn="l">
              <a:lnSpc>
                <a:spcPct val="107857"/>
              </a:lnSpc>
              <a:spcBef>
                <a:spcPts val="104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IP terms, this network interconnecting three host interfaces and  one router interface forms a </a:t>
            </a:r>
            <a:r>
              <a:rPr b="1" i="0" lang="en-US" sz="2800" u="none" cap="none" strike="noStrike">
                <a:solidFill>
                  <a:srgbClr val="000000"/>
                </a:solidFill>
                <a:latin typeface="Arial"/>
                <a:ea typeface="Arial"/>
                <a:cs typeface="Arial"/>
                <a:sym typeface="Arial"/>
              </a:rPr>
              <a:t>subnet.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1" name="Shape 901"/>
        <p:cNvGrpSpPr/>
        <p:nvPr/>
      </p:nvGrpSpPr>
      <p:grpSpPr>
        <a:xfrm>
          <a:off x="0" y="0"/>
          <a:ext cx="0" cy="0"/>
          <a:chOff x="0" y="0"/>
          <a:chExt cx="0" cy="0"/>
        </a:xfrm>
      </p:grpSpPr>
      <p:sp>
        <p:nvSpPr>
          <p:cNvPr id="902" name="Google Shape;902;p69"/>
          <p:cNvSpPr txBox="1"/>
          <p:nvPr/>
        </p:nvSpPr>
        <p:spPr>
          <a:xfrm>
            <a:off x="916939" y="790702"/>
            <a:ext cx="10090785" cy="4290060"/>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IP addressing assigns an address to this subnet: 223.1.1.0/24, where  the /24 notation, sometimes known as a </a:t>
            </a:r>
            <a:r>
              <a:rPr b="1" i="0" lang="en-US" sz="2800" u="none" cap="none" strike="noStrike">
                <a:solidFill>
                  <a:srgbClr val="000000"/>
                </a:solidFill>
                <a:latin typeface="Arial"/>
                <a:ea typeface="Arial"/>
                <a:cs typeface="Arial"/>
                <a:sym typeface="Arial"/>
              </a:rPr>
              <a:t>subnet mask</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a:p>
            <a:pPr indent="-228600" lvl="0" marL="241300" marR="250825" rtl="0" algn="l">
              <a:lnSpc>
                <a:spcPct val="108214"/>
              </a:lnSpc>
              <a:spcBef>
                <a:spcPts val="100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Indicates that the leftmost 24 bits of the 32-bit quantity define the  subnet address.</a:t>
            </a:r>
            <a:endParaRPr b="0" i="0" sz="2800" u="none" cap="none" strike="noStrike">
              <a:solidFill>
                <a:srgbClr val="000000"/>
              </a:solidFill>
              <a:latin typeface="Arial"/>
              <a:ea typeface="Arial"/>
              <a:cs typeface="Arial"/>
              <a:sym typeface="Arial"/>
            </a:endParaRPr>
          </a:p>
          <a:p>
            <a:pPr indent="-228600" lvl="0" marL="241300" marR="0" rtl="0" algn="l">
              <a:lnSpc>
                <a:spcPct val="113928"/>
              </a:lnSpc>
              <a:spcBef>
                <a:spcPts val="61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Any additional hosts attached to the 223.1.1.0/24 subnet would be</a:t>
            </a:r>
            <a:endParaRPr b="0" i="0" sz="2800" u="none" cap="none" strike="noStrike">
              <a:solidFill>
                <a:srgbClr val="000000"/>
              </a:solidFill>
              <a:latin typeface="Arial"/>
              <a:ea typeface="Arial"/>
              <a:cs typeface="Arial"/>
              <a:sym typeface="Arial"/>
            </a:endParaRPr>
          </a:p>
          <a:p>
            <a:pPr indent="0" lvl="0" marL="241300" marR="0" rtl="0" algn="l">
              <a:lnSpc>
                <a:spcPct val="113928"/>
              </a:lnSpc>
              <a:spcBef>
                <a:spcPts val="0"/>
              </a:spcBef>
              <a:spcAft>
                <a:spcPts val="0"/>
              </a:spcAft>
              <a:buClr>
                <a:srgbClr val="000000"/>
              </a:buClr>
              <a:buSzPts val="2800"/>
              <a:buFont typeface="Arial"/>
              <a:buNone/>
            </a:pPr>
            <a:r>
              <a:rPr b="0" i="1" lang="en-US" sz="2800" u="none" cap="none" strike="noStrike">
                <a:solidFill>
                  <a:srgbClr val="000000"/>
                </a:solidFill>
                <a:latin typeface="Arial"/>
                <a:ea typeface="Arial"/>
                <a:cs typeface="Arial"/>
                <a:sym typeface="Arial"/>
              </a:rPr>
              <a:t>required </a:t>
            </a:r>
            <a:r>
              <a:rPr b="0" i="0" lang="en-US" sz="2800" u="none" cap="none" strike="noStrike">
                <a:solidFill>
                  <a:srgbClr val="000000"/>
                </a:solidFill>
                <a:latin typeface="Arial"/>
                <a:ea typeface="Arial"/>
                <a:cs typeface="Arial"/>
                <a:sym typeface="Arial"/>
              </a:rPr>
              <a:t>to have an address of the form 223.1.1.xxx.</a:t>
            </a:r>
            <a:endParaRPr b="0" i="0" sz="2800" u="none" cap="none" strike="noStrike">
              <a:solidFill>
                <a:srgbClr val="000000"/>
              </a:solidFill>
              <a:latin typeface="Arial"/>
              <a:ea typeface="Arial"/>
              <a:cs typeface="Arial"/>
              <a:sym typeface="Arial"/>
            </a:endParaRPr>
          </a:p>
          <a:p>
            <a:pPr indent="-228600" lvl="0" marL="241300" marR="384175" rtl="0" algn="l">
              <a:lnSpc>
                <a:spcPct val="107857"/>
              </a:lnSpc>
              <a:spcBef>
                <a:spcPts val="1050"/>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To determine the subnets, detach each interface from its host or  router, creating islands of isolated networks, with interfaces  terminating the end points of the isolated networks. Each of these  isolated networks is called a </a:t>
            </a:r>
            <a:r>
              <a:rPr b="1" i="1" lang="en-US" sz="2800" u="none" cap="none" strike="noStrike">
                <a:solidFill>
                  <a:srgbClr val="000000"/>
                </a:solidFill>
                <a:latin typeface="Arial"/>
                <a:ea typeface="Arial"/>
                <a:cs typeface="Arial"/>
                <a:sym typeface="Arial"/>
              </a:rPr>
              <a:t>subnet</a:t>
            </a:r>
            <a:r>
              <a:rPr b="0" i="1"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6" name="Shape 906"/>
        <p:cNvGrpSpPr/>
        <p:nvPr/>
      </p:nvGrpSpPr>
      <p:grpSpPr>
        <a:xfrm>
          <a:off x="0" y="0"/>
          <a:ext cx="0" cy="0"/>
          <a:chOff x="0" y="0"/>
          <a:chExt cx="0" cy="0"/>
        </a:xfrm>
      </p:grpSpPr>
      <p:sp>
        <p:nvSpPr>
          <p:cNvPr id="907" name="Google Shape;907;p70"/>
          <p:cNvSpPr txBox="1"/>
          <p:nvPr>
            <p:ph type="title"/>
          </p:nvPr>
        </p:nvSpPr>
        <p:spPr>
          <a:xfrm>
            <a:off x="916939" y="397840"/>
            <a:ext cx="659955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Classless Interdomain Routing</a:t>
            </a:r>
            <a:endParaRPr/>
          </a:p>
        </p:txBody>
      </p:sp>
      <p:sp>
        <p:nvSpPr>
          <p:cNvPr id="908" name="Google Shape;908;p70"/>
          <p:cNvSpPr txBox="1"/>
          <p:nvPr/>
        </p:nvSpPr>
        <p:spPr>
          <a:xfrm>
            <a:off x="916939" y="1207388"/>
            <a:ext cx="10152380" cy="4862830"/>
          </a:xfrm>
          <a:prstGeom prst="rect">
            <a:avLst/>
          </a:prstGeom>
          <a:noFill/>
          <a:ln>
            <a:noFill/>
          </a:ln>
        </p:spPr>
        <p:txBody>
          <a:bodyPr anchorCtr="0" anchor="t" bIns="0" lIns="0" spcFirstLastPara="1" rIns="0" wrap="square" tIns="89525">
            <a:spAutoFit/>
          </a:bodyPr>
          <a:lstStyle/>
          <a:p>
            <a:pPr indent="-228600" lvl="0" marL="241300" marR="1284605" rtl="0" algn="l">
              <a:lnSpc>
                <a:spcPct val="96153"/>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Internet’s address assignment strategy is known as </a:t>
            </a:r>
            <a:r>
              <a:rPr b="1" i="0" lang="en-US" sz="2600" u="none" cap="none" strike="noStrike">
                <a:solidFill>
                  <a:srgbClr val="000000"/>
                </a:solidFill>
                <a:latin typeface="Arial"/>
                <a:ea typeface="Arial"/>
                <a:cs typeface="Arial"/>
                <a:sym typeface="Arial"/>
              </a:rPr>
              <a:t>Classless  Interdomain Routing </a:t>
            </a:r>
            <a:r>
              <a:rPr b="0" i="0" lang="en-US" sz="2600" u="none" cap="none" strike="noStrike">
                <a:solidFill>
                  <a:srgbClr val="000000"/>
                </a:solidFill>
                <a:latin typeface="Arial"/>
                <a:ea typeface="Arial"/>
                <a:cs typeface="Arial"/>
                <a:sym typeface="Arial"/>
              </a:rPr>
              <a:t>(</a:t>
            </a:r>
            <a:r>
              <a:rPr b="1" i="0" lang="en-US" sz="2600" u="none" cap="none" strike="noStrike">
                <a:solidFill>
                  <a:srgbClr val="000000"/>
                </a:solidFill>
                <a:latin typeface="Arial"/>
                <a:ea typeface="Arial"/>
                <a:cs typeface="Arial"/>
                <a:sym typeface="Arial"/>
              </a:rPr>
              <a:t>CIDR</a:t>
            </a:r>
            <a:r>
              <a:rPr b="0" i="0" lang="en-US" sz="2600" u="none" cap="none" strike="noStrike">
                <a:solidFill>
                  <a:srgbClr val="000000"/>
                </a:solidFill>
                <a:latin typeface="Arial"/>
                <a:ea typeface="Arial"/>
                <a:cs typeface="Arial"/>
                <a:sym typeface="Arial"/>
              </a:rPr>
              <a:t>—pronounced </a:t>
            </a:r>
            <a:r>
              <a:rPr b="0" i="1" lang="en-US" sz="2600" u="none" cap="none" strike="noStrike">
                <a:solidFill>
                  <a:srgbClr val="000000"/>
                </a:solidFill>
                <a:latin typeface="Arial"/>
                <a:ea typeface="Arial"/>
                <a:cs typeface="Arial"/>
                <a:sym typeface="Arial"/>
              </a:rPr>
              <a:t>cider</a:t>
            </a:r>
            <a:r>
              <a:rPr b="0" i="0" lang="en-US" sz="2600" u="none" cap="none" strike="noStrike">
                <a:solidFill>
                  <a:srgbClr val="000000"/>
                </a:solidFill>
                <a:latin typeface="Arial"/>
                <a:ea typeface="Arial"/>
                <a:cs typeface="Arial"/>
                <a:sym typeface="Arial"/>
              </a:rPr>
              <a:t>) .</a:t>
            </a:r>
            <a:endParaRPr b="0" i="0" sz="2600" u="none" cap="none" strike="noStrike">
              <a:solidFill>
                <a:srgbClr val="000000"/>
              </a:solidFill>
              <a:latin typeface="Arial"/>
              <a:ea typeface="Arial"/>
              <a:cs typeface="Arial"/>
              <a:sym typeface="Arial"/>
            </a:endParaRPr>
          </a:p>
          <a:p>
            <a:pPr indent="-303530" lvl="0" marL="315595" marR="0" rtl="0" algn="l">
              <a:lnSpc>
                <a:spcPct val="100000"/>
              </a:lnSpc>
              <a:spcBef>
                <a:spcPts val="39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CIDR generalizes the notion of subnet addressing.</a:t>
            </a:r>
            <a:endParaRPr b="0" i="0" sz="2600" u="none" cap="none" strike="noStrike">
              <a:solidFill>
                <a:srgbClr val="000000"/>
              </a:solidFill>
              <a:latin typeface="Arial"/>
              <a:ea typeface="Arial"/>
              <a:cs typeface="Arial"/>
              <a:sym typeface="Arial"/>
            </a:endParaRPr>
          </a:p>
          <a:p>
            <a:pPr indent="-228600" lvl="0" marL="241300" marR="184150" rtl="0" algn="l">
              <a:lnSpc>
                <a:spcPct val="96153"/>
              </a:lnSpc>
              <a:spcBef>
                <a:spcPts val="98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As with subnet addressing, the 32-bit IP address is divided into two parts  and again has the dotted-decimal form </a:t>
            </a:r>
            <a:r>
              <a:rPr b="0" i="1" lang="en-US" sz="2600" u="none" cap="none" strike="noStrike">
                <a:solidFill>
                  <a:srgbClr val="000000"/>
                </a:solidFill>
                <a:latin typeface="Arial"/>
                <a:ea typeface="Arial"/>
                <a:cs typeface="Arial"/>
                <a:sym typeface="Arial"/>
              </a:rPr>
              <a:t>a.b.c.d/x</a:t>
            </a:r>
            <a:r>
              <a:rPr b="0" i="0" lang="en-US" sz="2600" u="none" cap="none" strike="noStrike">
                <a:solidFill>
                  <a:srgbClr val="000000"/>
                </a:solidFill>
                <a:latin typeface="Arial"/>
                <a:ea typeface="Arial"/>
                <a:cs typeface="Arial"/>
                <a:sym typeface="Arial"/>
              </a:rPr>
              <a:t>, where </a:t>
            </a:r>
            <a:r>
              <a:rPr b="0" i="1" lang="en-US" sz="2600" u="none" cap="none" strike="noStrike">
                <a:solidFill>
                  <a:srgbClr val="000000"/>
                </a:solidFill>
                <a:latin typeface="Arial"/>
                <a:ea typeface="Arial"/>
                <a:cs typeface="Arial"/>
                <a:sym typeface="Arial"/>
              </a:rPr>
              <a:t>x </a:t>
            </a:r>
            <a:r>
              <a:rPr b="0" i="0" lang="en-US" sz="2600" u="none" cap="none" strike="noStrike">
                <a:solidFill>
                  <a:srgbClr val="000000"/>
                </a:solidFill>
                <a:latin typeface="Arial"/>
                <a:ea typeface="Arial"/>
                <a:cs typeface="Arial"/>
                <a:sym typeface="Arial"/>
              </a:rPr>
              <a:t>indicates the  number of bits in the first part of the address.</a:t>
            </a:r>
            <a:endParaRPr b="0" i="0" sz="2600" u="none" cap="none" strike="noStrike">
              <a:solidFill>
                <a:srgbClr val="000000"/>
              </a:solidFill>
              <a:latin typeface="Arial"/>
              <a:ea typeface="Arial"/>
              <a:cs typeface="Arial"/>
              <a:sym typeface="Arial"/>
            </a:endParaRPr>
          </a:p>
          <a:p>
            <a:pPr indent="-228600" lvl="0" marL="241300" marR="299085" rtl="0" algn="l">
              <a:lnSpc>
                <a:spcPct val="80000"/>
              </a:lnSpc>
              <a:spcBef>
                <a:spcPts val="101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a:t>
            </a:r>
            <a:r>
              <a:rPr b="0" i="1" lang="en-US" sz="2600" u="none" cap="none" strike="noStrike">
                <a:solidFill>
                  <a:srgbClr val="000000"/>
                </a:solidFill>
                <a:latin typeface="Arial"/>
                <a:ea typeface="Arial"/>
                <a:cs typeface="Arial"/>
                <a:sym typeface="Arial"/>
              </a:rPr>
              <a:t>x </a:t>
            </a:r>
            <a:r>
              <a:rPr b="0" i="0" lang="en-US" sz="2600" u="none" cap="none" strike="noStrike">
                <a:solidFill>
                  <a:srgbClr val="000000"/>
                </a:solidFill>
                <a:latin typeface="Arial"/>
                <a:ea typeface="Arial"/>
                <a:cs typeface="Arial"/>
                <a:sym typeface="Arial"/>
              </a:rPr>
              <a:t>most significant bits of an address of the form </a:t>
            </a:r>
            <a:r>
              <a:rPr b="0" i="1" lang="en-US" sz="2600" u="none" cap="none" strike="noStrike">
                <a:solidFill>
                  <a:srgbClr val="000000"/>
                </a:solidFill>
                <a:latin typeface="Arial"/>
                <a:ea typeface="Arial"/>
                <a:cs typeface="Arial"/>
                <a:sym typeface="Arial"/>
              </a:rPr>
              <a:t>a.b.c.d/x </a:t>
            </a:r>
            <a:r>
              <a:rPr b="0" i="0" lang="en-US" sz="2600" u="none" cap="none" strike="noStrike">
                <a:solidFill>
                  <a:srgbClr val="000000"/>
                </a:solidFill>
                <a:latin typeface="Arial"/>
                <a:ea typeface="Arial"/>
                <a:cs typeface="Arial"/>
                <a:sym typeface="Arial"/>
              </a:rPr>
              <a:t>constitute  the network portion of the IP address, and are often referred to as the  </a:t>
            </a:r>
            <a:r>
              <a:rPr b="1" i="0" lang="en-US" sz="2600" u="none" cap="none" strike="noStrike">
                <a:solidFill>
                  <a:srgbClr val="000000"/>
                </a:solidFill>
                <a:latin typeface="Arial"/>
                <a:ea typeface="Arial"/>
                <a:cs typeface="Arial"/>
                <a:sym typeface="Arial"/>
              </a:rPr>
              <a:t>prefix </a:t>
            </a:r>
            <a:r>
              <a:rPr b="0" i="0" lang="en-US" sz="2600" u="none" cap="none" strike="noStrike">
                <a:solidFill>
                  <a:srgbClr val="000000"/>
                </a:solidFill>
                <a:latin typeface="Arial"/>
                <a:ea typeface="Arial"/>
                <a:cs typeface="Arial"/>
                <a:sym typeface="Arial"/>
              </a:rPr>
              <a:t>(or </a:t>
            </a:r>
            <a:r>
              <a:rPr b="0" i="1" lang="en-US" sz="2600" u="none" cap="none" strike="noStrike">
                <a:solidFill>
                  <a:srgbClr val="000000"/>
                </a:solidFill>
                <a:latin typeface="Arial"/>
                <a:ea typeface="Arial"/>
                <a:cs typeface="Arial"/>
                <a:sym typeface="Arial"/>
              </a:rPr>
              <a:t>network prefix</a:t>
            </a:r>
            <a:r>
              <a:rPr b="0" i="0" lang="en-US" sz="2600" u="none" cap="none" strike="noStrike">
                <a:solidFill>
                  <a:srgbClr val="000000"/>
                </a:solidFill>
                <a:latin typeface="Arial"/>
                <a:ea typeface="Arial"/>
                <a:cs typeface="Arial"/>
                <a:sym typeface="Arial"/>
              </a:rPr>
              <a:t>) of the address.</a:t>
            </a:r>
            <a:endParaRPr b="0" i="0" sz="2600" u="none" cap="none" strike="noStrike">
              <a:solidFill>
                <a:srgbClr val="000000"/>
              </a:solidFill>
              <a:latin typeface="Arial"/>
              <a:ea typeface="Arial"/>
              <a:cs typeface="Arial"/>
              <a:sym typeface="Arial"/>
            </a:endParaRPr>
          </a:p>
          <a:p>
            <a:pPr indent="-228600" lvl="0" marL="241300" marR="5080" rtl="0" algn="l">
              <a:lnSpc>
                <a:spcPct val="96153"/>
              </a:lnSpc>
              <a:spcBef>
                <a:spcPts val="969"/>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600" u="none" cap="none" strike="noStrike">
                <a:solidFill>
                  <a:srgbClr val="000000"/>
                </a:solidFill>
                <a:latin typeface="Arial"/>
                <a:ea typeface="Arial"/>
                <a:cs typeface="Arial"/>
                <a:sym typeface="Arial"/>
              </a:rPr>
              <a:t>An organization is typically assigned a block of contiguous addresses, that  is, a range of addresses with a common prefix .</a:t>
            </a:r>
            <a:endParaRPr b="0" i="0" sz="2600" u="none" cap="none" strike="noStrike">
              <a:solidFill>
                <a:srgbClr val="000000"/>
              </a:solidFill>
              <a:latin typeface="Arial"/>
              <a:ea typeface="Arial"/>
              <a:cs typeface="Arial"/>
              <a:sym typeface="Arial"/>
            </a:endParaRPr>
          </a:p>
          <a:p>
            <a:pPr indent="-228600" lvl="0" marL="241300" marR="140970" rtl="0" algn="l">
              <a:lnSpc>
                <a:spcPct val="96153"/>
              </a:lnSpc>
              <a:spcBef>
                <a:spcPts val="100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In this case, the IP addresses of devices within the organization will share  the common prefix.</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2" name="Shape 912"/>
        <p:cNvGrpSpPr/>
        <p:nvPr/>
      </p:nvGrpSpPr>
      <p:grpSpPr>
        <a:xfrm>
          <a:off x="0" y="0"/>
          <a:ext cx="0" cy="0"/>
          <a:chOff x="0" y="0"/>
          <a:chExt cx="0" cy="0"/>
        </a:xfrm>
      </p:grpSpPr>
      <p:sp>
        <p:nvSpPr>
          <p:cNvPr id="913" name="Google Shape;913;p71"/>
          <p:cNvSpPr txBox="1"/>
          <p:nvPr>
            <p:ph type="title"/>
          </p:nvPr>
        </p:nvSpPr>
        <p:spPr>
          <a:xfrm>
            <a:off x="916939" y="609676"/>
            <a:ext cx="679069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Obtaining a Block of Addresses</a:t>
            </a:r>
            <a:endParaRPr/>
          </a:p>
        </p:txBody>
      </p:sp>
      <p:sp>
        <p:nvSpPr>
          <p:cNvPr id="914" name="Google Shape;914;p71"/>
          <p:cNvSpPr txBox="1"/>
          <p:nvPr/>
        </p:nvSpPr>
        <p:spPr>
          <a:xfrm>
            <a:off x="916939" y="1766062"/>
            <a:ext cx="10326370" cy="3973829"/>
          </a:xfrm>
          <a:prstGeom prst="rect">
            <a:avLst/>
          </a:prstGeom>
          <a:noFill/>
          <a:ln>
            <a:noFill/>
          </a:ln>
        </p:spPr>
        <p:txBody>
          <a:bodyPr anchorCtr="0" anchor="t" bIns="0" lIns="0" spcFirstLastPara="1" rIns="0" wrap="square" tIns="92075">
            <a:spAutoFit/>
          </a:bodyPr>
          <a:lstStyle/>
          <a:p>
            <a:pPr indent="-228600" lvl="0" marL="241300" marR="280035" rtl="0" algn="l">
              <a:lnSpc>
                <a:spcPct val="8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In order to obtain a block of IP addresses for use within an organization’s  subnet, a network administrator might first contact its ISP, which would  provide addresses from a larger block of addresses that had already been  allocated to the ISP.</a:t>
            </a:r>
            <a:endParaRPr b="0" i="0" sz="2600" u="none" cap="none" strike="noStrike">
              <a:solidFill>
                <a:srgbClr val="000000"/>
              </a:solidFill>
              <a:latin typeface="Arial"/>
              <a:ea typeface="Arial"/>
              <a:cs typeface="Arial"/>
              <a:sym typeface="Arial"/>
            </a:endParaRPr>
          </a:p>
          <a:p>
            <a:pPr indent="-228600" lvl="0" marL="241300" marR="725805" rtl="0" algn="l">
              <a:lnSpc>
                <a:spcPct val="96153"/>
              </a:lnSpc>
              <a:spcBef>
                <a:spcPts val="97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600" u="none" cap="none" strike="noStrike">
                <a:solidFill>
                  <a:srgbClr val="000000"/>
                </a:solidFill>
                <a:latin typeface="Arial"/>
                <a:ea typeface="Arial"/>
                <a:cs typeface="Arial"/>
                <a:sym typeface="Arial"/>
              </a:rPr>
              <a:t>For example, the ISP may itself have been allocated the address block  200.23.16.0/20.</a:t>
            </a:r>
            <a:endParaRPr b="0" i="0" sz="2600" u="none" cap="none" strike="noStrike">
              <a:solidFill>
                <a:srgbClr val="000000"/>
              </a:solidFill>
              <a:latin typeface="Arial"/>
              <a:ea typeface="Arial"/>
              <a:cs typeface="Arial"/>
              <a:sym typeface="Arial"/>
            </a:endParaRPr>
          </a:p>
          <a:p>
            <a:pPr indent="-228600" lvl="0" marL="241300" marR="5080" rtl="0" algn="l">
              <a:lnSpc>
                <a:spcPct val="80000"/>
              </a:lnSpc>
              <a:spcBef>
                <a:spcPts val="1019"/>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ISP, in turn, could divide its address block into eight equal-sized  contiguous address blocks and give one of these address blocks out to each  of up to eight organizations that are supported by this ISP.</a:t>
            </a:r>
            <a:endParaRPr b="0" i="0" sz="2600" u="none" cap="none" strike="noStrike">
              <a:solidFill>
                <a:srgbClr val="000000"/>
              </a:solidFill>
              <a:latin typeface="Arial"/>
              <a:ea typeface="Arial"/>
              <a:cs typeface="Arial"/>
              <a:sym typeface="Arial"/>
            </a:endParaRPr>
          </a:p>
          <a:p>
            <a:pPr indent="-228600" lvl="0" marL="241300" marR="160655" rtl="0" algn="l">
              <a:lnSpc>
                <a:spcPct val="96153"/>
              </a:lnSpc>
              <a:spcBef>
                <a:spcPts val="97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IP addresses are managed under the authority of the Internet Corporation  for Assigned Names and Numbers (ICANN).</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8" name="Shape 918"/>
        <p:cNvGrpSpPr/>
        <p:nvPr/>
      </p:nvGrpSpPr>
      <p:grpSpPr>
        <a:xfrm>
          <a:off x="0" y="0"/>
          <a:ext cx="0" cy="0"/>
          <a:chOff x="0" y="0"/>
          <a:chExt cx="0" cy="0"/>
        </a:xfrm>
      </p:grpSpPr>
      <p:sp>
        <p:nvSpPr>
          <p:cNvPr id="919" name="Google Shape;919;p72"/>
          <p:cNvSpPr/>
          <p:nvPr/>
        </p:nvSpPr>
        <p:spPr>
          <a:xfrm>
            <a:off x="1390696" y="2072291"/>
            <a:ext cx="9957899" cy="297695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3" name="Shape 923"/>
        <p:cNvGrpSpPr/>
        <p:nvPr/>
      </p:nvGrpSpPr>
      <p:grpSpPr>
        <a:xfrm>
          <a:off x="0" y="0"/>
          <a:ext cx="0" cy="0"/>
          <a:chOff x="0" y="0"/>
          <a:chExt cx="0" cy="0"/>
        </a:xfrm>
      </p:grpSpPr>
      <p:sp>
        <p:nvSpPr>
          <p:cNvPr id="924" name="Google Shape;924;p73"/>
          <p:cNvSpPr txBox="1"/>
          <p:nvPr>
            <p:ph type="title"/>
          </p:nvPr>
        </p:nvSpPr>
        <p:spPr>
          <a:xfrm>
            <a:off x="916939" y="308228"/>
            <a:ext cx="10358120" cy="1300480"/>
          </a:xfrm>
          <a:prstGeom prst="rect">
            <a:avLst/>
          </a:prstGeom>
          <a:noFill/>
          <a:ln>
            <a:noFill/>
          </a:ln>
        </p:spPr>
        <p:txBody>
          <a:bodyPr anchorCtr="0" anchor="t" bIns="0" lIns="0" spcFirstLastPara="1" rIns="0" wrap="square" tIns="88900">
            <a:spAutoFit/>
          </a:bodyPr>
          <a:lstStyle/>
          <a:p>
            <a:pPr indent="0" lvl="0" marL="12700" marR="5080" rtl="0" algn="l">
              <a:lnSpc>
                <a:spcPct val="107954"/>
              </a:lnSpc>
              <a:spcBef>
                <a:spcPts val="0"/>
              </a:spcBef>
              <a:spcAft>
                <a:spcPts val="0"/>
              </a:spcAft>
              <a:buNone/>
            </a:pPr>
            <a:r>
              <a:rPr lang="en-US"/>
              <a:t>Obtaining a Host Address: the Dynamic Host  Configuration Protocol</a:t>
            </a:r>
            <a:endParaRPr/>
          </a:p>
        </p:txBody>
      </p:sp>
      <p:sp>
        <p:nvSpPr>
          <p:cNvPr id="925" name="Google Shape;925;p73"/>
          <p:cNvSpPr txBox="1"/>
          <p:nvPr/>
        </p:nvSpPr>
        <p:spPr>
          <a:xfrm>
            <a:off x="916939" y="1759966"/>
            <a:ext cx="10176510" cy="4715510"/>
          </a:xfrm>
          <a:prstGeom prst="rect">
            <a:avLst/>
          </a:prstGeom>
          <a:noFill/>
          <a:ln>
            <a:noFill/>
          </a:ln>
        </p:spPr>
        <p:txBody>
          <a:bodyPr anchorCtr="0" anchor="t" bIns="0" lIns="0" spcFirstLastPara="1" rIns="0" wrap="square" tIns="97150">
            <a:spAutoFit/>
          </a:bodyPr>
          <a:lstStyle/>
          <a:p>
            <a:pPr indent="-228600" lvl="0" marL="241300" marR="5080" rtl="0" algn="l">
              <a:lnSpc>
                <a:spcPct val="8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Once an organization has obtained a block of addresses, it can assign  individual IP addresses to the host and router interfaces in its  organization.</a:t>
            </a:r>
            <a:endParaRPr b="0" i="0" sz="2800" u="none" cap="none" strike="noStrike">
              <a:solidFill>
                <a:srgbClr val="000000"/>
              </a:solidFill>
              <a:latin typeface="Arial"/>
              <a:ea typeface="Arial"/>
              <a:cs typeface="Arial"/>
              <a:sym typeface="Arial"/>
            </a:endParaRPr>
          </a:p>
          <a:p>
            <a:pPr indent="-228600" lvl="0" marL="241300" marR="996314" rtl="0" algn="l">
              <a:lnSpc>
                <a:spcPct val="80000"/>
              </a:lnSpc>
              <a:spcBef>
                <a:spcPts val="10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system administrator will typically manually configure the IP  addresses into the router (often remotely, with a network  management tool).</a:t>
            </a:r>
            <a:endParaRPr b="0" i="0" sz="2800" u="none" cap="none" strike="noStrike">
              <a:solidFill>
                <a:srgbClr val="000000"/>
              </a:solidFill>
              <a:latin typeface="Arial"/>
              <a:ea typeface="Arial"/>
              <a:cs typeface="Arial"/>
              <a:sym typeface="Arial"/>
            </a:endParaRPr>
          </a:p>
          <a:p>
            <a:pPr indent="-228600" lvl="0" marL="241300" marR="78740" rtl="0" algn="l">
              <a:lnSpc>
                <a:spcPct val="96071"/>
              </a:lnSpc>
              <a:spcBef>
                <a:spcPts val="98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Host addresses can also be configured manually, but more often this  task is now done using the </a:t>
            </a:r>
            <a:r>
              <a:rPr b="1" i="0" lang="en-US" sz="2800" u="none" cap="none" strike="noStrike">
                <a:solidFill>
                  <a:srgbClr val="000000"/>
                </a:solidFill>
                <a:latin typeface="Arial"/>
                <a:ea typeface="Arial"/>
                <a:cs typeface="Arial"/>
                <a:sym typeface="Arial"/>
              </a:rPr>
              <a:t>Dynamic Host Configuration Protocol  (DHCP).</a:t>
            </a:r>
            <a:endParaRPr b="0" i="0" sz="2800" u="none" cap="none" strike="noStrike">
              <a:solidFill>
                <a:srgbClr val="000000"/>
              </a:solidFill>
              <a:latin typeface="Arial"/>
              <a:ea typeface="Arial"/>
              <a:cs typeface="Arial"/>
              <a:sym typeface="Arial"/>
            </a:endParaRPr>
          </a:p>
          <a:p>
            <a:pPr indent="-228600" lvl="0" marL="241300" marR="1727200" rtl="0" algn="l">
              <a:lnSpc>
                <a:spcPct val="96071"/>
              </a:lnSpc>
              <a:spcBef>
                <a:spcPts val="99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DHCP allows a host to obtain (be allocated) an IP address  automatically.</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35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 network administrator can configure DHCP.</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9" name="Shape 929"/>
        <p:cNvGrpSpPr/>
        <p:nvPr/>
      </p:nvGrpSpPr>
      <p:grpSpPr>
        <a:xfrm>
          <a:off x="0" y="0"/>
          <a:ext cx="0" cy="0"/>
          <a:chOff x="0" y="0"/>
          <a:chExt cx="0" cy="0"/>
        </a:xfrm>
      </p:grpSpPr>
      <p:sp>
        <p:nvSpPr>
          <p:cNvPr id="930" name="Google Shape;930;p74"/>
          <p:cNvSpPr txBox="1"/>
          <p:nvPr/>
        </p:nvSpPr>
        <p:spPr>
          <a:xfrm>
            <a:off x="916939" y="660018"/>
            <a:ext cx="10301605" cy="4163695"/>
          </a:xfrm>
          <a:prstGeom prst="rect">
            <a:avLst/>
          </a:prstGeom>
          <a:noFill/>
          <a:ln>
            <a:noFill/>
          </a:ln>
        </p:spPr>
        <p:txBody>
          <a:bodyPr anchorCtr="0" anchor="t" bIns="0" lIns="0" spcFirstLastPara="1" rIns="0" wrap="square" tIns="59675">
            <a:spAutoFit/>
          </a:bodyPr>
          <a:lstStyle/>
          <a:p>
            <a:pPr indent="-228600" lvl="0" marL="241300" marR="181610" rtl="0" algn="just">
              <a:lnSpc>
                <a:spcPct val="108214"/>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Given host receives the same IP address each time it connects to the  network, or a host may be assigned a </a:t>
            </a:r>
            <a:r>
              <a:rPr b="1" i="0" lang="en-US" sz="2800" u="none" cap="none" strike="noStrike">
                <a:solidFill>
                  <a:srgbClr val="000000"/>
                </a:solidFill>
                <a:latin typeface="Arial"/>
                <a:ea typeface="Arial"/>
                <a:cs typeface="Arial"/>
                <a:sym typeface="Arial"/>
              </a:rPr>
              <a:t>temporary IP address </a:t>
            </a:r>
            <a:r>
              <a:rPr b="0" i="0" lang="en-US" sz="2800" u="none" cap="none" strike="noStrike">
                <a:solidFill>
                  <a:srgbClr val="000000"/>
                </a:solidFill>
                <a:latin typeface="Arial"/>
                <a:ea typeface="Arial"/>
                <a:cs typeface="Arial"/>
                <a:sym typeface="Arial"/>
              </a:rPr>
              <a:t>that will  be different each time the host connects to the network.</a:t>
            </a:r>
            <a:endParaRPr b="0" i="0" sz="2800" u="none" cap="none" strike="noStrike">
              <a:solidFill>
                <a:srgbClr val="000000"/>
              </a:solidFill>
              <a:latin typeface="Arial"/>
              <a:ea typeface="Arial"/>
              <a:cs typeface="Arial"/>
              <a:sym typeface="Arial"/>
            </a:endParaRPr>
          </a:p>
          <a:p>
            <a:pPr indent="-228600" lvl="0" marL="241300" marR="5080" rtl="0" algn="l">
              <a:lnSpc>
                <a:spcPct val="90000"/>
              </a:lnSpc>
              <a:spcBef>
                <a:spcPts val="95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In addition to host IP address assignment, DHCP also allows a host to  learn additional information, such as its subnet mask, the address of  its first-hop router (often called the default gateway), and the address  of its local DNS server.</a:t>
            </a:r>
            <a:endParaRPr b="0" i="0" sz="2800" u="none" cap="none" strike="noStrike">
              <a:solidFill>
                <a:srgbClr val="000000"/>
              </a:solidFill>
              <a:latin typeface="Arial"/>
              <a:ea typeface="Arial"/>
              <a:cs typeface="Arial"/>
              <a:sym typeface="Arial"/>
            </a:endParaRPr>
          </a:p>
          <a:p>
            <a:pPr indent="-228600" lvl="0" marL="241300" marR="17780" rtl="0" algn="just">
              <a:lnSpc>
                <a:spcPct val="108214"/>
              </a:lnSpc>
              <a:spcBef>
                <a:spcPts val="103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Because of DHCP’s ability to automate the network-related aspects of  connecting a host into a network, it is often referred to as a </a:t>
            </a:r>
            <a:r>
              <a:rPr b="1" i="0" lang="en-US" sz="2800" u="none" cap="none" strike="noStrike">
                <a:solidFill>
                  <a:srgbClr val="000000"/>
                </a:solidFill>
                <a:latin typeface="Arial"/>
                <a:ea typeface="Arial"/>
                <a:cs typeface="Arial"/>
                <a:sym typeface="Arial"/>
              </a:rPr>
              <a:t>plug-and-  play protocol</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4" name="Shape 934"/>
        <p:cNvGrpSpPr/>
        <p:nvPr/>
      </p:nvGrpSpPr>
      <p:grpSpPr>
        <a:xfrm>
          <a:off x="0" y="0"/>
          <a:ext cx="0" cy="0"/>
          <a:chOff x="0" y="0"/>
          <a:chExt cx="0" cy="0"/>
        </a:xfrm>
      </p:grpSpPr>
      <p:sp>
        <p:nvSpPr>
          <p:cNvPr id="935" name="Google Shape;935;p75"/>
          <p:cNvSpPr txBox="1"/>
          <p:nvPr/>
        </p:nvSpPr>
        <p:spPr>
          <a:xfrm>
            <a:off x="916939" y="295732"/>
            <a:ext cx="10280015" cy="5944235"/>
          </a:xfrm>
          <a:prstGeom prst="rect">
            <a:avLst/>
          </a:prstGeom>
          <a:noFill/>
          <a:ln>
            <a:noFill/>
          </a:ln>
        </p:spPr>
        <p:txBody>
          <a:bodyPr anchorCtr="0" anchor="t" bIns="0" lIns="0" spcFirstLastPara="1" rIns="0" wrap="square" tIns="113025">
            <a:spAutoFit/>
          </a:bodyPr>
          <a:lstStyle/>
          <a:p>
            <a:pPr indent="-228600" lvl="0" marL="241300" marR="393065" rtl="0" algn="l">
              <a:lnSpc>
                <a:spcPct val="70000"/>
              </a:lnSpc>
              <a:spcBef>
                <a:spcPts val="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This capability makes it </a:t>
            </a:r>
            <a:r>
              <a:rPr b="0" i="1" lang="en-US" sz="2200" u="none" cap="none" strike="noStrike">
                <a:solidFill>
                  <a:srgbClr val="000000"/>
                </a:solidFill>
                <a:latin typeface="Arial"/>
                <a:ea typeface="Arial"/>
                <a:cs typeface="Arial"/>
                <a:sym typeface="Arial"/>
              </a:rPr>
              <a:t>very </a:t>
            </a:r>
            <a:r>
              <a:rPr b="0" i="0" lang="en-US" sz="2200" u="none" cap="none" strike="noStrike">
                <a:solidFill>
                  <a:srgbClr val="000000"/>
                </a:solidFill>
                <a:latin typeface="Arial"/>
                <a:ea typeface="Arial"/>
                <a:cs typeface="Arial"/>
                <a:sym typeface="Arial"/>
              </a:rPr>
              <a:t>attractive to the network administrator who would  otherwise have to perform these tasks manually!</a:t>
            </a:r>
            <a:endParaRPr b="0" i="0" sz="2200" u="none" cap="none" strike="noStrike">
              <a:solidFill>
                <a:srgbClr val="000000"/>
              </a:solidFill>
              <a:latin typeface="Arial"/>
              <a:ea typeface="Arial"/>
              <a:cs typeface="Arial"/>
              <a:sym typeface="Arial"/>
            </a:endParaRPr>
          </a:p>
          <a:p>
            <a:pPr indent="-228600" lvl="0" marL="241300" marR="393065" rtl="0" algn="l">
              <a:lnSpc>
                <a:spcPct val="70000"/>
              </a:lnSpc>
              <a:spcBef>
                <a:spcPts val="10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DHCP is also enjoying widespread use in residential Internet access networks  and in wireless LANs, where hosts join and leave the network frequently.</a:t>
            </a:r>
            <a:endParaRPr b="0" i="0" sz="2200" u="none" cap="none" strike="noStrike">
              <a:solidFill>
                <a:srgbClr val="000000"/>
              </a:solidFill>
              <a:latin typeface="Arial"/>
              <a:ea typeface="Arial"/>
              <a:cs typeface="Arial"/>
              <a:sym typeface="Arial"/>
            </a:endParaRPr>
          </a:p>
          <a:p>
            <a:pPr indent="-228600" lvl="0" marL="241300" marR="0" rtl="0" algn="l">
              <a:lnSpc>
                <a:spcPct val="102045"/>
              </a:lnSpc>
              <a:spcBef>
                <a:spcPts val="20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Consider, for example, the student who carries a laptop from a dormitory room to</a:t>
            </a:r>
            <a:endParaRPr b="0" i="0" sz="2200" u="none" cap="none" strike="noStrike">
              <a:solidFill>
                <a:srgbClr val="000000"/>
              </a:solidFill>
              <a:latin typeface="Arial"/>
              <a:ea typeface="Arial"/>
              <a:cs typeface="Arial"/>
              <a:sym typeface="Arial"/>
            </a:endParaRPr>
          </a:p>
          <a:p>
            <a:pPr indent="0" lvl="0" marL="241300" marR="0" rtl="0" algn="l">
              <a:lnSpc>
                <a:spcPct val="8409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 library to a classroom. It is likely that in each location, the student will be</a:t>
            </a:r>
            <a:endParaRPr b="0" i="0" sz="2200" u="none" cap="none" strike="noStrike">
              <a:solidFill>
                <a:srgbClr val="000000"/>
              </a:solidFill>
              <a:latin typeface="Arial"/>
              <a:ea typeface="Arial"/>
              <a:cs typeface="Arial"/>
              <a:sym typeface="Arial"/>
            </a:endParaRPr>
          </a:p>
          <a:p>
            <a:pPr indent="0" lvl="0" marL="241300" marR="0" rtl="0" algn="l">
              <a:lnSpc>
                <a:spcPct val="8409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connecting into a new subnet and hence will need a new IP address at each</a:t>
            </a:r>
            <a:endParaRPr b="0" i="0" sz="2200" u="none" cap="none" strike="noStrike">
              <a:solidFill>
                <a:srgbClr val="000000"/>
              </a:solidFill>
              <a:latin typeface="Arial"/>
              <a:ea typeface="Arial"/>
              <a:cs typeface="Arial"/>
              <a:sym typeface="Arial"/>
            </a:endParaRPr>
          </a:p>
          <a:p>
            <a:pPr indent="0" lvl="0" marL="241300" marR="0" rtl="0" algn="l">
              <a:lnSpc>
                <a:spcPct val="102045"/>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location.</a:t>
            </a:r>
            <a:endParaRPr b="0" i="0" sz="2200" u="none" cap="none" strike="noStrike">
              <a:solidFill>
                <a:srgbClr val="000000"/>
              </a:solidFill>
              <a:latin typeface="Arial"/>
              <a:ea typeface="Arial"/>
              <a:cs typeface="Arial"/>
              <a:sym typeface="Arial"/>
            </a:endParaRPr>
          </a:p>
          <a:p>
            <a:pPr indent="-228600" lvl="0" marL="241300" marR="626110" rtl="0" algn="l">
              <a:lnSpc>
                <a:spcPct val="70000"/>
              </a:lnSpc>
              <a:spcBef>
                <a:spcPts val="1010"/>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DHCP is ideally suited to this situation, as there are many users coming and  going, and addresses are needed for only a limited amount of time.</a:t>
            </a:r>
            <a:endParaRPr b="0" i="0" sz="2200" u="none" cap="none" strike="noStrike">
              <a:solidFill>
                <a:srgbClr val="000000"/>
              </a:solidFill>
              <a:latin typeface="Arial"/>
              <a:ea typeface="Arial"/>
              <a:cs typeface="Arial"/>
              <a:sym typeface="Arial"/>
            </a:endParaRPr>
          </a:p>
          <a:p>
            <a:pPr indent="-228600" lvl="0" marL="241300" marR="0" rtl="0" algn="l">
              <a:lnSpc>
                <a:spcPct val="100000"/>
              </a:lnSpc>
              <a:spcBef>
                <a:spcPts val="204"/>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DHCP is similarly useful in residential ISP access networks.</a:t>
            </a:r>
            <a:endParaRPr b="0" i="0" sz="2200" u="none" cap="none" strike="noStrike">
              <a:solidFill>
                <a:srgbClr val="000000"/>
              </a:solidFill>
              <a:latin typeface="Arial"/>
              <a:ea typeface="Arial"/>
              <a:cs typeface="Arial"/>
              <a:sym typeface="Arial"/>
            </a:endParaRPr>
          </a:p>
          <a:p>
            <a:pPr indent="-228600" lvl="0" marL="241300" marR="0" rtl="0" algn="l">
              <a:lnSpc>
                <a:spcPct val="102045"/>
              </a:lnSpc>
              <a:spcBef>
                <a:spcPts val="204"/>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Consider, for example, a residential ISP that has 2,000 customers, but no more</a:t>
            </a:r>
            <a:endParaRPr b="0" i="0" sz="2200" u="none" cap="none" strike="noStrike">
              <a:solidFill>
                <a:srgbClr val="000000"/>
              </a:solidFill>
              <a:latin typeface="Arial"/>
              <a:ea typeface="Arial"/>
              <a:cs typeface="Arial"/>
              <a:sym typeface="Arial"/>
            </a:endParaRPr>
          </a:p>
          <a:p>
            <a:pPr indent="0" lvl="0" marL="241300" marR="0" rtl="0" algn="l">
              <a:lnSpc>
                <a:spcPct val="8409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than 400 customers are ever online at the same time. In this case, rather than</a:t>
            </a:r>
            <a:endParaRPr b="0" i="0" sz="2200" u="none" cap="none" strike="noStrike">
              <a:solidFill>
                <a:srgbClr val="000000"/>
              </a:solidFill>
              <a:latin typeface="Arial"/>
              <a:ea typeface="Arial"/>
              <a:cs typeface="Arial"/>
              <a:sym typeface="Arial"/>
            </a:endParaRPr>
          </a:p>
          <a:p>
            <a:pPr indent="0" lvl="0" marL="241300" marR="0" rtl="0" algn="l">
              <a:lnSpc>
                <a:spcPct val="8409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needing a block of 2,048 addresses, a DHCP server that assigns addresses</a:t>
            </a:r>
            <a:endParaRPr b="0" i="0" sz="2200" u="none" cap="none" strike="noStrike">
              <a:solidFill>
                <a:srgbClr val="000000"/>
              </a:solidFill>
              <a:latin typeface="Arial"/>
              <a:ea typeface="Arial"/>
              <a:cs typeface="Arial"/>
              <a:sym typeface="Arial"/>
            </a:endParaRPr>
          </a:p>
          <a:p>
            <a:pPr indent="0" lvl="0" marL="241300" marR="494030" rtl="0" algn="l">
              <a:lnSpc>
                <a:spcPct val="70000"/>
              </a:lnSpc>
              <a:spcBef>
                <a:spcPts val="395"/>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dynamically needs only a block of 512 addresses (for example, a block of the  form a.b.c.d/23).</a:t>
            </a:r>
            <a:endParaRPr b="0" i="0" sz="2200" u="none" cap="none" strike="noStrike">
              <a:solidFill>
                <a:srgbClr val="000000"/>
              </a:solidFill>
              <a:latin typeface="Arial"/>
              <a:ea typeface="Arial"/>
              <a:cs typeface="Arial"/>
              <a:sym typeface="Arial"/>
            </a:endParaRPr>
          </a:p>
          <a:p>
            <a:pPr indent="-291465" lvl="0" marL="303530" marR="0" rtl="0" algn="l">
              <a:lnSpc>
                <a:spcPct val="102045"/>
              </a:lnSpc>
              <a:spcBef>
                <a:spcPts val="215"/>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As the hosts join and leave, the DHCP server needs to update its list of available</a:t>
            </a:r>
            <a:endParaRPr b="0" i="0" sz="2200" u="none" cap="none" strike="noStrike">
              <a:solidFill>
                <a:srgbClr val="000000"/>
              </a:solidFill>
              <a:latin typeface="Arial"/>
              <a:ea typeface="Arial"/>
              <a:cs typeface="Arial"/>
              <a:sym typeface="Arial"/>
            </a:endParaRPr>
          </a:p>
          <a:p>
            <a:pPr indent="0" lvl="0" marL="241300" marR="0" rtl="0" algn="l">
              <a:lnSpc>
                <a:spcPct val="102045"/>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IP addresses.</a:t>
            </a:r>
            <a:endParaRPr b="0" i="0" sz="2200" u="none" cap="none" strike="noStrike">
              <a:solidFill>
                <a:srgbClr val="000000"/>
              </a:solidFill>
              <a:latin typeface="Arial"/>
              <a:ea typeface="Arial"/>
              <a:cs typeface="Arial"/>
              <a:sym typeface="Arial"/>
            </a:endParaRPr>
          </a:p>
          <a:p>
            <a:pPr indent="-306705" lvl="0" marL="318770" marR="0" rtl="0" algn="l">
              <a:lnSpc>
                <a:spcPct val="102045"/>
              </a:lnSpc>
              <a:spcBef>
                <a:spcPts val="204"/>
              </a:spcBef>
              <a:spcAft>
                <a:spcPts val="0"/>
              </a:spcAft>
              <a:buClr>
                <a:srgbClr val="000000"/>
              </a:buClr>
              <a:buSzPts val="2200"/>
              <a:buFont typeface="Arial"/>
              <a:buChar char="•"/>
            </a:pPr>
            <a:r>
              <a:rPr b="0" i="0" lang="en-US" sz="2200" u="none" cap="none" strike="noStrike">
                <a:solidFill>
                  <a:srgbClr val="000000"/>
                </a:solidFill>
                <a:latin typeface="Arial"/>
                <a:ea typeface="Arial"/>
                <a:cs typeface="Arial"/>
                <a:sym typeface="Arial"/>
              </a:rPr>
              <a:t>Each time a host joins, the DHCP server allocates an arbitrary address from its</a:t>
            </a:r>
            <a:endParaRPr b="0" i="0" sz="2200" u="none" cap="none" strike="noStrike">
              <a:solidFill>
                <a:srgbClr val="000000"/>
              </a:solidFill>
              <a:latin typeface="Arial"/>
              <a:ea typeface="Arial"/>
              <a:cs typeface="Arial"/>
              <a:sym typeface="Arial"/>
            </a:endParaRPr>
          </a:p>
          <a:p>
            <a:pPr indent="0" lvl="0" marL="241300" marR="805180" rtl="0" algn="l">
              <a:lnSpc>
                <a:spcPct val="70000"/>
              </a:lnSpc>
              <a:spcBef>
                <a:spcPts val="40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current pool of available addresses; each time a host leaves, its address is  returned to the pool.</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9" name="Shape 939"/>
        <p:cNvGrpSpPr/>
        <p:nvPr/>
      </p:nvGrpSpPr>
      <p:grpSpPr>
        <a:xfrm>
          <a:off x="0" y="0"/>
          <a:ext cx="0" cy="0"/>
          <a:chOff x="0" y="0"/>
          <a:chExt cx="0" cy="0"/>
        </a:xfrm>
      </p:grpSpPr>
      <p:sp>
        <p:nvSpPr>
          <p:cNvPr id="940" name="Google Shape;940;p76"/>
          <p:cNvSpPr txBox="1"/>
          <p:nvPr/>
        </p:nvSpPr>
        <p:spPr>
          <a:xfrm>
            <a:off x="916939" y="503300"/>
            <a:ext cx="10106660" cy="4290060"/>
          </a:xfrm>
          <a:prstGeom prst="rect">
            <a:avLst/>
          </a:prstGeom>
          <a:noFill/>
          <a:ln>
            <a:noFill/>
          </a:ln>
        </p:spPr>
        <p:txBody>
          <a:bodyPr anchorCtr="0" anchor="t" bIns="0" lIns="0" spcFirstLastPara="1" rIns="0" wrap="square" tIns="60950">
            <a:spAutoFit/>
          </a:bodyPr>
          <a:lstStyle/>
          <a:p>
            <a:pPr indent="-228600" lvl="0" marL="241300" marR="53975" rtl="0" algn="just">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DHCP is a client-server protocol. A client is typically a newly arriving  host wanting to obtain network configuration information, including  an IP address for itself.</a:t>
            </a:r>
            <a:endParaRPr b="0" i="0" sz="2800" u="none" cap="none" strike="noStrike">
              <a:solidFill>
                <a:srgbClr val="000000"/>
              </a:solidFill>
              <a:latin typeface="Arial"/>
              <a:ea typeface="Arial"/>
              <a:cs typeface="Arial"/>
              <a:sym typeface="Arial"/>
            </a:endParaRPr>
          </a:p>
          <a:p>
            <a:pPr indent="-228600" lvl="0" marL="241300" marR="0" rtl="0" algn="just">
              <a:lnSpc>
                <a:spcPct val="100000"/>
              </a:lnSpc>
              <a:spcBef>
                <a:spcPts val="64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the simplest case, each subnet will have a DHCP server.</a:t>
            </a:r>
            <a:endParaRPr b="0" i="0" sz="2800" u="none" cap="none" strike="noStrike">
              <a:solidFill>
                <a:srgbClr val="000000"/>
              </a:solidFill>
              <a:latin typeface="Arial"/>
              <a:ea typeface="Arial"/>
              <a:cs typeface="Arial"/>
              <a:sym typeface="Arial"/>
            </a:endParaRPr>
          </a:p>
          <a:p>
            <a:pPr indent="-228600" lvl="0" marL="241300" marR="25400" rtl="0" algn="just">
              <a:lnSpc>
                <a:spcPct val="107857"/>
              </a:lnSpc>
              <a:spcBef>
                <a:spcPts val="104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If no server is present on the subnet, a DHCP relay agent (typically a  router) that knows the address of a DHCP server for that network is  needed.</a:t>
            </a:r>
            <a:endParaRPr b="0" i="0" sz="2800" u="none" cap="none" strike="noStrike">
              <a:solidFill>
                <a:srgbClr val="000000"/>
              </a:solidFill>
              <a:latin typeface="Arial"/>
              <a:ea typeface="Arial"/>
              <a:cs typeface="Arial"/>
              <a:sym typeface="Arial"/>
            </a:endParaRPr>
          </a:p>
          <a:p>
            <a:pPr indent="-228600" lvl="0" marL="241300" marR="5080" rtl="0" algn="l">
              <a:lnSpc>
                <a:spcPct val="107857"/>
              </a:lnSpc>
              <a:spcBef>
                <a:spcPts val="101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Figure shows a DHCP server attached to subnet 223.1.2/24, with the  router serving as the relay agent for arriving clients attached to  subnets 223.1.1/24 and 223.1.3/24.</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4" name="Shape 944"/>
        <p:cNvGrpSpPr/>
        <p:nvPr/>
      </p:nvGrpSpPr>
      <p:grpSpPr>
        <a:xfrm>
          <a:off x="0" y="0"/>
          <a:ext cx="0" cy="0"/>
          <a:chOff x="0" y="0"/>
          <a:chExt cx="0" cy="0"/>
        </a:xfrm>
      </p:grpSpPr>
      <p:sp>
        <p:nvSpPr>
          <p:cNvPr id="945" name="Google Shape;945;p77"/>
          <p:cNvSpPr/>
          <p:nvPr/>
        </p:nvSpPr>
        <p:spPr>
          <a:xfrm>
            <a:off x="1763267" y="255828"/>
            <a:ext cx="8786510" cy="66021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9" name="Shape 949"/>
        <p:cNvGrpSpPr/>
        <p:nvPr/>
      </p:nvGrpSpPr>
      <p:grpSpPr>
        <a:xfrm>
          <a:off x="0" y="0"/>
          <a:ext cx="0" cy="0"/>
          <a:chOff x="0" y="0"/>
          <a:chExt cx="0" cy="0"/>
        </a:xfrm>
      </p:grpSpPr>
      <p:sp>
        <p:nvSpPr>
          <p:cNvPr id="950" name="Google Shape;950;p78"/>
          <p:cNvSpPr txBox="1"/>
          <p:nvPr/>
        </p:nvSpPr>
        <p:spPr>
          <a:xfrm>
            <a:off x="916939" y="50761"/>
            <a:ext cx="10307320" cy="4888865"/>
          </a:xfrm>
          <a:prstGeom prst="rect">
            <a:avLst/>
          </a:prstGeom>
          <a:noFill/>
          <a:ln>
            <a:noFill/>
          </a:ln>
        </p:spPr>
        <p:txBody>
          <a:bodyPr anchorCtr="0" anchor="t" bIns="0" lIns="0" spcFirstLastPara="1" rIns="0" wrap="square" tIns="98425">
            <a:spAutoFit/>
          </a:bodyPr>
          <a:lstStyle/>
          <a:p>
            <a:pPr indent="-228600" lvl="0" marL="2413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For a newly arriving host, the DHCP protocol is a four-step process:</a:t>
            </a:r>
            <a:endParaRPr b="0" i="0" sz="2800" u="none" cap="none" strike="noStrike">
              <a:solidFill>
                <a:srgbClr val="000000"/>
              </a:solidFill>
              <a:latin typeface="Arial"/>
              <a:ea typeface="Arial"/>
              <a:cs typeface="Arial"/>
              <a:sym typeface="Arial"/>
            </a:endParaRPr>
          </a:p>
          <a:p>
            <a:pPr indent="-228600" lvl="0" marL="241300" marR="5080" rtl="0" algn="l">
              <a:lnSpc>
                <a:spcPct val="90000"/>
              </a:lnSpc>
              <a:spcBef>
                <a:spcPts val="101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1" lang="en-US" sz="2800" u="none" cap="none" strike="noStrike">
                <a:solidFill>
                  <a:srgbClr val="44536A"/>
                </a:solidFill>
                <a:latin typeface="Arial"/>
                <a:ea typeface="Arial"/>
                <a:cs typeface="Arial"/>
                <a:sym typeface="Arial"/>
              </a:rPr>
              <a:t>DHCP server discovery</a:t>
            </a:r>
            <a:r>
              <a:rPr b="0" i="1"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Arial"/>
                <a:ea typeface="Arial"/>
                <a:cs typeface="Arial"/>
                <a:sym typeface="Arial"/>
              </a:rPr>
              <a:t>The first task of a newly arriving host is to find  a DHCP server with which to interact. This is done using a </a:t>
            </a:r>
            <a:r>
              <a:rPr b="1" i="0" lang="en-US" sz="2800" u="none" cap="none" strike="noStrike">
                <a:solidFill>
                  <a:srgbClr val="000000"/>
                </a:solidFill>
                <a:latin typeface="Arial"/>
                <a:ea typeface="Arial"/>
                <a:cs typeface="Arial"/>
                <a:sym typeface="Arial"/>
              </a:rPr>
              <a:t>DHCP  discover message</a:t>
            </a:r>
            <a:r>
              <a:rPr b="0" i="0" lang="en-US" sz="2800" u="none" cap="none" strike="noStrike">
                <a:solidFill>
                  <a:srgbClr val="000000"/>
                </a:solidFill>
                <a:latin typeface="Arial"/>
                <a:ea typeface="Arial"/>
                <a:cs typeface="Arial"/>
                <a:sym typeface="Arial"/>
              </a:rPr>
              <a:t>, which a client sends within a UDP packet to port  67.</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66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UDP packet is encapsulated in an IP datagram.</a:t>
            </a:r>
            <a:endParaRPr b="0" i="0" sz="2800" u="none" cap="none" strike="noStrike">
              <a:solidFill>
                <a:srgbClr val="000000"/>
              </a:solidFill>
              <a:latin typeface="Arial"/>
              <a:ea typeface="Arial"/>
              <a:cs typeface="Arial"/>
              <a:sym typeface="Arial"/>
            </a:endParaRPr>
          </a:p>
          <a:p>
            <a:pPr indent="-228600" lvl="0" marL="241300" marR="198755" rtl="0" algn="l">
              <a:lnSpc>
                <a:spcPct val="107857"/>
              </a:lnSpc>
              <a:spcBef>
                <a:spcPts val="104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DHCP client creates an IP datagram containing its DHCP discover  message along with the broadcast destination IP address of</a:t>
            </a:r>
            <a:endParaRPr b="0" i="0" sz="2800" u="none" cap="none" strike="noStrike">
              <a:solidFill>
                <a:srgbClr val="000000"/>
              </a:solidFill>
              <a:latin typeface="Arial"/>
              <a:ea typeface="Arial"/>
              <a:cs typeface="Arial"/>
              <a:sym typeface="Arial"/>
            </a:endParaRPr>
          </a:p>
          <a:p>
            <a:pPr indent="0" lvl="0" marL="241300" marR="0" rtl="0" algn="l">
              <a:lnSpc>
                <a:spcPct val="106607"/>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255.255.255.255 and a “this host” source IP address of 0.0.0.0.</a:t>
            </a:r>
            <a:endParaRPr b="0" i="0" sz="2800" u="none" cap="none" strike="noStrike">
              <a:solidFill>
                <a:srgbClr val="000000"/>
              </a:solidFill>
              <a:latin typeface="Arial"/>
              <a:ea typeface="Arial"/>
              <a:cs typeface="Arial"/>
              <a:sym typeface="Arial"/>
            </a:endParaRPr>
          </a:p>
          <a:p>
            <a:pPr indent="-228600" lvl="0" marL="241300" marR="192405" rtl="0" algn="l">
              <a:lnSpc>
                <a:spcPct val="107857"/>
              </a:lnSpc>
              <a:spcBef>
                <a:spcPts val="105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The DHCP client passes the IP datagram to the link layer, which then  broadcasts this frame to all nodes attached to the subnet.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4" name="Shape 954"/>
        <p:cNvGrpSpPr/>
        <p:nvPr/>
      </p:nvGrpSpPr>
      <p:grpSpPr>
        <a:xfrm>
          <a:off x="0" y="0"/>
          <a:ext cx="0" cy="0"/>
          <a:chOff x="0" y="0"/>
          <a:chExt cx="0" cy="0"/>
        </a:xfrm>
      </p:grpSpPr>
      <p:sp>
        <p:nvSpPr>
          <p:cNvPr id="955" name="Google Shape;955;p79"/>
          <p:cNvSpPr txBox="1"/>
          <p:nvPr/>
        </p:nvSpPr>
        <p:spPr>
          <a:xfrm>
            <a:off x="916939" y="803910"/>
            <a:ext cx="10304780" cy="3268345"/>
          </a:xfrm>
          <a:prstGeom prst="rect">
            <a:avLst/>
          </a:prstGeom>
          <a:noFill/>
          <a:ln>
            <a:noFill/>
          </a:ln>
        </p:spPr>
        <p:txBody>
          <a:bodyPr anchorCtr="0" anchor="t" bIns="0" lIns="0" spcFirstLastPara="1" rIns="0" wrap="square" tIns="60950">
            <a:spAutoFit/>
          </a:bodyPr>
          <a:lstStyle/>
          <a:p>
            <a:pPr indent="-228600" lvl="0" marL="241300" marR="574675" rtl="0" algn="l">
              <a:lnSpc>
                <a:spcPct val="107857"/>
              </a:lnSpc>
              <a:spcBef>
                <a:spcPts val="0"/>
              </a:spcBef>
              <a:spcAft>
                <a:spcPts val="0"/>
              </a:spcAft>
              <a:buClr>
                <a:srgbClr val="44536A"/>
              </a:buClr>
              <a:buSzPts val="2800"/>
              <a:buFont typeface="Arial"/>
              <a:buChar char="•"/>
            </a:pPr>
            <a:r>
              <a:rPr b="0" i="1" lang="en-US" sz="2800" u="none" cap="none" strike="noStrike">
                <a:solidFill>
                  <a:srgbClr val="44536A"/>
                </a:solidFill>
                <a:latin typeface="Arial"/>
                <a:ea typeface="Arial"/>
                <a:cs typeface="Arial"/>
                <a:sym typeface="Arial"/>
              </a:rPr>
              <a:t>DHCP server offer(s). </a:t>
            </a:r>
            <a:r>
              <a:rPr b="0" i="0" lang="en-US" sz="2800" u="none" cap="none" strike="noStrike">
                <a:solidFill>
                  <a:srgbClr val="000000"/>
                </a:solidFill>
                <a:latin typeface="Arial"/>
                <a:ea typeface="Arial"/>
                <a:cs typeface="Arial"/>
                <a:sym typeface="Arial"/>
              </a:rPr>
              <a:t>A DHCP server receiving a DHCP discover  message responds to the client with a </a:t>
            </a:r>
            <a:r>
              <a:rPr b="1" i="0" lang="en-US" sz="2800" u="none" cap="none" strike="noStrike">
                <a:solidFill>
                  <a:srgbClr val="000000"/>
                </a:solidFill>
                <a:latin typeface="Arial"/>
                <a:ea typeface="Arial"/>
                <a:cs typeface="Arial"/>
                <a:sym typeface="Arial"/>
              </a:rPr>
              <a:t>DHCP offer message </a:t>
            </a:r>
            <a:r>
              <a:rPr b="0" i="0" lang="en-US" sz="2800" u="none" cap="none" strike="noStrike">
                <a:solidFill>
                  <a:srgbClr val="000000"/>
                </a:solidFill>
                <a:latin typeface="Arial"/>
                <a:ea typeface="Arial"/>
                <a:cs typeface="Arial"/>
                <a:sym typeface="Arial"/>
              </a:rPr>
              <a:t>that is  broadcast to all nodes on the subnet, again using the IP broadcast  address of 255.255.255.255.</a:t>
            </a:r>
            <a:endParaRPr b="0" i="0" sz="2800" u="none" cap="none" strike="noStrike">
              <a:solidFill>
                <a:srgbClr val="000000"/>
              </a:solidFill>
              <a:latin typeface="Arial"/>
              <a:ea typeface="Arial"/>
              <a:cs typeface="Arial"/>
              <a:sym typeface="Arial"/>
            </a:endParaRPr>
          </a:p>
          <a:p>
            <a:pPr indent="-228600" lvl="0" marL="241300" marR="5080" rtl="0" algn="l">
              <a:lnSpc>
                <a:spcPct val="107857"/>
              </a:lnSpc>
              <a:spcBef>
                <a:spcPts val="102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Each server offer message contains the transaction ID of the received  discover message, the proposed IP address for the client, the network  mask, and an IP </a:t>
            </a:r>
            <a:r>
              <a:rPr b="1" i="0" lang="en-US" sz="2800" u="none" cap="none" strike="noStrike">
                <a:solidFill>
                  <a:srgbClr val="000000"/>
                </a:solidFill>
                <a:latin typeface="Arial"/>
                <a:ea typeface="Arial"/>
                <a:cs typeface="Arial"/>
                <a:sym typeface="Arial"/>
              </a:rPr>
              <a:t>address lease time</a:t>
            </a:r>
            <a:r>
              <a:rPr b="0" i="0" lang="en-US" sz="2800" u="none" cap="none" strike="noStrike">
                <a:solidFill>
                  <a:srgbClr val="000000"/>
                </a:solidFill>
                <a:latin typeface="Arial"/>
                <a:ea typeface="Arial"/>
                <a:cs typeface="Arial"/>
                <a:sym typeface="Arial"/>
              </a:rPr>
              <a:t>—the amount of time for which  the IP address will be valid.</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9" name="Shape 959"/>
        <p:cNvGrpSpPr/>
        <p:nvPr/>
      </p:nvGrpSpPr>
      <p:grpSpPr>
        <a:xfrm>
          <a:off x="0" y="0"/>
          <a:ext cx="0" cy="0"/>
          <a:chOff x="0" y="0"/>
          <a:chExt cx="0" cy="0"/>
        </a:xfrm>
      </p:grpSpPr>
      <p:sp>
        <p:nvSpPr>
          <p:cNvPr id="960" name="Google Shape;960;p80"/>
          <p:cNvSpPr txBox="1"/>
          <p:nvPr/>
        </p:nvSpPr>
        <p:spPr>
          <a:xfrm>
            <a:off x="916939" y="516381"/>
            <a:ext cx="10215245" cy="3395345"/>
          </a:xfrm>
          <a:prstGeom prst="rect">
            <a:avLst/>
          </a:prstGeom>
          <a:noFill/>
          <a:ln>
            <a:noFill/>
          </a:ln>
        </p:spPr>
        <p:txBody>
          <a:bodyPr anchorCtr="0" anchor="t" bIns="0" lIns="0" spcFirstLastPara="1" rIns="0" wrap="square" tIns="60950">
            <a:spAutoFit/>
          </a:bodyPr>
          <a:lstStyle/>
          <a:p>
            <a:pPr indent="-228600" lvl="0" marL="241300" marR="129539" rtl="0" algn="l">
              <a:lnSpc>
                <a:spcPct val="107857"/>
              </a:lnSpc>
              <a:spcBef>
                <a:spcPts val="0"/>
              </a:spcBef>
              <a:spcAft>
                <a:spcPts val="0"/>
              </a:spcAft>
              <a:buClr>
                <a:srgbClr val="44536A"/>
              </a:buClr>
              <a:buSzPts val="2800"/>
              <a:buFont typeface="Arial"/>
              <a:buChar char="•"/>
            </a:pPr>
            <a:r>
              <a:rPr b="0" i="1" lang="en-US" sz="2800" u="none" cap="none" strike="noStrike">
                <a:solidFill>
                  <a:srgbClr val="44536A"/>
                </a:solidFill>
                <a:latin typeface="Arial"/>
                <a:ea typeface="Arial"/>
                <a:cs typeface="Arial"/>
                <a:sym typeface="Arial"/>
              </a:rPr>
              <a:t>DHCP request. </a:t>
            </a:r>
            <a:r>
              <a:rPr b="0" i="0" lang="en-US" sz="2800" u="none" cap="none" strike="noStrike">
                <a:solidFill>
                  <a:srgbClr val="000000"/>
                </a:solidFill>
                <a:latin typeface="Arial"/>
                <a:ea typeface="Arial"/>
                <a:cs typeface="Arial"/>
                <a:sym typeface="Arial"/>
              </a:rPr>
              <a:t>The newly arriving client will choose from among one  or more server offers and respond to its selected offer with a </a:t>
            </a:r>
            <a:r>
              <a:rPr b="1" i="0" lang="en-US" sz="2800" u="none" cap="none" strike="noStrike">
                <a:solidFill>
                  <a:srgbClr val="000000"/>
                </a:solidFill>
                <a:latin typeface="Arial"/>
                <a:ea typeface="Arial"/>
                <a:cs typeface="Arial"/>
                <a:sym typeface="Arial"/>
              </a:rPr>
              <a:t>DHCP  request message</a:t>
            </a:r>
            <a:r>
              <a:rPr b="0" i="0" lang="en-US" sz="2800" u="none" cap="none" strike="noStrike">
                <a:solidFill>
                  <a:srgbClr val="000000"/>
                </a:solidFill>
                <a:latin typeface="Arial"/>
                <a:ea typeface="Arial"/>
                <a:cs typeface="Arial"/>
                <a:sym typeface="Arial"/>
              </a:rPr>
              <a:t>, echoing back the configuration parameters.</a:t>
            </a:r>
            <a:endParaRPr b="0" i="0" sz="2800" u="none" cap="none" strike="noStrike">
              <a:solidFill>
                <a:srgbClr val="000000"/>
              </a:solidFill>
              <a:latin typeface="Arial"/>
              <a:ea typeface="Arial"/>
              <a:cs typeface="Arial"/>
              <a:sym typeface="Arial"/>
            </a:endParaRPr>
          </a:p>
          <a:p>
            <a:pPr indent="-309880" lvl="0" marL="321945" marR="0" rtl="0" algn="l">
              <a:lnSpc>
                <a:spcPct val="114107"/>
              </a:lnSpc>
              <a:spcBef>
                <a:spcPts val="635"/>
              </a:spcBef>
              <a:spcAft>
                <a:spcPts val="0"/>
              </a:spcAft>
              <a:buClr>
                <a:srgbClr val="44536A"/>
              </a:buClr>
              <a:buSzPts val="2800"/>
              <a:buFont typeface="Arial"/>
              <a:buChar char="•"/>
            </a:pPr>
            <a:r>
              <a:rPr b="0" i="1" lang="en-US" sz="2800" u="none" cap="none" strike="noStrike">
                <a:solidFill>
                  <a:srgbClr val="44536A"/>
                </a:solidFill>
                <a:latin typeface="Arial"/>
                <a:ea typeface="Arial"/>
                <a:cs typeface="Arial"/>
                <a:sym typeface="Arial"/>
              </a:rPr>
              <a:t>DHCP ACK</a:t>
            </a:r>
            <a:r>
              <a:rPr b="0" i="1" lang="en-US" sz="2800" u="none" cap="none" strike="noStrike">
                <a:solidFill>
                  <a:srgbClr val="000000"/>
                </a:solidFill>
                <a:latin typeface="Arial"/>
                <a:ea typeface="Arial"/>
                <a:cs typeface="Arial"/>
                <a:sym typeface="Arial"/>
              </a:rPr>
              <a:t>. </a:t>
            </a:r>
            <a:r>
              <a:rPr b="0" i="0" lang="en-US" sz="2800" u="none" cap="none" strike="noStrike">
                <a:solidFill>
                  <a:srgbClr val="000000"/>
                </a:solidFill>
                <a:latin typeface="Arial"/>
                <a:ea typeface="Arial"/>
                <a:cs typeface="Arial"/>
                <a:sym typeface="Arial"/>
              </a:rPr>
              <a:t>The server responds to the DHCP request message with a</a:t>
            </a:r>
            <a:endParaRPr b="0" i="0" sz="2800" u="none" cap="none" strike="noStrike">
              <a:solidFill>
                <a:srgbClr val="000000"/>
              </a:solidFill>
              <a:latin typeface="Arial"/>
              <a:ea typeface="Arial"/>
              <a:cs typeface="Arial"/>
              <a:sym typeface="Arial"/>
            </a:endParaRPr>
          </a:p>
          <a:p>
            <a:pPr indent="0" lvl="0" marL="241300" marR="0" rtl="0" algn="l">
              <a:lnSpc>
                <a:spcPct val="114107"/>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DHCP ACK message</a:t>
            </a:r>
            <a:r>
              <a:rPr b="0" i="0" lang="en-US" sz="2800" u="none" cap="none" strike="noStrike">
                <a:solidFill>
                  <a:srgbClr val="000000"/>
                </a:solidFill>
                <a:latin typeface="Arial"/>
                <a:ea typeface="Arial"/>
                <a:cs typeface="Arial"/>
                <a:sym typeface="Arial"/>
              </a:rPr>
              <a:t>, confirming the requested parameters.</a:t>
            </a:r>
            <a:endParaRPr b="0" i="0" sz="2800" u="none" cap="none" strike="noStrike">
              <a:solidFill>
                <a:srgbClr val="000000"/>
              </a:solidFill>
              <a:latin typeface="Arial"/>
              <a:ea typeface="Arial"/>
              <a:cs typeface="Arial"/>
              <a:sym typeface="Arial"/>
            </a:endParaRPr>
          </a:p>
          <a:p>
            <a:pPr indent="-228600" lvl="0" marL="241300" marR="358775" rtl="0" algn="l">
              <a:lnSpc>
                <a:spcPct val="107857"/>
              </a:lnSpc>
              <a:spcBef>
                <a:spcPts val="104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Once the client receives the DHCP ACK, the interaction is complete  and the client can use the DHCP-allocated IP address for the lease  duration.</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4" name="Shape 964"/>
        <p:cNvGrpSpPr/>
        <p:nvPr/>
      </p:nvGrpSpPr>
      <p:grpSpPr>
        <a:xfrm>
          <a:off x="0" y="0"/>
          <a:ext cx="0" cy="0"/>
          <a:chOff x="0" y="0"/>
          <a:chExt cx="0" cy="0"/>
        </a:xfrm>
      </p:grpSpPr>
      <p:sp>
        <p:nvSpPr>
          <p:cNvPr id="965" name="Google Shape;965;p81"/>
          <p:cNvSpPr/>
          <p:nvPr/>
        </p:nvSpPr>
        <p:spPr>
          <a:xfrm>
            <a:off x="3088690" y="89906"/>
            <a:ext cx="5428943" cy="664157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9" name="Shape 969"/>
        <p:cNvGrpSpPr/>
        <p:nvPr/>
      </p:nvGrpSpPr>
      <p:grpSpPr>
        <a:xfrm>
          <a:off x="0" y="0"/>
          <a:ext cx="0" cy="0"/>
          <a:chOff x="0" y="0"/>
          <a:chExt cx="0" cy="0"/>
        </a:xfrm>
      </p:grpSpPr>
      <p:sp>
        <p:nvSpPr>
          <p:cNvPr id="970" name="Google Shape;970;p82"/>
          <p:cNvSpPr txBox="1"/>
          <p:nvPr>
            <p:ph type="title"/>
          </p:nvPr>
        </p:nvSpPr>
        <p:spPr>
          <a:xfrm>
            <a:off x="916939" y="609676"/>
            <a:ext cx="7665084"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Network Address Translation (NAT)</a:t>
            </a:r>
            <a:endParaRPr/>
          </a:p>
        </p:txBody>
      </p:sp>
      <p:sp>
        <p:nvSpPr>
          <p:cNvPr id="971" name="Google Shape;971;p82"/>
          <p:cNvSpPr/>
          <p:nvPr/>
        </p:nvSpPr>
        <p:spPr>
          <a:xfrm>
            <a:off x="1449324" y="1767182"/>
            <a:ext cx="9424571" cy="472704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5" name="Shape 975"/>
        <p:cNvGrpSpPr/>
        <p:nvPr/>
      </p:nvGrpSpPr>
      <p:grpSpPr>
        <a:xfrm>
          <a:off x="0" y="0"/>
          <a:ext cx="0" cy="0"/>
          <a:chOff x="0" y="0"/>
          <a:chExt cx="0" cy="0"/>
        </a:xfrm>
      </p:grpSpPr>
      <p:sp>
        <p:nvSpPr>
          <p:cNvPr id="976" name="Google Shape;976;p83"/>
          <p:cNvSpPr txBox="1"/>
          <p:nvPr/>
        </p:nvSpPr>
        <p:spPr>
          <a:xfrm>
            <a:off x="916939" y="646633"/>
            <a:ext cx="10215880" cy="5697220"/>
          </a:xfrm>
          <a:prstGeom prst="rect">
            <a:avLst/>
          </a:prstGeom>
          <a:noFill/>
          <a:ln>
            <a:noFill/>
          </a:ln>
        </p:spPr>
        <p:txBody>
          <a:bodyPr anchorCtr="0" anchor="t" bIns="0" lIns="0" spcFirstLastPara="1" rIns="0" wrap="square" tIns="60325">
            <a:spAutoFit/>
          </a:bodyPr>
          <a:lstStyle/>
          <a:p>
            <a:pPr indent="-228600" lvl="0" marL="241300" marR="10795" rtl="0" algn="l">
              <a:lnSpc>
                <a:spcPct val="108214"/>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Devices within a given home network can send packets to each other  using 10.0.0.0/24 addressing.</a:t>
            </a:r>
            <a:endParaRPr b="0" i="0" sz="2800" u="none" cap="none" strike="noStrike">
              <a:solidFill>
                <a:srgbClr val="000000"/>
              </a:solidFill>
              <a:latin typeface="Arial"/>
              <a:ea typeface="Arial"/>
              <a:cs typeface="Arial"/>
              <a:sym typeface="Arial"/>
            </a:endParaRPr>
          </a:p>
          <a:p>
            <a:pPr indent="-228600" lvl="0" marL="241300" marR="746760" rtl="0" algn="l">
              <a:lnSpc>
                <a:spcPct val="107857"/>
              </a:lnSpc>
              <a:spcBef>
                <a:spcPts val="100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However, packets forwarded </a:t>
            </a:r>
            <a:r>
              <a:rPr b="0" i="1" lang="en-US" sz="2800" u="none" cap="none" strike="noStrike">
                <a:solidFill>
                  <a:srgbClr val="000000"/>
                </a:solidFill>
                <a:latin typeface="Arial"/>
                <a:ea typeface="Arial"/>
                <a:cs typeface="Arial"/>
                <a:sym typeface="Arial"/>
              </a:rPr>
              <a:t>beyond </a:t>
            </a:r>
            <a:r>
              <a:rPr b="0" i="0" lang="en-US" sz="2800" u="none" cap="none" strike="noStrike">
                <a:solidFill>
                  <a:srgbClr val="000000"/>
                </a:solidFill>
                <a:latin typeface="Arial"/>
                <a:ea typeface="Arial"/>
                <a:cs typeface="Arial"/>
                <a:sym typeface="Arial"/>
              </a:rPr>
              <a:t>the home network into the  larger global Internet clearly cannot use these addresses.</a:t>
            </a:r>
            <a:endParaRPr b="0" i="0" sz="2800" u="none" cap="none" strike="noStrike">
              <a:solidFill>
                <a:srgbClr val="000000"/>
              </a:solidFill>
              <a:latin typeface="Arial"/>
              <a:ea typeface="Arial"/>
              <a:cs typeface="Arial"/>
              <a:sym typeface="Arial"/>
            </a:endParaRPr>
          </a:p>
          <a:p>
            <a:pPr indent="-228600" lvl="0" marL="241300" marR="554990" rtl="0" algn="l">
              <a:lnSpc>
                <a:spcPct val="108214"/>
              </a:lnSpc>
              <a:spcBef>
                <a:spcPts val="994"/>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NAT-enabled router does not </a:t>
            </a:r>
            <a:r>
              <a:rPr b="0" i="1" lang="en-US" sz="2800" u="none" cap="none" strike="noStrike">
                <a:solidFill>
                  <a:srgbClr val="000000"/>
                </a:solidFill>
                <a:latin typeface="Arial"/>
                <a:ea typeface="Arial"/>
                <a:cs typeface="Arial"/>
                <a:sym typeface="Arial"/>
              </a:rPr>
              <a:t>look </a:t>
            </a:r>
            <a:r>
              <a:rPr b="0" i="0" lang="en-US" sz="2800" u="none" cap="none" strike="noStrike">
                <a:solidFill>
                  <a:srgbClr val="000000"/>
                </a:solidFill>
                <a:latin typeface="Arial"/>
                <a:ea typeface="Arial"/>
                <a:cs typeface="Arial"/>
                <a:sym typeface="Arial"/>
              </a:rPr>
              <a:t>like a router to the outside  world. Instead</a:t>
            </a:r>
            <a:endParaRPr b="0" i="0" sz="2800" u="none" cap="none" strike="noStrike">
              <a:solidFill>
                <a:srgbClr val="000000"/>
              </a:solidFill>
              <a:latin typeface="Arial"/>
              <a:ea typeface="Arial"/>
              <a:cs typeface="Arial"/>
              <a:sym typeface="Arial"/>
            </a:endParaRPr>
          </a:p>
          <a:p>
            <a:pPr indent="-228600" lvl="0" marL="241300" marR="0" rtl="0" algn="l">
              <a:lnSpc>
                <a:spcPct val="113928"/>
              </a:lnSpc>
              <a:spcBef>
                <a:spcPts val="61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NAT router behaves to the outside world as a </a:t>
            </a:r>
            <a:r>
              <a:rPr b="0" i="1" lang="en-US" sz="2800" u="none" cap="none" strike="noStrike">
                <a:solidFill>
                  <a:srgbClr val="000000"/>
                </a:solidFill>
                <a:latin typeface="Arial"/>
                <a:ea typeface="Arial"/>
                <a:cs typeface="Arial"/>
                <a:sym typeface="Arial"/>
              </a:rPr>
              <a:t>single </a:t>
            </a:r>
            <a:r>
              <a:rPr b="0" i="0" lang="en-US" sz="2800" u="none" cap="none" strike="noStrike">
                <a:solidFill>
                  <a:srgbClr val="000000"/>
                </a:solidFill>
                <a:latin typeface="Arial"/>
                <a:ea typeface="Arial"/>
                <a:cs typeface="Arial"/>
                <a:sym typeface="Arial"/>
              </a:rPr>
              <a:t>device with a</a:t>
            </a:r>
            <a:endParaRPr b="0" i="0" sz="2800" u="none" cap="none" strike="noStrike">
              <a:solidFill>
                <a:srgbClr val="000000"/>
              </a:solidFill>
              <a:latin typeface="Arial"/>
              <a:ea typeface="Arial"/>
              <a:cs typeface="Arial"/>
              <a:sym typeface="Arial"/>
            </a:endParaRPr>
          </a:p>
          <a:p>
            <a:pPr indent="0" lvl="0" marL="241300" marR="0" rtl="0" algn="l">
              <a:lnSpc>
                <a:spcPct val="113928"/>
              </a:lnSpc>
              <a:spcBef>
                <a:spcPts val="0"/>
              </a:spcBef>
              <a:spcAft>
                <a:spcPts val="0"/>
              </a:spcAft>
              <a:buClr>
                <a:srgbClr val="000000"/>
              </a:buClr>
              <a:buSzPts val="2800"/>
              <a:buFont typeface="Arial"/>
              <a:buNone/>
            </a:pPr>
            <a:r>
              <a:rPr b="0" i="1" lang="en-US" sz="2800" u="none" cap="none" strike="noStrike">
                <a:solidFill>
                  <a:srgbClr val="000000"/>
                </a:solidFill>
                <a:latin typeface="Arial"/>
                <a:ea typeface="Arial"/>
                <a:cs typeface="Arial"/>
                <a:sym typeface="Arial"/>
              </a:rPr>
              <a:t>single </a:t>
            </a:r>
            <a:r>
              <a:rPr b="0" i="0" lang="en-US" sz="2800" u="none" cap="none" strike="noStrike">
                <a:solidFill>
                  <a:srgbClr val="000000"/>
                </a:solidFill>
                <a:latin typeface="Arial"/>
                <a:ea typeface="Arial"/>
                <a:cs typeface="Arial"/>
                <a:sym typeface="Arial"/>
              </a:rPr>
              <a:t>IP address.</a:t>
            </a:r>
            <a:endParaRPr b="0" i="0" sz="2800" u="none" cap="none" strike="noStrike">
              <a:solidFill>
                <a:srgbClr val="000000"/>
              </a:solidFill>
              <a:latin typeface="Arial"/>
              <a:ea typeface="Arial"/>
              <a:cs typeface="Arial"/>
              <a:sym typeface="Arial"/>
            </a:endParaRPr>
          </a:p>
          <a:p>
            <a:pPr indent="-228600" lvl="0" marL="241300" marR="13970" rtl="0" algn="l">
              <a:lnSpc>
                <a:spcPct val="107857"/>
              </a:lnSpc>
              <a:spcBef>
                <a:spcPts val="106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All traffic leaving the home router for the larger Internet has a source  IP address of 138.76.29.7, and all traffic entering the home router  must have a destination address of 138.76.29.7.</a:t>
            </a:r>
            <a:endParaRPr b="0" i="0" sz="2800" u="none" cap="none" strike="noStrike">
              <a:solidFill>
                <a:srgbClr val="000000"/>
              </a:solidFill>
              <a:latin typeface="Arial"/>
              <a:ea typeface="Arial"/>
              <a:cs typeface="Arial"/>
              <a:sym typeface="Arial"/>
            </a:endParaRPr>
          </a:p>
          <a:p>
            <a:pPr indent="-228600" lvl="0" marL="241300" marR="163830" rtl="0" algn="l">
              <a:lnSpc>
                <a:spcPct val="108214"/>
              </a:lnSpc>
              <a:spcBef>
                <a:spcPts val="10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In essence, the NAT-enabled router is hiding the details of the home  network from the outside world.</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0" name="Shape 980"/>
        <p:cNvGrpSpPr/>
        <p:nvPr/>
      </p:nvGrpSpPr>
      <p:grpSpPr>
        <a:xfrm>
          <a:off x="0" y="0"/>
          <a:ext cx="0" cy="0"/>
          <a:chOff x="0" y="0"/>
          <a:chExt cx="0" cy="0"/>
        </a:xfrm>
      </p:grpSpPr>
      <p:sp>
        <p:nvSpPr>
          <p:cNvPr id="981" name="Google Shape;981;p84"/>
          <p:cNvSpPr txBox="1"/>
          <p:nvPr/>
        </p:nvSpPr>
        <p:spPr>
          <a:xfrm>
            <a:off x="916939" y="646633"/>
            <a:ext cx="10215245" cy="4674235"/>
          </a:xfrm>
          <a:prstGeom prst="rect">
            <a:avLst/>
          </a:prstGeom>
          <a:noFill/>
          <a:ln>
            <a:noFill/>
          </a:ln>
        </p:spPr>
        <p:txBody>
          <a:bodyPr anchorCtr="0" anchor="t" bIns="0" lIns="0" spcFirstLastPara="1" rIns="0" wrap="square" tIns="60325">
            <a:spAutoFit/>
          </a:bodyPr>
          <a:lstStyle/>
          <a:p>
            <a:pPr indent="-228600" lvl="0" marL="241300" marR="532130" rtl="0" algn="l">
              <a:lnSpc>
                <a:spcPct val="108214"/>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use a </a:t>
            </a:r>
            <a:r>
              <a:rPr b="1" i="0" lang="en-US" sz="2800" u="none" cap="none" strike="noStrike">
                <a:solidFill>
                  <a:srgbClr val="000000"/>
                </a:solidFill>
                <a:latin typeface="Arial"/>
                <a:ea typeface="Arial"/>
                <a:cs typeface="Arial"/>
                <a:sym typeface="Arial"/>
              </a:rPr>
              <a:t>NAT translation table </a:t>
            </a:r>
            <a:r>
              <a:rPr b="0" i="0" lang="en-US" sz="2800" u="none" cap="none" strike="noStrike">
                <a:solidFill>
                  <a:srgbClr val="000000"/>
                </a:solidFill>
                <a:latin typeface="Arial"/>
                <a:ea typeface="Arial"/>
                <a:cs typeface="Arial"/>
                <a:sym typeface="Arial"/>
              </a:rPr>
              <a:t>at the NAT router, and to include port  numbers as well as IP addresses in the table entries.</a:t>
            </a:r>
            <a:endParaRPr b="0" i="0" sz="2800" u="none" cap="none" strike="noStrike">
              <a:solidFill>
                <a:srgbClr val="000000"/>
              </a:solidFill>
              <a:latin typeface="Arial"/>
              <a:ea typeface="Arial"/>
              <a:cs typeface="Arial"/>
              <a:sym typeface="Arial"/>
            </a:endParaRPr>
          </a:p>
          <a:p>
            <a:pPr indent="-228600" lvl="0" marL="241300" marR="263525" rtl="0" algn="l">
              <a:lnSpc>
                <a:spcPct val="107857"/>
              </a:lnSpc>
              <a:spcBef>
                <a:spcPts val="100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Suppose a user sitting in a home network behind host 10.0.0.1  requests a Web page on some Web server (port 80) with IP address  128.119.40.186.</a:t>
            </a:r>
            <a:endParaRPr b="0" i="0" sz="2800" u="none" cap="none" strike="noStrike">
              <a:solidFill>
                <a:srgbClr val="000000"/>
              </a:solidFill>
              <a:latin typeface="Arial"/>
              <a:ea typeface="Arial"/>
              <a:cs typeface="Arial"/>
              <a:sym typeface="Arial"/>
            </a:endParaRPr>
          </a:p>
          <a:p>
            <a:pPr indent="-228600" lvl="0" marL="241300" marR="475615" rtl="0" algn="l">
              <a:lnSpc>
                <a:spcPct val="107857"/>
              </a:lnSpc>
              <a:spcBef>
                <a:spcPts val="101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host 10.0.0.1 assigns the (arbitrary) source port number 3345  and sends the datagram into the LAN.</a:t>
            </a:r>
            <a:endParaRPr b="0" i="0" sz="2800" u="none" cap="none" strike="noStrike">
              <a:solidFill>
                <a:srgbClr val="000000"/>
              </a:solidFill>
              <a:latin typeface="Arial"/>
              <a:ea typeface="Arial"/>
              <a:cs typeface="Arial"/>
              <a:sym typeface="Arial"/>
            </a:endParaRPr>
          </a:p>
          <a:p>
            <a:pPr indent="-228600" lvl="0" marL="241300" marR="5080" rtl="0" algn="l">
              <a:lnSpc>
                <a:spcPct val="90000"/>
              </a:lnSpc>
              <a:spcBef>
                <a:spcPts val="95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NAT router receives the datagram, generates a new source port  number 5001 for the datagram, replaces the source IP address with  its WAN-side IP address 138.76.29.7, and replaces the original source  port number 3345 with the new source port number 5001.</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5" name="Shape 985"/>
        <p:cNvGrpSpPr/>
        <p:nvPr/>
      </p:nvGrpSpPr>
      <p:grpSpPr>
        <a:xfrm>
          <a:off x="0" y="0"/>
          <a:ext cx="0" cy="0"/>
          <a:chOff x="0" y="0"/>
          <a:chExt cx="0" cy="0"/>
        </a:xfrm>
      </p:grpSpPr>
      <p:sp>
        <p:nvSpPr>
          <p:cNvPr id="986" name="Google Shape;986;p85"/>
          <p:cNvSpPr txBox="1"/>
          <p:nvPr>
            <p:ph type="title"/>
          </p:nvPr>
        </p:nvSpPr>
        <p:spPr>
          <a:xfrm>
            <a:off x="916939" y="609676"/>
            <a:ext cx="920686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Internet Control Message Protocol (ICMP)</a:t>
            </a:r>
            <a:endParaRPr/>
          </a:p>
        </p:txBody>
      </p:sp>
      <p:sp>
        <p:nvSpPr>
          <p:cNvPr id="987" name="Google Shape;987;p85"/>
          <p:cNvSpPr txBox="1"/>
          <p:nvPr/>
        </p:nvSpPr>
        <p:spPr>
          <a:xfrm>
            <a:off x="916939" y="1766062"/>
            <a:ext cx="10304780" cy="4100829"/>
          </a:xfrm>
          <a:prstGeom prst="rect">
            <a:avLst/>
          </a:prstGeom>
          <a:noFill/>
          <a:ln>
            <a:noFill/>
          </a:ln>
        </p:spPr>
        <p:txBody>
          <a:bodyPr anchorCtr="0" anchor="t" bIns="0" lIns="0" spcFirstLastPara="1" rIns="0" wrap="square" tIns="92075">
            <a:spAutoFit/>
          </a:bodyPr>
          <a:lstStyle/>
          <a:p>
            <a:pPr indent="-228600" lvl="0" marL="241300" marR="1264285" rtl="0" algn="l">
              <a:lnSpc>
                <a:spcPct val="8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ICMP is used by hosts and routers to communicate network- layer  information to each other.</a:t>
            </a:r>
            <a:endParaRPr b="0" i="0" sz="2600" u="none" cap="none" strike="noStrike">
              <a:solidFill>
                <a:srgbClr val="000000"/>
              </a:solidFill>
              <a:latin typeface="Arial"/>
              <a:ea typeface="Arial"/>
              <a:cs typeface="Arial"/>
              <a:sym typeface="Arial"/>
            </a:endParaRPr>
          </a:p>
          <a:p>
            <a:pPr indent="-228600" lvl="0" marL="241300" marR="0" rtl="0" algn="l">
              <a:lnSpc>
                <a:spcPct val="100000"/>
              </a:lnSpc>
              <a:spcBef>
                <a:spcPts val="37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most typical use of ICMP is for error reporting.</a:t>
            </a:r>
            <a:endParaRPr b="0" i="0" sz="2600" u="none" cap="none" strike="noStrike">
              <a:solidFill>
                <a:srgbClr val="000000"/>
              </a:solidFill>
              <a:latin typeface="Arial"/>
              <a:ea typeface="Arial"/>
              <a:cs typeface="Arial"/>
              <a:sym typeface="Arial"/>
            </a:endParaRPr>
          </a:p>
          <a:p>
            <a:pPr indent="-303530" lvl="0" marL="315595" marR="0" rtl="0" algn="l">
              <a:lnSpc>
                <a:spcPct val="108076"/>
              </a:lnSpc>
              <a:spcBef>
                <a:spcPts val="38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For example, when running a Telnet, FTP, or HTTP session, have</a:t>
            </a:r>
            <a:endParaRPr b="0" i="0" sz="2600" u="none" cap="none" strike="noStrike">
              <a:solidFill>
                <a:srgbClr val="000000"/>
              </a:solidFill>
              <a:latin typeface="Arial"/>
              <a:ea typeface="Arial"/>
              <a:cs typeface="Arial"/>
              <a:sym typeface="Arial"/>
            </a:endParaRPr>
          </a:p>
          <a:p>
            <a:pPr indent="0" lvl="0" marL="241300" marR="5080" rtl="0" algn="l">
              <a:lnSpc>
                <a:spcPct val="96153"/>
              </a:lnSpc>
              <a:spcBef>
                <a:spcPts val="29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encountered an error message such as “Destination network unreachable.”  This message had its origins in ICMP.</a:t>
            </a:r>
            <a:endParaRPr b="0" i="0" sz="2600" u="none" cap="none" strike="noStrike">
              <a:solidFill>
                <a:srgbClr val="000000"/>
              </a:solidFill>
              <a:latin typeface="Arial"/>
              <a:ea typeface="Arial"/>
              <a:cs typeface="Arial"/>
              <a:sym typeface="Arial"/>
            </a:endParaRPr>
          </a:p>
          <a:p>
            <a:pPr indent="-228600" lvl="0" marL="241300" marR="162560" rtl="0" algn="l">
              <a:lnSpc>
                <a:spcPct val="96153"/>
              </a:lnSpc>
              <a:spcBef>
                <a:spcPts val="985"/>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ICMP messages are carried as IP payload, just as TCP or UDP segments are  carried as IP payload.</a:t>
            </a:r>
            <a:endParaRPr b="0" i="0" sz="2600" u="none" cap="none" strike="noStrike">
              <a:solidFill>
                <a:srgbClr val="000000"/>
              </a:solidFill>
              <a:latin typeface="Arial"/>
              <a:ea typeface="Arial"/>
              <a:cs typeface="Arial"/>
              <a:sym typeface="Arial"/>
            </a:endParaRPr>
          </a:p>
          <a:p>
            <a:pPr indent="-228600" lvl="0" marL="241300" marR="297815" rtl="0" algn="l">
              <a:lnSpc>
                <a:spcPct val="96153"/>
              </a:lnSpc>
              <a:spcBef>
                <a:spcPts val="99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ICMP messages have a type and a code field, and contain the header and  the first 8 bytes of the IP datagram that caused the ICMP message to be  generated.</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1" name="Shape 991"/>
        <p:cNvGrpSpPr/>
        <p:nvPr/>
      </p:nvGrpSpPr>
      <p:grpSpPr>
        <a:xfrm>
          <a:off x="0" y="0"/>
          <a:ext cx="0" cy="0"/>
          <a:chOff x="0" y="0"/>
          <a:chExt cx="0" cy="0"/>
        </a:xfrm>
      </p:grpSpPr>
      <p:sp>
        <p:nvSpPr>
          <p:cNvPr id="992" name="Google Shape;992;p86"/>
          <p:cNvSpPr txBox="1"/>
          <p:nvPr>
            <p:ph type="title"/>
          </p:nvPr>
        </p:nvSpPr>
        <p:spPr>
          <a:xfrm>
            <a:off x="916939" y="609676"/>
            <a:ext cx="96139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IPv6</a:t>
            </a:r>
            <a:endParaRPr/>
          </a:p>
        </p:txBody>
      </p:sp>
      <p:sp>
        <p:nvSpPr>
          <p:cNvPr id="993" name="Google Shape;993;p86"/>
          <p:cNvSpPr txBox="1"/>
          <p:nvPr/>
        </p:nvSpPr>
        <p:spPr>
          <a:xfrm>
            <a:off x="916939" y="1793493"/>
            <a:ext cx="9888220" cy="2116455"/>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32-bit IP address space was beginning to be used up, with new  subnets and IP nodes being attached to the Internet (and being  allocated unique IP addresses) at a breathtaking rate.</a:t>
            </a:r>
            <a:endParaRPr b="0" i="0" sz="2800" u="none" cap="none" strike="noStrike">
              <a:solidFill>
                <a:srgbClr val="000000"/>
              </a:solidFill>
              <a:latin typeface="Arial"/>
              <a:ea typeface="Arial"/>
              <a:cs typeface="Arial"/>
              <a:sym typeface="Arial"/>
            </a:endParaRPr>
          </a:p>
          <a:p>
            <a:pPr indent="-228600" lvl="0" marL="241300" marR="668655" rtl="0" algn="l">
              <a:lnSpc>
                <a:spcPct val="107857"/>
              </a:lnSpc>
              <a:spcBef>
                <a:spcPts val="1019"/>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Need for a large IP address space, a new IP protocol, IPv6, was  developed.</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7" name="Shape 997"/>
        <p:cNvGrpSpPr/>
        <p:nvPr/>
      </p:nvGrpSpPr>
      <p:grpSpPr>
        <a:xfrm>
          <a:off x="0" y="0"/>
          <a:ext cx="0" cy="0"/>
          <a:chOff x="0" y="0"/>
          <a:chExt cx="0" cy="0"/>
        </a:xfrm>
      </p:grpSpPr>
      <p:sp>
        <p:nvSpPr>
          <p:cNvPr id="998" name="Google Shape;998;p87"/>
          <p:cNvSpPr txBox="1"/>
          <p:nvPr>
            <p:ph type="title"/>
          </p:nvPr>
        </p:nvSpPr>
        <p:spPr>
          <a:xfrm>
            <a:off x="916939" y="609676"/>
            <a:ext cx="493776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IPv6 Datagram Format</a:t>
            </a:r>
            <a:endParaRPr/>
          </a:p>
        </p:txBody>
      </p:sp>
      <p:sp>
        <p:nvSpPr>
          <p:cNvPr id="999" name="Google Shape;999;p87"/>
          <p:cNvSpPr/>
          <p:nvPr/>
        </p:nvSpPr>
        <p:spPr>
          <a:xfrm>
            <a:off x="1845563" y="1690196"/>
            <a:ext cx="8830303" cy="48279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3" name="Shape 1003"/>
        <p:cNvGrpSpPr/>
        <p:nvPr/>
      </p:nvGrpSpPr>
      <p:grpSpPr>
        <a:xfrm>
          <a:off x="0" y="0"/>
          <a:ext cx="0" cy="0"/>
          <a:chOff x="0" y="0"/>
          <a:chExt cx="0" cy="0"/>
        </a:xfrm>
      </p:grpSpPr>
      <p:sp>
        <p:nvSpPr>
          <p:cNvPr id="1004" name="Google Shape;1004;p88"/>
          <p:cNvSpPr txBox="1"/>
          <p:nvPr>
            <p:ph type="title"/>
          </p:nvPr>
        </p:nvSpPr>
        <p:spPr>
          <a:xfrm>
            <a:off x="916939" y="308228"/>
            <a:ext cx="10358120" cy="1300480"/>
          </a:xfrm>
          <a:prstGeom prst="rect">
            <a:avLst/>
          </a:prstGeom>
          <a:noFill/>
          <a:ln>
            <a:noFill/>
          </a:ln>
        </p:spPr>
        <p:txBody>
          <a:bodyPr anchorCtr="0" anchor="t" bIns="0" lIns="0" spcFirstLastPara="1" rIns="0" wrap="square" tIns="88900">
            <a:spAutoFit/>
          </a:bodyPr>
          <a:lstStyle/>
          <a:p>
            <a:pPr indent="0" lvl="0" marL="12700" marR="5080" rtl="0" algn="l">
              <a:lnSpc>
                <a:spcPct val="107954"/>
              </a:lnSpc>
              <a:spcBef>
                <a:spcPts val="0"/>
              </a:spcBef>
              <a:spcAft>
                <a:spcPts val="0"/>
              </a:spcAft>
              <a:buNone/>
            </a:pPr>
            <a:r>
              <a:rPr lang="en-US"/>
              <a:t>The most important changes introduced in  IPv6 are:</a:t>
            </a:r>
            <a:endParaRPr/>
          </a:p>
        </p:txBody>
      </p:sp>
      <p:sp>
        <p:nvSpPr>
          <p:cNvPr id="1005" name="Google Shape;1005;p88"/>
          <p:cNvSpPr txBox="1"/>
          <p:nvPr>
            <p:ph idx="1" type="body"/>
          </p:nvPr>
        </p:nvSpPr>
        <p:spPr>
          <a:xfrm>
            <a:off x="916939" y="1602105"/>
            <a:ext cx="10139680" cy="4537075"/>
          </a:xfrm>
          <a:prstGeom prst="rect">
            <a:avLst/>
          </a:prstGeom>
          <a:noFill/>
          <a:ln>
            <a:noFill/>
          </a:ln>
        </p:spPr>
        <p:txBody>
          <a:bodyPr anchorCtr="0" anchor="t" bIns="0" lIns="0" spcFirstLastPara="1" rIns="0" wrap="square" tIns="13325">
            <a:spAutoFit/>
          </a:bodyPr>
          <a:lstStyle/>
          <a:p>
            <a:pPr indent="-228600" lvl="0" marL="241300" rtl="0" algn="l">
              <a:lnSpc>
                <a:spcPct val="101923"/>
              </a:lnSpc>
              <a:spcBef>
                <a:spcPts val="0"/>
              </a:spcBef>
              <a:spcAft>
                <a:spcPts val="0"/>
              </a:spcAft>
              <a:buClr>
                <a:srgbClr val="44536A"/>
              </a:buClr>
              <a:buSzPts val="2600"/>
              <a:buFont typeface="Arial"/>
              <a:buChar char="•"/>
            </a:pPr>
            <a:r>
              <a:rPr i="1" lang="en-US">
                <a:solidFill>
                  <a:srgbClr val="44536A"/>
                </a:solidFill>
                <a:latin typeface="Arial"/>
                <a:ea typeface="Arial"/>
                <a:cs typeface="Arial"/>
                <a:sym typeface="Arial"/>
              </a:rPr>
              <a:t>Expanded addressing capabilities</a:t>
            </a:r>
            <a:r>
              <a:rPr i="1" lang="en-US">
                <a:latin typeface="Arial"/>
                <a:ea typeface="Arial"/>
                <a:cs typeface="Arial"/>
                <a:sym typeface="Arial"/>
              </a:rPr>
              <a:t>. </a:t>
            </a:r>
            <a:r>
              <a:rPr lang="en-US"/>
              <a:t>IPv6 increases the size of the IP address</a:t>
            </a:r>
            <a:endParaRPr/>
          </a:p>
          <a:p>
            <a:pPr indent="0" lvl="0" marL="241300" marR="932180" rtl="0" algn="l">
              <a:lnSpc>
                <a:spcPct val="70100"/>
              </a:lnSpc>
              <a:spcBef>
                <a:spcPts val="459"/>
              </a:spcBef>
              <a:spcAft>
                <a:spcPts val="0"/>
              </a:spcAft>
              <a:buNone/>
            </a:pPr>
            <a:r>
              <a:rPr lang="en-US"/>
              <a:t>from 32 to 128 bits. This ensures that the world won’t run out of IP  addresses.</a:t>
            </a:r>
            <a:endParaRPr/>
          </a:p>
          <a:p>
            <a:pPr indent="-228600" lvl="0" marL="241300" rtl="0" algn="l">
              <a:lnSpc>
                <a:spcPct val="101923"/>
              </a:lnSpc>
              <a:spcBef>
                <a:spcPts val="60"/>
              </a:spcBef>
              <a:spcAft>
                <a:spcPts val="0"/>
              </a:spcAft>
              <a:buClr>
                <a:schemeClr val="dk1"/>
              </a:buClr>
              <a:buSzPts val="2600"/>
              <a:buFont typeface="Arial"/>
              <a:buChar char="•"/>
            </a:pPr>
            <a:r>
              <a:rPr lang="en-US"/>
              <a:t>In addition to unicast and multicast addresses, IPv6 has introduced a new</a:t>
            </a:r>
            <a:endParaRPr/>
          </a:p>
          <a:p>
            <a:pPr indent="0" lvl="0" marL="241300" marR="5080" rtl="0" algn="l">
              <a:lnSpc>
                <a:spcPct val="70000"/>
              </a:lnSpc>
              <a:spcBef>
                <a:spcPts val="470"/>
              </a:spcBef>
              <a:spcAft>
                <a:spcPts val="0"/>
              </a:spcAft>
              <a:buNone/>
            </a:pPr>
            <a:r>
              <a:rPr lang="en-US"/>
              <a:t>type of address, called an </a:t>
            </a:r>
            <a:r>
              <a:rPr b="1" lang="en-US">
                <a:latin typeface="Arial"/>
                <a:ea typeface="Arial"/>
                <a:cs typeface="Arial"/>
                <a:sym typeface="Arial"/>
              </a:rPr>
              <a:t>anycast address</a:t>
            </a:r>
            <a:r>
              <a:rPr lang="en-US"/>
              <a:t>, which allows a datagram to be  delivered to any one of a group of hosts.</a:t>
            </a:r>
            <a:endParaRPr/>
          </a:p>
          <a:p>
            <a:pPr indent="-228600" lvl="0" marL="241300" marR="45720" rtl="0" algn="l">
              <a:lnSpc>
                <a:spcPct val="70100"/>
              </a:lnSpc>
              <a:spcBef>
                <a:spcPts val="995"/>
              </a:spcBef>
              <a:spcAft>
                <a:spcPts val="0"/>
              </a:spcAft>
              <a:buClr>
                <a:srgbClr val="44536A"/>
              </a:buClr>
              <a:buSzPts val="2600"/>
              <a:buFont typeface="Arial"/>
              <a:buChar char="•"/>
            </a:pPr>
            <a:r>
              <a:rPr i="1" lang="en-US">
                <a:solidFill>
                  <a:srgbClr val="44536A"/>
                </a:solidFill>
                <a:latin typeface="Arial"/>
                <a:ea typeface="Arial"/>
                <a:cs typeface="Arial"/>
                <a:sym typeface="Arial"/>
              </a:rPr>
              <a:t>A streamlined 40-byte header</a:t>
            </a:r>
            <a:r>
              <a:rPr i="1" lang="en-US">
                <a:latin typeface="Arial"/>
                <a:ea typeface="Arial"/>
                <a:cs typeface="Arial"/>
                <a:sym typeface="Arial"/>
              </a:rPr>
              <a:t>. </a:t>
            </a:r>
            <a:r>
              <a:rPr lang="en-US"/>
              <a:t>a number of IPv4 fields have been dropped  or made optional.</a:t>
            </a:r>
            <a:endParaRPr/>
          </a:p>
          <a:p>
            <a:pPr indent="-228600" lvl="0" marL="241300" marR="289560" rtl="0" algn="l">
              <a:lnSpc>
                <a:spcPct val="70000"/>
              </a:lnSpc>
              <a:spcBef>
                <a:spcPts val="1005"/>
              </a:spcBef>
              <a:spcAft>
                <a:spcPts val="0"/>
              </a:spcAft>
              <a:buClr>
                <a:schemeClr val="dk1"/>
              </a:buClr>
              <a:buSzPts val="2600"/>
              <a:buFont typeface="Arial"/>
              <a:buChar char="•"/>
            </a:pPr>
            <a:r>
              <a:rPr lang="en-US"/>
              <a:t>The resulting 40-byte fixed-length header allows for faster processing of  the IP datagram.</a:t>
            </a:r>
            <a:endParaRPr/>
          </a:p>
          <a:p>
            <a:pPr indent="-228600" lvl="0" marL="241300" rtl="0" algn="l">
              <a:lnSpc>
                <a:spcPct val="101923"/>
              </a:lnSpc>
              <a:spcBef>
                <a:spcPts val="60"/>
              </a:spcBef>
              <a:spcAft>
                <a:spcPts val="0"/>
              </a:spcAft>
              <a:buClr>
                <a:srgbClr val="44536A"/>
              </a:buClr>
              <a:buSzPts val="2600"/>
              <a:buFont typeface="Arial"/>
              <a:buChar char="•"/>
            </a:pPr>
            <a:r>
              <a:rPr i="1" lang="en-US">
                <a:solidFill>
                  <a:srgbClr val="44536A"/>
                </a:solidFill>
                <a:latin typeface="Arial"/>
                <a:ea typeface="Arial"/>
                <a:cs typeface="Arial"/>
                <a:sym typeface="Arial"/>
              </a:rPr>
              <a:t>Flow labeling and priority. </a:t>
            </a:r>
            <a:r>
              <a:rPr lang="en-US"/>
              <a:t>The IPv6 header has an 8-bit traffic class field.</a:t>
            </a:r>
            <a:endParaRPr/>
          </a:p>
          <a:p>
            <a:pPr indent="0" lvl="0" marL="241300" rtl="0" algn="l">
              <a:lnSpc>
                <a:spcPct val="84038"/>
              </a:lnSpc>
              <a:spcBef>
                <a:spcPts val="0"/>
              </a:spcBef>
              <a:spcAft>
                <a:spcPts val="0"/>
              </a:spcAft>
              <a:buNone/>
            </a:pPr>
            <a:r>
              <a:rPr lang="en-US"/>
              <a:t>This field, like the TOS field in IPv4, can be used to give priority to certain</a:t>
            </a:r>
            <a:endParaRPr/>
          </a:p>
          <a:p>
            <a:pPr indent="0" lvl="0" marL="241300" marR="421640" rtl="0" algn="l">
              <a:lnSpc>
                <a:spcPct val="70000"/>
              </a:lnSpc>
              <a:spcBef>
                <a:spcPts val="470"/>
              </a:spcBef>
              <a:spcAft>
                <a:spcPts val="0"/>
              </a:spcAft>
              <a:buNone/>
            </a:pPr>
            <a:r>
              <a:rPr lang="en-US"/>
              <a:t>datagrams within a flow, or it can be used to give priority to datagrams  from certain applications.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9" name="Shape 1009"/>
        <p:cNvGrpSpPr/>
        <p:nvPr/>
      </p:nvGrpSpPr>
      <p:grpSpPr>
        <a:xfrm>
          <a:off x="0" y="0"/>
          <a:ext cx="0" cy="0"/>
          <a:chOff x="0" y="0"/>
          <a:chExt cx="0" cy="0"/>
        </a:xfrm>
      </p:grpSpPr>
      <p:sp>
        <p:nvSpPr>
          <p:cNvPr id="1010" name="Google Shape;1010;p89"/>
          <p:cNvSpPr txBox="1"/>
          <p:nvPr>
            <p:ph type="title"/>
          </p:nvPr>
        </p:nvSpPr>
        <p:spPr>
          <a:xfrm>
            <a:off x="916939" y="609676"/>
            <a:ext cx="573214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IPv6 format contains:</a:t>
            </a:r>
            <a:endParaRPr/>
          </a:p>
        </p:txBody>
      </p:sp>
      <p:sp>
        <p:nvSpPr>
          <p:cNvPr id="1011" name="Google Shape;1011;p89"/>
          <p:cNvSpPr txBox="1"/>
          <p:nvPr/>
        </p:nvSpPr>
        <p:spPr>
          <a:xfrm>
            <a:off x="916939" y="1583547"/>
            <a:ext cx="10118090" cy="4415155"/>
          </a:xfrm>
          <a:prstGeom prst="rect">
            <a:avLst/>
          </a:prstGeom>
          <a:noFill/>
          <a:ln>
            <a:noFill/>
          </a:ln>
        </p:spPr>
        <p:txBody>
          <a:bodyPr anchorCtr="0" anchor="t" bIns="0" lIns="0" spcFirstLastPara="1" rIns="0" wrap="square" tIns="53325">
            <a:spAutoFit/>
          </a:bodyPr>
          <a:lstStyle/>
          <a:p>
            <a:pPr indent="-228600" lvl="0" marL="241300" marR="0" rtl="0" algn="l">
              <a:lnSpc>
                <a:spcPct val="100000"/>
              </a:lnSpc>
              <a:spcBef>
                <a:spcPts val="0"/>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Version. </a:t>
            </a:r>
            <a:r>
              <a:rPr b="0" i="0" lang="en-US" sz="2800" u="none" cap="none" strike="noStrike">
                <a:solidFill>
                  <a:srgbClr val="000000"/>
                </a:solidFill>
                <a:latin typeface="Arial"/>
                <a:ea typeface="Arial"/>
                <a:cs typeface="Arial"/>
                <a:sym typeface="Arial"/>
              </a:rPr>
              <a:t>This 4-bit field identifies the IP version number.</a:t>
            </a:r>
            <a:endParaRPr b="0" i="0" sz="2800" u="none" cap="none" strike="noStrike">
              <a:solidFill>
                <a:srgbClr val="000000"/>
              </a:solidFill>
              <a:latin typeface="Arial"/>
              <a:ea typeface="Arial"/>
              <a:cs typeface="Arial"/>
              <a:sym typeface="Arial"/>
            </a:endParaRPr>
          </a:p>
          <a:p>
            <a:pPr indent="-228600" lvl="0" marL="241300" marR="5080" rtl="0" algn="l">
              <a:lnSpc>
                <a:spcPct val="96071"/>
              </a:lnSpc>
              <a:spcBef>
                <a:spcPts val="97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Traffic class. </a:t>
            </a:r>
            <a:r>
              <a:rPr b="0" i="0" lang="en-US" sz="2800" u="none" cap="none" strike="noStrike">
                <a:solidFill>
                  <a:srgbClr val="000000"/>
                </a:solidFill>
                <a:latin typeface="Arial"/>
                <a:ea typeface="Arial"/>
                <a:cs typeface="Arial"/>
                <a:sym typeface="Arial"/>
              </a:rPr>
              <a:t>This 8-bit field is similar in spirit to the TOS field we saw  in IPv4.</a:t>
            </a:r>
            <a:endParaRPr b="0" i="0" sz="2800" u="none" cap="none" strike="noStrike">
              <a:solidFill>
                <a:srgbClr val="000000"/>
              </a:solidFill>
              <a:latin typeface="Arial"/>
              <a:ea typeface="Arial"/>
              <a:cs typeface="Arial"/>
              <a:sym typeface="Arial"/>
            </a:endParaRPr>
          </a:p>
          <a:p>
            <a:pPr indent="-309880" lvl="0" marL="321945" marR="0" rtl="0" algn="l">
              <a:lnSpc>
                <a:spcPct val="100000"/>
              </a:lnSpc>
              <a:spcBef>
                <a:spcPts val="35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Flow label. </a:t>
            </a:r>
            <a:r>
              <a:rPr b="0" i="0" lang="en-US" sz="2800" u="none" cap="none" strike="noStrike">
                <a:solidFill>
                  <a:srgbClr val="000000"/>
                </a:solidFill>
                <a:latin typeface="Arial"/>
                <a:ea typeface="Arial"/>
                <a:cs typeface="Arial"/>
                <a:sym typeface="Arial"/>
              </a:rPr>
              <a:t>this 20-bit field is used to identify a flow of datagrams.</a:t>
            </a:r>
            <a:endParaRPr b="0" i="0" sz="2800" u="none" cap="none" strike="noStrike">
              <a:solidFill>
                <a:srgbClr val="000000"/>
              </a:solidFill>
              <a:latin typeface="Arial"/>
              <a:ea typeface="Arial"/>
              <a:cs typeface="Arial"/>
              <a:sym typeface="Arial"/>
            </a:endParaRPr>
          </a:p>
          <a:p>
            <a:pPr indent="-228600" lvl="0" marL="241300" marR="78105" rtl="0" algn="l">
              <a:lnSpc>
                <a:spcPct val="96071"/>
              </a:lnSpc>
              <a:spcBef>
                <a:spcPts val="97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Payload length. </a:t>
            </a:r>
            <a:r>
              <a:rPr b="0" i="0" lang="en-US" sz="2800" u="none" cap="none" strike="noStrike">
                <a:solidFill>
                  <a:srgbClr val="000000"/>
                </a:solidFill>
                <a:latin typeface="Arial"/>
                <a:ea typeface="Arial"/>
                <a:cs typeface="Arial"/>
                <a:sym typeface="Arial"/>
              </a:rPr>
              <a:t>This 16-bit value is treated as an unsigned integer  giving the number of bytes in the IPv6 datagram following the fixed-  length, 40-byte datagram header.</a:t>
            </a:r>
            <a:endParaRPr b="0" i="0" sz="2800" u="none" cap="none" strike="noStrike">
              <a:solidFill>
                <a:srgbClr val="000000"/>
              </a:solidFill>
              <a:latin typeface="Arial"/>
              <a:ea typeface="Arial"/>
              <a:cs typeface="Arial"/>
              <a:sym typeface="Arial"/>
            </a:endParaRPr>
          </a:p>
          <a:p>
            <a:pPr indent="-228600" lvl="0" marL="241300" marR="12065" rtl="0" algn="just">
              <a:lnSpc>
                <a:spcPct val="80000"/>
              </a:lnSpc>
              <a:spcBef>
                <a:spcPts val="101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1" lang="en-US" sz="2800" u="none" cap="none" strike="noStrike">
                <a:solidFill>
                  <a:srgbClr val="000000"/>
                </a:solidFill>
                <a:latin typeface="Arial"/>
                <a:ea typeface="Arial"/>
                <a:cs typeface="Arial"/>
                <a:sym typeface="Arial"/>
              </a:rPr>
              <a:t>Next header. </a:t>
            </a:r>
            <a:r>
              <a:rPr b="0" i="0" lang="en-US" sz="2800" u="none" cap="none" strike="noStrike">
                <a:solidFill>
                  <a:srgbClr val="000000"/>
                </a:solidFill>
                <a:latin typeface="Arial"/>
                <a:ea typeface="Arial"/>
                <a:cs typeface="Arial"/>
                <a:sym typeface="Arial"/>
              </a:rPr>
              <a:t>This field identifies the protocol to which the contents  (data field) of this datagram will be delivered (for example, to TCP or  UDP). The field uses the same values as the protocol field in the IPv4  header.</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5" name="Shape 1015"/>
        <p:cNvGrpSpPr/>
        <p:nvPr/>
      </p:nvGrpSpPr>
      <p:grpSpPr>
        <a:xfrm>
          <a:off x="0" y="0"/>
          <a:ext cx="0" cy="0"/>
          <a:chOff x="0" y="0"/>
          <a:chExt cx="0" cy="0"/>
        </a:xfrm>
      </p:grpSpPr>
      <p:sp>
        <p:nvSpPr>
          <p:cNvPr id="1016" name="Google Shape;1016;p90"/>
          <p:cNvSpPr txBox="1"/>
          <p:nvPr/>
        </p:nvSpPr>
        <p:spPr>
          <a:xfrm>
            <a:off x="916939" y="528904"/>
            <a:ext cx="10115550" cy="3780154"/>
          </a:xfrm>
          <a:prstGeom prst="rect">
            <a:avLst/>
          </a:prstGeom>
          <a:noFill/>
          <a:ln>
            <a:noFill/>
          </a:ln>
        </p:spPr>
        <p:txBody>
          <a:bodyPr anchorCtr="0" anchor="t" bIns="0" lIns="0" spcFirstLastPara="1" rIns="0" wrap="square" tIns="55225">
            <a:spAutoFit/>
          </a:bodyPr>
          <a:lstStyle/>
          <a:p>
            <a:pPr indent="-228600" lvl="0" marL="241300" marR="5080" rtl="0" algn="l">
              <a:lnSpc>
                <a:spcPct val="90000"/>
              </a:lnSpc>
              <a:spcBef>
                <a:spcPts val="0"/>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Hop limit. </a:t>
            </a:r>
            <a:r>
              <a:rPr b="0" i="0" lang="en-US" sz="2800" u="none" cap="none" strike="noStrike">
                <a:solidFill>
                  <a:srgbClr val="000000"/>
                </a:solidFill>
                <a:latin typeface="Arial"/>
                <a:ea typeface="Arial"/>
                <a:cs typeface="Arial"/>
                <a:sym typeface="Arial"/>
              </a:rPr>
              <a:t>The contents of this field are decremented by one by each  router that forwards the datagram. If the hop limit count reaches  zero, the datagram is discarded.</a:t>
            </a:r>
            <a:endParaRPr b="0" i="0" sz="2800" u="none" cap="none" strike="noStrike">
              <a:solidFill>
                <a:srgbClr val="000000"/>
              </a:solidFill>
              <a:latin typeface="Arial"/>
              <a:ea typeface="Arial"/>
              <a:cs typeface="Arial"/>
              <a:sym typeface="Arial"/>
            </a:endParaRPr>
          </a:p>
          <a:p>
            <a:pPr indent="-228600" lvl="0" marL="241300" marR="406400" rtl="0" algn="l">
              <a:lnSpc>
                <a:spcPct val="108214"/>
              </a:lnSpc>
              <a:spcBef>
                <a:spcPts val="1045"/>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Source and destination addresses. </a:t>
            </a:r>
            <a:r>
              <a:rPr b="0" i="0" lang="en-US" sz="2800" u="none" cap="none" strike="noStrike">
                <a:solidFill>
                  <a:srgbClr val="000000"/>
                </a:solidFill>
                <a:latin typeface="Arial"/>
                <a:ea typeface="Arial"/>
                <a:cs typeface="Arial"/>
                <a:sym typeface="Arial"/>
              </a:rPr>
              <a:t>The various formats of the IPv6  128-bit address .</a:t>
            </a:r>
            <a:endParaRPr b="0" i="0" sz="2800" u="none" cap="none" strike="noStrike">
              <a:solidFill>
                <a:srgbClr val="000000"/>
              </a:solidFill>
              <a:latin typeface="Arial"/>
              <a:ea typeface="Arial"/>
              <a:cs typeface="Arial"/>
              <a:sym typeface="Arial"/>
            </a:endParaRPr>
          </a:p>
          <a:p>
            <a:pPr indent="-228600" lvl="0" marL="241300" marR="113664" rtl="0" algn="l">
              <a:lnSpc>
                <a:spcPct val="90000"/>
              </a:lnSpc>
              <a:spcBef>
                <a:spcPts val="944"/>
              </a:spcBef>
              <a:spcAft>
                <a:spcPts val="0"/>
              </a:spcAft>
              <a:buClr>
                <a:srgbClr val="000000"/>
              </a:buClr>
              <a:buSzPts val="2800"/>
              <a:buFont typeface="Arial"/>
              <a:buChar char="•"/>
            </a:pPr>
            <a:r>
              <a:rPr b="0" i="1" lang="en-US" sz="2800" u="none" cap="none" strike="noStrike">
                <a:solidFill>
                  <a:srgbClr val="000000"/>
                </a:solidFill>
                <a:latin typeface="Arial"/>
                <a:ea typeface="Arial"/>
                <a:cs typeface="Arial"/>
                <a:sym typeface="Arial"/>
              </a:rPr>
              <a:t>Data. </a:t>
            </a:r>
            <a:r>
              <a:rPr b="0" i="0" lang="en-US" sz="2800" u="none" cap="none" strike="noStrike">
                <a:solidFill>
                  <a:srgbClr val="000000"/>
                </a:solidFill>
                <a:latin typeface="Arial"/>
                <a:ea typeface="Arial"/>
                <a:cs typeface="Arial"/>
                <a:sym typeface="Arial"/>
              </a:rPr>
              <a:t>This is the payload portion of the IPv6 datagram. When the  datagram reaches its destination, the payload will be removed from  the IP datagram and passed on to the protocol specified in the next  header field.</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0" name="Shape 1020"/>
        <p:cNvGrpSpPr/>
        <p:nvPr/>
      </p:nvGrpSpPr>
      <p:grpSpPr>
        <a:xfrm>
          <a:off x="0" y="0"/>
          <a:ext cx="0" cy="0"/>
          <a:chOff x="0" y="0"/>
          <a:chExt cx="0" cy="0"/>
        </a:xfrm>
      </p:grpSpPr>
      <p:sp>
        <p:nvSpPr>
          <p:cNvPr id="1021" name="Google Shape;1021;p91"/>
          <p:cNvSpPr txBox="1"/>
          <p:nvPr/>
        </p:nvSpPr>
        <p:spPr>
          <a:xfrm>
            <a:off x="916939" y="599897"/>
            <a:ext cx="10361930" cy="5868035"/>
          </a:xfrm>
          <a:prstGeom prst="rect">
            <a:avLst/>
          </a:prstGeom>
          <a:noFill/>
          <a:ln>
            <a:noFill/>
          </a:ln>
        </p:spPr>
        <p:txBody>
          <a:bodyPr anchorCtr="0" anchor="t" bIns="0" lIns="0" spcFirstLastPara="1" rIns="0" wrap="square" tIns="97775">
            <a:spAutoFit/>
          </a:bodyPr>
          <a:lstStyle/>
          <a:p>
            <a:pPr indent="-228600" lvl="0" marL="241300" marR="5080" rtl="0" algn="l">
              <a:lnSpc>
                <a:spcPct val="8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IPv6 does not allow for </a:t>
            </a:r>
            <a:r>
              <a:rPr b="0" i="0" lang="en-US" sz="2800" u="none" cap="none" strike="noStrike">
                <a:solidFill>
                  <a:srgbClr val="44536A"/>
                </a:solidFill>
                <a:latin typeface="Arial"/>
                <a:ea typeface="Arial"/>
                <a:cs typeface="Arial"/>
                <a:sym typeface="Arial"/>
              </a:rPr>
              <a:t>fragmentation and reassembly </a:t>
            </a:r>
            <a:r>
              <a:rPr b="0" i="0" lang="en-US" sz="2800" u="none" cap="none" strike="noStrike">
                <a:solidFill>
                  <a:srgbClr val="000000"/>
                </a:solidFill>
                <a:latin typeface="Arial"/>
                <a:ea typeface="Arial"/>
                <a:cs typeface="Arial"/>
                <a:sym typeface="Arial"/>
              </a:rPr>
              <a:t>at intermediate  routers; these operations can be performed only by the source and  destination.</a:t>
            </a:r>
            <a:endParaRPr b="0" i="0" sz="2800" u="none" cap="none" strike="noStrike">
              <a:solidFill>
                <a:srgbClr val="000000"/>
              </a:solidFill>
              <a:latin typeface="Arial"/>
              <a:ea typeface="Arial"/>
              <a:cs typeface="Arial"/>
              <a:sym typeface="Arial"/>
            </a:endParaRPr>
          </a:p>
          <a:p>
            <a:pPr indent="-228600" lvl="0" marL="241300" marR="198120" rtl="0" algn="l">
              <a:lnSpc>
                <a:spcPct val="96071"/>
              </a:lnSpc>
              <a:spcBef>
                <a:spcPts val="969"/>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If an IPv6 datagram received by a router is too large to be forwarded  over the outgoing link, the router simply drops the datagram and  sends a “Packet Too Big” ICMP error message back to the sender.</a:t>
            </a:r>
            <a:endParaRPr b="0" i="0" sz="2800" u="none" cap="none" strike="noStrike">
              <a:solidFill>
                <a:srgbClr val="000000"/>
              </a:solidFill>
              <a:latin typeface="Arial"/>
              <a:ea typeface="Arial"/>
              <a:cs typeface="Arial"/>
              <a:sym typeface="Arial"/>
            </a:endParaRPr>
          </a:p>
          <a:p>
            <a:pPr indent="-228600" lvl="0" marL="241300" marR="608965" rtl="0" algn="l">
              <a:lnSpc>
                <a:spcPct val="96071"/>
              </a:lnSpc>
              <a:spcBef>
                <a:spcPts val="1005"/>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Arial"/>
                <a:ea typeface="Arial"/>
                <a:cs typeface="Arial"/>
                <a:sym typeface="Arial"/>
              </a:rPr>
              <a:t>The sender can then resend the data, using a smaller IP datagram  size.</a:t>
            </a:r>
            <a:endParaRPr b="0" i="0" sz="2800" u="none" cap="none" strike="noStrike">
              <a:solidFill>
                <a:srgbClr val="000000"/>
              </a:solidFill>
              <a:latin typeface="Arial"/>
              <a:ea typeface="Arial"/>
              <a:cs typeface="Arial"/>
              <a:sym typeface="Arial"/>
            </a:endParaRPr>
          </a:p>
          <a:p>
            <a:pPr indent="-228600" lvl="0" marL="241300" marR="36195" rtl="0" algn="l">
              <a:lnSpc>
                <a:spcPct val="80000"/>
              </a:lnSpc>
              <a:spcBef>
                <a:spcPts val="101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Because the transport-layer (for example, TCP and UDP) and link-layer  (for example, Ethernet) protocols in the Internet layers perform </a:t>
            </a:r>
            <a:r>
              <a:rPr b="0" i="0" lang="en-US" sz="2800" u="none" cap="none" strike="noStrike">
                <a:solidFill>
                  <a:srgbClr val="44536A"/>
                </a:solidFill>
                <a:latin typeface="Arial"/>
                <a:ea typeface="Arial"/>
                <a:cs typeface="Arial"/>
                <a:sym typeface="Arial"/>
              </a:rPr>
              <a:t> checksumming, </a:t>
            </a:r>
            <a:r>
              <a:rPr b="0" i="0" lang="en-US" sz="2800" u="none" cap="none" strike="noStrike">
                <a:solidFill>
                  <a:srgbClr val="000000"/>
                </a:solidFill>
                <a:latin typeface="Arial"/>
                <a:ea typeface="Arial"/>
                <a:cs typeface="Arial"/>
                <a:sym typeface="Arial"/>
              </a:rPr>
              <a:t>this functionality was sufficiently redundant in the  network layer and is removed.</a:t>
            </a:r>
            <a:endParaRPr b="0" i="0" sz="2800" u="none" cap="none" strike="noStrike">
              <a:solidFill>
                <a:srgbClr val="000000"/>
              </a:solidFill>
              <a:latin typeface="Arial"/>
              <a:ea typeface="Arial"/>
              <a:cs typeface="Arial"/>
              <a:sym typeface="Arial"/>
            </a:endParaRPr>
          </a:p>
          <a:p>
            <a:pPr indent="-228600" lvl="0" marL="241300" marR="0" rtl="0" algn="l">
              <a:lnSpc>
                <a:spcPct val="100000"/>
              </a:lnSpc>
              <a:spcBef>
                <a:spcPts val="32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Once again, fast processing of IP packets was a central concern.</a:t>
            </a:r>
            <a:endParaRPr b="0" i="0" sz="2800" u="none" cap="none" strike="noStrike">
              <a:solidFill>
                <a:srgbClr val="000000"/>
              </a:solidFill>
              <a:latin typeface="Arial"/>
              <a:ea typeface="Arial"/>
              <a:cs typeface="Arial"/>
              <a:sym typeface="Arial"/>
            </a:endParaRPr>
          </a:p>
          <a:p>
            <a:pPr indent="-228600" lvl="0" marL="241300" marR="422909" rtl="0" algn="l">
              <a:lnSpc>
                <a:spcPct val="80000"/>
              </a:lnSpc>
              <a:spcBef>
                <a:spcPts val="101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removal of the </a:t>
            </a:r>
            <a:r>
              <a:rPr b="0" i="0" lang="en-US" sz="2800" u="none" cap="none" strike="noStrike">
                <a:solidFill>
                  <a:srgbClr val="44536A"/>
                </a:solidFill>
                <a:latin typeface="Arial"/>
                <a:ea typeface="Arial"/>
                <a:cs typeface="Arial"/>
                <a:sym typeface="Arial"/>
              </a:rPr>
              <a:t>options field </a:t>
            </a:r>
            <a:r>
              <a:rPr b="0" i="0" lang="en-US" sz="2800" u="none" cap="none" strike="noStrike">
                <a:solidFill>
                  <a:srgbClr val="000000"/>
                </a:solidFill>
                <a:latin typeface="Arial"/>
                <a:ea typeface="Arial"/>
                <a:cs typeface="Arial"/>
                <a:sym typeface="Arial"/>
              </a:rPr>
              <a:t>results in a fixed-length, 40-byte IP  header.</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5" name="Shape 1025"/>
        <p:cNvGrpSpPr/>
        <p:nvPr/>
      </p:nvGrpSpPr>
      <p:grpSpPr>
        <a:xfrm>
          <a:off x="0" y="0"/>
          <a:ext cx="0" cy="0"/>
          <a:chOff x="0" y="0"/>
          <a:chExt cx="0" cy="0"/>
        </a:xfrm>
      </p:grpSpPr>
      <p:sp>
        <p:nvSpPr>
          <p:cNvPr id="1026" name="Google Shape;1026;p92"/>
          <p:cNvSpPr txBox="1"/>
          <p:nvPr>
            <p:ph type="title"/>
          </p:nvPr>
        </p:nvSpPr>
        <p:spPr>
          <a:xfrm>
            <a:off x="916939" y="308228"/>
            <a:ext cx="9780905" cy="1300480"/>
          </a:xfrm>
          <a:prstGeom prst="rect">
            <a:avLst/>
          </a:prstGeom>
          <a:noFill/>
          <a:ln>
            <a:noFill/>
          </a:ln>
        </p:spPr>
        <p:txBody>
          <a:bodyPr anchorCtr="0" anchor="t" bIns="0" lIns="0" spcFirstLastPara="1" rIns="0" wrap="square" tIns="88900">
            <a:spAutoFit/>
          </a:bodyPr>
          <a:lstStyle/>
          <a:p>
            <a:pPr indent="0" lvl="0" marL="12700" marR="5080" rtl="0" algn="l">
              <a:lnSpc>
                <a:spcPct val="107954"/>
              </a:lnSpc>
              <a:spcBef>
                <a:spcPts val="0"/>
              </a:spcBef>
              <a:spcAft>
                <a:spcPts val="0"/>
              </a:spcAft>
              <a:buNone/>
            </a:pPr>
            <a:r>
              <a:rPr lang="en-US"/>
              <a:t>How will the public Internet, which is based  on IPv4, be transitioned toIPv6?</a:t>
            </a:r>
            <a:endParaRPr/>
          </a:p>
        </p:txBody>
      </p:sp>
      <p:sp>
        <p:nvSpPr>
          <p:cNvPr id="1027" name="Google Shape;1027;p92"/>
          <p:cNvSpPr txBox="1"/>
          <p:nvPr/>
        </p:nvSpPr>
        <p:spPr>
          <a:xfrm>
            <a:off x="916939" y="1766062"/>
            <a:ext cx="10303510" cy="4100829"/>
          </a:xfrm>
          <a:prstGeom prst="rect">
            <a:avLst/>
          </a:prstGeom>
          <a:noFill/>
          <a:ln>
            <a:noFill/>
          </a:ln>
        </p:spPr>
        <p:txBody>
          <a:bodyPr anchorCtr="0" anchor="t" bIns="0" lIns="0" spcFirstLastPara="1" rIns="0" wrap="square" tIns="92075">
            <a:spAutoFit/>
          </a:bodyPr>
          <a:lstStyle/>
          <a:p>
            <a:pPr indent="-228600" lvl="0" marL="241300" marR="64769" rtl="0" algn="l">
              <a:lnSpc>
                <a:spcPct val="8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One option would be to declare a flag day—a given time and date when all  Internet machines would be turned off and upgraded from IPv4 to IPv6.</a:t>
            </a:r>
            <a:endParaRPr b="0" i="0" sz="2600" u="none" cap="none" strike="noStrike">
              <a:solidFill>
                <a:srgbClr val="000000"/>
              </a:solidFill>
              <a:latin typeface="Arial"/>
              <a:ea typeface="Arial"/>
              <a:cs typeface="Arial"/>
              <a:sym typeface="Arial"/>
            </a:endParaRPr>
          </a:p>
          <a:p>
            <a:pPr indent="-228600" lvl="0" marL="241300" marR="1216660" rtl="0" algn="l">
              <a:lnSpc>
                <a:spcPct val="96153"/>
              </a:lnSpc>
              <a:spcBef>
                <a:spcPts val="975"/>
              </a:spcBef>
              <a:spcAft>
                <a:spcPts val="0"/>
              </a:spcAft>
              <a:buClr>
                <a:srgbClr val="000000"/>
              </a:buClr>
              <a:buSzPts val="2600"/>
              <a:buFont typeface="Arial"/>
              <a:buChar char="•"/>
            </a:pPr>
            <a:r>
              <a:rPr b="1" i="0" lang="en-US" sz="2600" u="none" cap="none" strike="noStrike">
                <a:solidFill>
                  <a:srgbClr val="000000"/>
                </a:solidFill>
                <a:latin typeface="Arial"/>
                <a:ea typeface="Arial"/>
                <a:cs typeface="Arial"/>
                <a:sym typeface="Arial"/>
              </a:rPr>
              <a:t>Dual-stack </a:t>
            </a:r>
            <a:r>
              <a:rPr b="0" i="0" lang="en-US" sz="2600" u="none" cap="none" strike="noStrike">
                <a:solidFill>
                  <a:srgbClr val="000000"/>
                </a:solidFill>
                <a:latin typeface="Arial"/>
                <a:ea typeface="Arial"/>
                <a:cs typeface="Arial"/>
                <a:sym typeface="Arial"/>
              </a:rPr>
              <a:t>approach, where IPv6 nodes also have a complete IPv4  implementation. Such a node, referred to as an IPv6/IPv4 node.</a:t>
            </a:r>
            <a:endParaRPr b="0" i="0" sz="2600" u="none" cap="none" strike="noStrike">
              <a:solidFill>
                <a:srgbClr val="000000"/>
              </a:solidFill>
              <a:latin typeface="Arial"/>
              <a:ea typeface="Arial"/>
              <a:cs typeface="Arial"/>
              <a:sym typeface="Arial"/>
            </a:endParaRPr>
          </a:p>
          <a:p>
            <a:pPr indent="-228600" lvl="0" marL="241300" marR="476884" rtl="0" algn="l">
              <a:lnSpc>
                <a:spcPct val="96153"/>
              </a:lnSpc>
              <a:spcBef>
                <a:spcPts val="1000"/>
              </a:spcBef>
              <a:spcAft>
                <a:spcPts val="0"/>
              </a:spcAft>
              <a:buClr>
                <a:srgbClr val="000000"/>
              </a:buClr>
              <a:buSzPts val="2600"/>
              <a:buFont typeface="Arial"/>
              <a:buChar char="•"/>
            </a:pPr>
            <a:r>
              <a:rPr b="1" i="0" lang="en-US" sz="2600" u="none" cap="none" strike="noStrike">
                <a:solidFill>
                  <a:srgbClr val="000000"/>
                </a:solidFill>
                <a:latin typeface="Arial"/>
                <a:ea typeface="Arial"/>
                <a:cs typeface="Arial"/>
                <a:sym typeface="Arial"/>
              </a:rPr>
              <a:t>Tunneling :</a:t>
            </a:r>
            <a:r>
              <a:rPr b="0" i="0" lang="en-US" sz="2600" u="none" cap="none" strike="noStrike">
                <a:solidFill>
                  <a:srgbClr val="000000"/>
                </a:solidFill>
                <a:latin typeface="Arial"/>
                <a:ea typeface="Arial"/>
                <a:cs typeface="Arial"/>
                <a:sym typeface="Arial"/>
              </a:rPr>
              <a:t>Suppose two IPv6 nodes want to interoperate using IPv6  datagrams but are connected to each other by intervening IPv4 routers.</a:t>
            </a:r>
            <a:endParaRPr b="0" i="0" sz="2600" u="none" cap="none" strike="noStrike">
              <a:solidFill>
                <a:srgbClr val="000000"/>
              </a:solidFill>
              <a:latin typeface="Arial"/>
              <a:ea typeface="Arial"/>
              <a:cs typeface="Arial"/>
              <a:sym typeface="Arial"/>
            </a:endParaRPr>
          </a:p>
          <a:p>
            <a:pPr indent="-228600" lvl="0" marL="241300" marR="5080" rtl="0" algn="l">
              <a:lnSpc>
                <a:spcPct val="96153"/>
              </a:lnSpc>
              <a:spcBef>
                <a:spcPts val="99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We refer to the intervening set of IPv4 routers between two IPv6 routers as  a </a:t>
            </a:r>
            <a:r>
              <a:rPr b="1" i="0" lang="en-US" sz="2600" u="none" cap="none" strike="noStrike">
                <a:solidFill>
                  <a:srgbClr val="000000"/>
                </a:solidFill>
                <a:latin typeface="Arial"/>
                <a:ea typeface="Arial"/>
                <a:cs typeface="Arial"/>
                <a:sym typeface="Arial"/>
              </a:rPr>
              <a:t>tunnel</a:t>
            </a:r>
            <a:endParaRPr b="0" i="0" sz="2600" u="none" cap="none" strike="noStrike">
              <a:solidFill>
                <a:srgbClr val="000000"/>
              </a:solidFill>
              <a:latin typeface="Arial"/>
              <a:ea typeface="Arial"/>
              <a:cs typeface="Arial"/>
              <a:sym typeface="Arial"/>
            </a:endParaRPr>
          </a:p>
          <a:p>
            <a:pPr indent="-228600" lvl="0" marL="241300" marR="172085" rtl="0" algn="l">
              <a:lnSpc>
                <a:spcPct val="96153"/>
              </a:lnSpc>
              <a:spcBef>
                <a:spcPts val="99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	</a:t>
            </a:r>
            <a:r>
              <a:rPr b="0" i="0" lang="en-US" sz="2600" u="none" cap="none" strike="noStrike">
                <a:solidFill>
                  <a:srgbClr val="000000"/>
                </a:solidFill>
                <a:latin typeface="Arial"/>
                <a:ea typeface="Arial"/>
                <a:cs typeface="Arial"/>
                <a:sym typeface="Arial"/>
              </a:rPr>
              <a:t>With tunneling, the IPv6 node on the sending side of the tunnel takes the  </a:t>
            </a:r>
            <a:r>
              <a:rPr b="0" i="1" lang="en-US" sz="2600" u="none" cap="none" strike="noStrike">
                <a:solidFill>
                  <a:srgbClr val="000000"/>
                </a:solidFill>
                <a:latin typeface="Arial"/>
                <a:ea typeface="Arial"/>
                <a:cs typeface="Arial"/>
                <a:sym typeface="Arial"/>
              </a:rPr>
              <a:t>entire </a:t>
            </a:r>
            <a:r>
              <a:rPr b="0" i="0" lang="en-US" sz="2600" u="none" cap="none" strike="noStrike">
                <a:solidFill>
                  <a:srgbClr val="000000"/>
                </a:solidFill>
                <a:latin typeface="Arial"/>
                <a:ea typeface="Arial"/>
                <a:cs typeface="Arial"/>
                <a:sym typeface="Arial"/>
              </a:rPr>
              <a:t>IPv6 datagram and puts it in the data (payload) field of an IPv4  datagram.</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1" name="Shape 1031"/>
        <p:cNvGrpSpPr/>
        <p:nvPr/>
      </p:nvGrpSpPr>
      <p:grpSpPr>
        <a:xfrm>
          <a:off x="0" y="0"/>
          <a:ext cx="0" cy="0"/>
          <a:chOff x="0" y="0"/>
          <a:chExt cx="0" cy="0"/>
        </a:xfrm>
      </p:grpSpPr>
      <p:sp>
        <p:nvSpPr>
          <p:cNvPr id="1032" name="Google Shape;1032;p93"/>
          <p:cNvSpPr/>
          <p:nvPr/>
        </p:nvSpPr>
        <p:spPr>
          <a:xfrm>
            <a:off x="167639" y="783406"/>
            <a:ext cx="11117325" cy="497381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6" name="Shape 1036"/>
        <p:cNvGrpSpPr/>
        <p:nvPr/>
      </p:nvGrpSpPr>
      <p:grpSpPr>
        <a:xfrm>
          <a:off x="0" y="0"/>
          <a:ext cx="0" cy="0"/>
          <a:chOff x="0" y="0"/>
          <a:chExt cx="0" cy="0"/>
        </a:xfrm>
      </p:grpSpPr>
      <p:sp>
        <p:nvSpPr>
          <p:cNvPr id="1037" name="Google Shape;1037;p94"/>
          <p:cNvSpPr/>
          <p:nvPr/>
        </p:nvSpPr>
        <p:spPr>
          <a:xfrm>
            <a:off x="1120139" y="574552"/>
            <a:ext cx="10343066" cy="595121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1" name="Shape 1041"/>
        <p:cNvGrpSpPr/>
        <p:nvPr/>
      </p:nvGrpSpPr>
      <p:grpSpPr>
        <a:xfrm>
          <a:off x="0" y="0"/>
          <a:ext cx="0" cy="0"/>
          <a:chOff x="0" y="0"/>
          <a:chExt cx="0" cy="0"/>
        </a:xfrm>
      </p:grpSpPr>
      <p:sp>
        <p:nvSpPr>
          <p:cNvPr id="1042" name="Google Shape;1042;p95"/>
          <p:cNvSpPr txBox="1"/>
          <p:nvPr>
            <p:ph type="title"/>
          </p:nvPr>
        </p:nvSpPr>
        <p:spPr>
          <a:xfrm>
            <a:off x="916939" y="609676"/>
            <a:ext cx="233680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IP Security</a:t>
            </a:r>
            <a:endParaRPr/>
          </a:p>
        </p:txBody>
      </p:sp>
      <p:sp>
        <p:nvSpPr>
          <p:cNvPr id="1043" name="Google Shape;1043;p95"/>
          <p:cNvSpPr txBox="1"/>
          <p:nvPr/>
        </p:nvSpPr>
        <p:spPr>
          <a:xfrm>
            <a:off x="916939" y="1631061"/>
            <a:ext cx="10353675" cy="4291330"/>
          </a:xfrm>
          <a:prstGeom prst="rect">
            <a:avLst/>
          </a:prstGeom>
          <a:noFill/>
          <a:ln>
            <a:noFill/>
          </a:ln>
        </p:spPr>
        <p:txBody>
          <a:bodyPr anchorCtr="0" anchor="t" bIns="0" lIns="0" spcFirstLastPara="1" rIns="0" wrap="square" tIns="92075">
            <a:spAutoFit/>
          </a:bodyPr>
          <a:lstStyle/>
          <a:p>
            <a:pPr indent="-228600" lvl="0" marL="241300" marR="45085" rtl="0" algn="l">
              <a:lnSpc>
                <a:spcPct val="8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IPsec protocol has been designed to be backward compatible with IPv4 and  IPv6. In particular, in order to reap the benefits of IPsec, we don’t need to  replace the protocol stacks in </a:t>
            </a:r>
            <a:r>
              <a:rPr b="0" i="1" lang="en-US" sz="2600" u="none" cap="none" strike="noStrike">
                <a:solidFill>
                  <a:srgbClr val="000000"/>
                </a:solidFill>
                <a:latin typeface="Arial"/>
                <a:ea typeface="Arial"/>
                <a:cs typeface="Arial"/>
                <a:sym typeface="Arial"/>
              </a:rPr>
              <a:t>all </a:t>
            </a:r>
            <a:r>
              <a:rPr b="0" i="0" lang="en-US" sz="2600" u="none" cap="none" strike="noStrike">
                <a:solidFill>
                  <a:srgbClr val="000000"/>
                </a:solidFill>
                <a:latin typeface="Arial"/>
                <a:ea typeface="Arial"/>
                <a:cs typeface="Arial"/>
                <a:sym typeface="Arial"/>
              </a:rPr>
              <a:t>the routers and hosts in the Internet.</a:t>
            </a:r>
            <a:endParaRPr b="0" i="0" sz="2600" u="none" cap="none" strike="noStrike">
              <a:solidFill>
                <a:srgbClr val="000000"/>
              </a:solidFill>
              <a:latin typeface="Arial"/>
              <a:ea typeface="Arial"/>
              <a:cs typeface="Arial"/>
              <a:sym typeface="Arial"/>
            </a:endParaRPr>
          </a:p>
          <a:p>
            <a:pPr indent="-228600" lvl="0" marL="241300" marR="271145" rtl="0" algn="l">
              <a:lnSpc>
                <a:spcPct val="80000"/>
              </a:lnSpc>
              <a:spcBef>
                <a:spcPts val="994"/>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IPsec’s transport mode, two hosts first establish an IPsec session between  themselves.</a:t>
            </a:r>
            <a:endParaRPr b="0" i="0" sz="2600" u="none" cap="none" strike="noStrike">
              <a:solidFill>
                <a:srgbClr val="000000"/>
              </a:solidFill>
              <a:latin typeface="Arial"/>
              <a:ea typeface="Arial"/>
              <a:cs typeface="Arial"/>
              <a:sym typeface="Arial"/>
            </a:endParaRPr>
          </a:p>
          <a:p>
            <a:pPr indent="-228600" lvl="0" marL="241300" marR="422275" rtl="0" algn="l">
              <a:lnSpc>
                <a:spcPct val="80000"/>
              </a:lnSpc>
              <a:spcBef>
                <a:spcPts val="101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On the sending side, the transport layer passes a segment to IPsec. IPsec  then encrypts the segment, appends additional security fields to the  segment, and encapsulates the resulting payload in an ordinary IP  datagram.</a:t>
            </a:r>
            <a:endParaRPr b="0" i="0" sz="2600" u="none" cap="none" strike="noStrike">
              <a:solidFill>
                <a:srgbClr val="000000"/>
              </a:solidFill>
              <a:latin typeface="Arial"/>
              <a:ea typeface="Arial"/>
              <a:cs typeface="Arial"/>
              <a:sym typeface="Arial"/>
            </a:endParaRPr>
          </a:p>
          <a:p>
            <a:pPr indent="-228600" lvl="0" marL="241300" marR="5080" rtl="0" algn="l">
              <a:lnSpc>
                <a:spcPct val="80000"/>
              </a:lnSpc>
              <a:spcBef>
                <a:spcPts val="994"/>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The sending host then sends the datagram into the Internet, which  transports it to the destination host. There, IPsec decrypts the segment and  passes the unencrypted segment to the transport layer.</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7" name="Shape 1047"/>
        <p:cNvGrpSpPr/>
        <p:nvPr/>
      </p:nvGrpSpPr>
      <p:grpSpPr>
        <a:xfrm>
          <a:off x="0" y="0"/>
          <a:ext cx="0" cy="0"/>
          <a:chOff x="0" y="0"/>
          <a:chExt cx="0" cy="0"/>
        </a:xfrm>
      </p:grpSpPr>
      <p:sp>
        <p:nvSpPr>
          <p:cNvPr id="1048" name="Google Shape;1048;p96"/>
          <p:cNvSpPr txBox="1"/>
          <p:nvPr>
            <p:ph type="title"/>
          </p:nvPr>
        </p:nvSpPr>
        <p:spPr>
          <a:xfrm>
            <a:off x="916939" y="609676"/>
            <a:ext cx="926274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services provided by an IPsec session</a:t>
            </a:r>
            <a:endParaRPr/>
          </a:p>
        </p:txBody>
      </p:sp>
      <p:sp>
        <p:nvSpPr>
          <p:cNvPr id="1049" name="Google Shape;1049;p96"/>
          <p:cNvSpPr txBox="1"/>
          <p:nvPr/>
        </p:nvSpPr>
        <p:spPr>
          <a:xfrm>
            <a:off x="916939" y="1793493"/>
            <a:ext cx="10321925" cy="4674235"/>
          </a:xfrm>
          <a:prstGeom prst="rect">
            <a:avLst/>
          </a:prstGeom>
          <a:noFill/>
          <a:ln>
            <a:noFill/>
          </a:ln>
        </p:spPr>
        <p:txBody>
          <a:bodyPr anchorCtr="0" anchor="t" bIns="0" lIns="0" spcFirstLastPara="1" rIns="0" wrap="square" tIns="60950">
            <a:spAutoFit/>
          </a:bodyPr>
          <a:lstStyle/>
          <a:p>
            <a:pPr indent="-228600" lvl="0" marL="241300" marR="165100" rtl="0" algn="l">
              <a:lnSpc>
                <a:spcPct val="107857"/>
              </a:lnSpc>
              <a:spcBef>
                <a:spcPts val="0"/>
              </a:spcBef>
              <a:spcAft>
                <a:spcPts val="0"/>
              </a:spcAft>
              <a:buClr>
                <a:srgbClr val="000000"/>
              </a:buClr>
              <a:buSzPts val="2800"/>
              <a:buFont typeface="Arial"/>
              <a:buChar char="•"/>
            </a:pPr>
            <a:r>
              <a:rPr b="0" i="1" lang="en-US" sz="2800" u="none" cap="none" strike="noStrike">
                <a:solidFill>
                  <a:srgbClr val="000000"/>
                </a:solidFill>
                <a:latin typeface="Times New Roman"/>
                <a:ea typeface="Times New Roman"/>
                <a:cs typeface="Times New Roman"/>
                <a:sym typeface="Times New Roman"/>
              </a:rPr>
              <a:t>Cryptographic agreement</a:t>
            </a:r>
            <a:r>
              <a:rPr b="0" i="0" lang="en-US" sz="2800" u="none" cap="none" strike="noStrike">
                <a:solidFill>
                  <a:srgbClr val="000000"/>
                </a:solidFill>
                <a:latin typeface="Times New Roman"/>
                <a:ea typeface="Times New Roman"/>
                <a:cs typeface="Times New Roman"/>
                <a:sym typeface="Times New Roman"/>
              </a:rPr>
              <a:t>. Mechanisms that allow the two  communicating hosts to agree on cryptographic algorithms and keys.</a:t>
            </a:r>
            <a:endParaRPr b="0" i="0" sz="2800" u="none" cap="none" strike="noStrike">
              <a:solidFill>
                <a:srgbClr val="000000"/>
              </a:solidFill>
              <a:latin typeface="Times New Roman"/>
              <a:ea typeface="Times New Roman"/>
              <a:cs typeface="Times New Roman"/>
              <a:sym typeface="Times New Roman"/>
            </a:endParaRPr>
          </a:p>
          <a:p>
            <a:pPr indent="-228600" lvl="0" marL="241300" marR="76200" rtl="0" algn="l">
              <a:lnSpc>
                <a:spcPct val="107857"/>
              </a:lnSpc>
              <a:spcBef>
                <a:spcPts val="1015"/>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	</a:t>
            </a:r>
            <a:r>
              <a:rPr b="0" i="1" lang="en-US" sz="2800" u="none" cap="none" strike="noStrike">
                <a:solidFill>
                  <a:srgbClr val="000000"/>
                </a:solidFill>
                <a:latin typeface="Times New Roman"/>
                <a:ea typeface="Times New Roman"/>
                <a:cs typeface="Times New Roman"/>
                <a:sym typeface="Times New Roman"/>
              </a:rPr>
              <a:t>Encryption of IP datagram payloads</a:t>
            </a:r>
            <a:r>
              <a:rPr b="0" i="0" lang="en-US" sz="2800" u="none" cap="none" strike="noStrike">
                <a:solidFill>
                  <a:srgbClr val="000000"/>
                </a:solidFill>
                <a:latin typeface="Times New Roman"/>
                <a:ea typeface="Times New Roman"/>
                <a:cs typeface="Times New Roman"/>
                <a:sym typeface="Times New Roman"/>
              </a:rPr>
              <a:t>. When the sending host receives  a segment from the transport layer, IPsec encrypts the payload. The  payload can only be decrypted by IPsec in the receiving host.</a:t>
            </a:r>
            <a:endParaRPr b="0" i="0" sz="2800" u="none" cap="none" strike="noStrike">
              <a:solidFill>
                <a:srgbClr val="000000"/>
              </a:solidFill>
              <a:latin typeface="Times New Roman"/>
              <a:ea typeface="Times New Roman"/>
              <a:cs typeface="Times New Roman"/>
              <a:sym typeface="Times New Roman"/>
            </a:endParaRPr>
          </a:p>
          <a:p>
            <a:pPr indent="-228600" lvl="0" marL="241300" marR="386715" rtl="0" algn="l">
              <a:lnSpc>
                <a:spcPct val="90000"/>
              </a:lnSpc>
              <a:spcBef>
                <a:spcPts val="965"/>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 </a:t>
            </a:r>
            <a:r>
              <a:rPr b="0" i="1" lang="en-US" sz="2800" u="none" cap="none" strike="noStrike">
                <a:solidFill>
                  <a:srgbClr val="000000"/>
                </a:solidFill>
                <a:latin typeface="Times New Roman"/>
                <a:ea typeface="Times New Roman"/>
                <a:cs typeface="Times New Roman"/>
                <a:sym typeface="Times New Roman"/>
              </a:rPr>
              <a:t>Data integrity</a:t>
            </a:r>
            <a:r>
              <a:rPr b="0" i="0" lang="en-US" sz="2800" u="none" cap="none" strike="noStrike">
                <a:solidFill>
                  <a:srgbClr val="000000"/>
                </a:solidFill>
                <a:latin typeface="Times New Roman"/>
                <a:ea typeface="Times New Roman"/>
                <a:cs typeface="Times New Roman"/>
                <a:sym typeface="Times New Roman"/>
              </a:rPr>
              <a:t>. IPsec allows the receiving host to verify that the  datagram’s header fields and encrypted payload were not modified  while the datagram was en route from source to destination.</a:t>
            </a:r>
            <a:endParaRPr b="0" i="0" sz="2800" u="none" cap="none" strike="noStrike">
              <a:solidFill>
                <a:srgbClr val="000000"/>
              </a:solidFill>
              <a:latin typeface="Times New Roman"/>
              <a:ea typeface="Times New Roman"/>
              <a:cs typeface="Times New Roman"/>
              <a:sym typeface="Times New Roman"/>
            </a:endParaRPr>
          </a:p>
          <a:p>
            <a:pPr indent="-228600" lvl="0" marL="241300" marR="5080" rtl="0" algn="l">
              <a:lnSpc>
                <a:spcPct val="90000"/>
              </a:lnSpc>
              <a:spcBef>
                <a:spcPts val="994"/>
              </a:spcBef>
              <a:spcAft>
                <a:spcPts val="0"/>
              </a:spcAft>
              <a:buClr>
                <a:srgbClr val="000000"/>
              </a:buClr>
              <a:buSzPts val="2800"/>
              <a:buFont typeface="Arial"/>
              <a:buChar char="•"/>
            </a:pPr>
            <a:r>
              <a:rPr b="0" i="1" lang="en-US" sz="2800" u="none" cap="none" strike="noStrike">
                <a:solidFill>
                  <a:srgbClr val="000000"/>
                </a:solidFill>
                <a:latin typeface="Times New Roman"/>
                <a:ea typeface="Times New Roman"/>
                <a:cs typeface="Times New Roman"/>
                <a:sym typeface="Times New Roman"/>
              </a:rPr>
              <a:t>Origin authentication</a:t>
            </a:r>
            <a:r>
              <a:rPr b="0" i="0" lang="en-US" sz="2800" u="none" cap="none" strike="noStrike">
                <a:solidFill>
                  <a:srgbClr val="000000"/>
                </a:solidFill>
                <a:latin typeface="Times New Roman"/>
                <a:ea typeface="Times New Roman"/>
                <a:cs typeface="Times New Roman"/>
                <a:sym typeface="Times New Roman"/>
              </a:rPr>
              <a:t>. When a host receives an IPsec datagram from a  trusted source the host is assured that the source IP address in the  datagram is the actual source of the datagram</a:t>
            </a:r>
            <a:r>
              <a:rPr b="0" i="0" lang="en-US" sz="2800" u="none" cap="none" strike="noStrike">
                <a:solidFill>
                  <a:srgbClr val="000000"/>
                </a:solidFill>
                <a:latin typeface="Arial"/>
                <a:ea typeface="Arial"/>
                <a:cs typeface="Arial"/>
                <a:sym typeface="Arial"/>
              </a:rPr>
              <a:t>.</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97"/>
          <p:cNvSpPr txBox="1"/>
          <p:nvPr>
            <p:ph type="title"/>
          </p:nvPr>
        </p:nvSpPr>
        <p:spPr>
          <a:xfrm>
            <a:off x="916939" y="609676"/>
            <a:ext cx="424116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Routing Algorithms</a:t>
            </a:r>
            <a:endParaRPr/>
          </a:p>
        </p:txBody>
      </p:sp>
      <p:sp>
        <p:nvSpPr>
          <p:cNvPr id="1055" name="Google Shape;1055;p97"/>
          <p:cNvSpPr txBox="1"/>
          <p:nvPr/>
        </p:nvSpPr>
        <p:spPr>
          <a:xfrm>
            <a:off x="916939" y="1793493"/>
            <a:ext cx="10248265" cy="4703852"/>
          </a:xfrm>
          <a:prstGeom prst="rect">
            <a:avLst/>
          </a:prstGeom>
          <a:noFill/>
          <a:ln>
            <a:noFill/>
          </a:ln>
        </p:spPr>
        <p:txBody>
          <a:bodyPr anchorCtr="0" anchor="t" bIns="0" lIns="0" spcFirstLastPara="1" rIns="0" wrap="square" tIns="60950">
            <a:spAutoFit/>
          </a:bodyPr>
          <a:lstStyle/>
          <a:p>
            <a:pPr indent="-228600" lvl="0" marL="241300" marR="245109"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job of routing is to determine good paths (equivalently, routes),  from senders to receivers, through the network of routers.</a:t>
            </a:r>
            <a:endParaRPr sz="2800">
              <a:solidFill>
                <a:schemeClr val="dk1"/>
              </a:solidFill>
              <a:latin typeface="Arial"/>
              <a:ea typeface="Arial"/>
              <a:cs typeface="Arial"/>
              <a:sym typeface="Arial"/>
            </a:endParaRPr>
          </a:p>
          <a:p>
            <a:pPr indent="-228600" lvl="0" marL="241300" marR="0" rtl="0" algn="l">
              <a:lnSpc>
                <a:spcPct val="113928"/>
              </a:lnSpc>
              <a:spcBef>
                <a:spcPts val="635"/>
              </a:spcBef>
              <a:spcAft>
                <a:spcPts val="0"/>
              </a:spcAft>
              <a:buClr>
                <a:schemeClr val="dk1"/>
              </a:buClr>
              <a:buSzPts val="2800"/>
              <a:buFont typeface="Arial"/>
              <a:buChar char="•"/>
            </a:pPr>
            <a:r>
              <a:rPr lang="en-US" sz="2800">
                <a:solidFill>
                  <a:schemeClr val="dk1"/>
                </a:solidFill>
                <a:latin typeface="Arial"/>
                <a:ea typeface="Arial"/>
                <a:cs typeface="Arial"/>
                <a:sym typeface="Arial"/>
              </a:rPr>
              <a:t>Typically a host is attached directly to one router, the </a:t>
            </a:r>
            <a:r>
              <a:rPr b="1" lang="en-US" sz="2800">
                <a:solidFill>
                  <a:schemeClr val="dk1"/>
                </a:solidFill>
                <a:latin typeface="Arial"/>
                <a:ea typeface="Arial"/>
                <a:cs typeface="Arial"/>
                <a:sym typeface="Arial"/>
              </a:rPr>
              <a:t>default router</a:t>
            </a:r>
            <a:r>
              <a:rPr lang="en-US" sz="2800">
                <a:solidFill>
                  <a:schemeClr val="dk1"/>
                </a:solidFill>
                <a:latin typeface="Arial"/>
                <a:ea typeface="Arial"/>
                <a:cs typeface="Arial"/>
                <a:sym typeface="Arial"/>
              </a:rPr>
              <a:t> for the host (also called the </a:t>
            </a:r>
            <a:r>
              <a:rPr b="1" lang="en-US" sz="2800">
                <a:solidFill>
                  <a:schemeClr val="dk1"/>
                </a:solidFill>
                <a:latin typeface="Arial"/>
                <a:ea typeface="Arial"/>
                <a:cs typeface="Arial"/>
                <a:sym typeface="Arial"/>
              </a:rPr>
              <a:t>first-hop router </a:t>
            </a:r>
            <a:r>
              <a:rPr lang="en-US" sz="2800">
                <a:solidFill>
                  <a:schemeClr val="dk1"/>
                </a:solidFill>
                <a:latin typeface="Arial"/>
                <a:ea typeface="Arial"/>
                <a:cs typeface="Arial"/>
                <a:sym typeface="Arial"/>
              </a:rPr>
              <a:t>for the host).</a:t>
            </a:r>
            <a:endParaRPr sz="2800">
              <a:solidFill>
                <a:schemeClr val="dk1"/>
              </a:solidFill>
              <a:latin typeface="Arial"/>
              <a:ea typeface="Arial"/>
              <a:cs typeface="Arial"/>
              <a:sym typeface="Arial"/>
            </a:endParaRPr>
          </a:p>
          <a:p>
            <a:pPr indent="-228600" lvl="0" marL="241300" marR="861060" rtl="0" algn="l">
              <a:lnSpc>
                <a:spcPct val="107857"/>
              </a:lnSpc>
              <a:spcBef>
                <a:spcPts val="1040"/>
              </a:spcBef>
              <a:spcAft>
                <a:spcPts val="0"/>
              </a:spcAft>
              <a:buClr>
                <a:schemeClr val="dk1"/>
              </a:buClr>
              <a:buSzPts val="2800"/>
              <a:buFont typeface="Arial"/>
              <a:buChar char="•"/>
            </a:pPr>
            <a:r>
              <a:rPr lang="en-US" sz="2800">
                <a:solidFill>
                  <a:schemeClr val="dk1"/>
                </a:solidFill>
                <a:latin typeface="Arial"/>
                <a:ea typeface="Arial"/>
                <a:cs typeface="Arial"/>
                <a:sym typeface="Arial"/>
              </a:rPr>
              <a:t>Whenever a host sends a packet, the packet is transferred to its  default router.</a:t>
            </a:r>
            <a:endParaRPr sz="2800">
              <a:solidFill>
                <a:schemeClr val="dk1"/>
              </a:solidFill>
              <a:latin typeface="Arial"/>
              <a:ea typeface="Arial"/>
              <a:cs typeface="Arial"/>
              <a:sym typeface="Arial"/>
            </a:endParaRPr>
          </a:p>
          <a:p>
            <a:pPr indent="-228600" lvl="0" marL="241300" marR="5080" rtl="0" algn="l">
              <a:lnSpc>
                <a:spcPct val="107857"/>
              </a:lnSpc>
              <a:spcBef>
                <a:spcPts val="1010"/>
              </a:spcBef>
              <a:spcAft>
                <a:spcPts val="0"/>
              </a:spcAft>
              <a:buClr>
                <a:schemeClr val="dk1"/>
              </a:buClr>
              <a:buSzPts val="2800"/>
              <a:buFont typeface="Arial"/>
              <a:buChar char="•"/>
            </a:pPr>
            <a:r>
              <a:rPr lang="en-US" sz="2800">
                <a:solidFill>
                  <a:schemeClr val="dk1"/>
                </a:solidFill>
                <a:latin typeface="Arial"/>
                <a:ea typeface="Arial"/>
                <a:cs typeface="Arial"/>
                <a:sym typeface="Arial"/>
              </a:rPr>
              <a:t>We refer to the default router of the source host as the </a:t>
            </a:r>
            <a:r>
              <a:rPr b="1" lang="en-US" sz="2800">
                <a:solidFill>
                  <a:schemeClr val="dk1"/>
                </a:solidFill>
                <a:latin typeface="Arial"/>
                <a:ea typeface="Arial"/>
                <a:cs typeface="Arial"/>
                <a:sym typeface="Arial"/>
              </a:rPr>
              <a:t>source router  </a:t>
            </a:r>
            <a:r>
              <a:rPr lang="en-US" sz="2800">
                <a:solidFill>
                  <a:schemeClr val="dk1"/>
                </a:solidFill>
                <a:latin typeface="Arial"/>
                <a:ea typeface="Arial"/>
                <a:cs typeface="Arial"/>
                <a:sym typeface="Arial"/>
              </a:rPr>
              <a:t>and the default router of the destination host as the </a:t>
            </a:r>
            <a:r>
              <a:rPr b="1" lang="en-US" sz="2800">
                <a:solidFill>
                  <a:schemeClr val="dk1"/>
                </a:solidFill>
                <a:latin typeface="Arial"/>
                <a:ea typeface="Arial"/>
                <a:cs typeface="Arial"/>
                <a:sym typeface="Arial"/>
              </a:rPr>
              <a:t>destination  router</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98"/>
          <p:cNvSpPr txBox="1"/>
          <p:nvPr/>
        </p:nvSpPr>
        <p:spPr>
          <a:xfrm>
            <a:off x="916939" y="215899"/>
            <a:ext cx="10169525" cy="5313045"/>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purpose of a routing algorithm is then simple: given a set of  routers, with links connecting the routers, a routing algorithm finds a  “good” path from source router to destination router.</a:t>
            </a:r>
            <a:endParaRPr sz="2800">
              <a:solidFill>
                <a:schemeClr val="dk1"/>
              </a:solidFill>
              <a:latin typeface="Arial"/>
              <a:ea typeface="Arial"/>
              <a:cs typeface="Arial"/>
              <a:sym typeface="Arial"/>
            </a:endParaRPr>
          </a:p>
          <a:p>
            <a:pPr indent="-309880" lvl="0" marL="321945" marR="0" rtl="0" algn="l">
              <a:lnSpc>
                <a:spcPct val="100000"/>
              </a:lnSpc>
              <a:spcBef>
                <a:spcPts val="635"/>
              </a:spcBef>
              <a:spcAft>
                <a:spcPts val="0"/>
              </a:spcAft>
              <a:buClr>
                <a:schemeClr val="dk1"/>
              </a:buClr>
              <a:buSzPts val="2800"/>
              <a:buFont typeface="Arial"/>
              <a:buChar char="•"/>
            </a:pPr>
            <a:r>
              <a:rPr lang="en-US" sz="2800">
                <a:solidFill>
                  <a:schemeClr val="dk1"/>
                </a:solidFill>
                <a:latin typeface="Arial"/>
                <a:ea typeface="Arial"/>
                <a:cs typeface="Arial"/>
                <a:sym typeface="Arial"/>
              </a:rPr>
              <a:t>Typically, a good path is one that has the least cost.</a:t>
            </a:r>
            <a:endParaRPr sz="2800">
              <a:solidFill>
                <a:schemeClr val="dk1"/>
              </a:solidFill>
              <a:latin typeface="Arial"/>
              <a:ea typeface="Arial"/>
              <a:cs typeface="Arial"/>
              <a:sym typeface="Arial"/>
            </a:endParaRPr>
          </a:p>
          <a:p>
            <a:pPr indent="-228600" lvl="0" marL="241300" marR="0" rtl="0" algn="l">
              <a:lnSpc>
                <a:spcPct val="100000"/>
              </a:lnSpc>
              <a:spcBef>
                <a:spcPts val="660"/>
              </a:spcBef>
              <a:spcAft>
                <a:spcPts val="0"/>
              </a:spcAft>
              <a:buClr>
                <a:schemeClr val="dk1"/>
              </a:buClr>
              <a:buSzPts val="2800"/>
              <a:buFont typeface="Arial"/>
              <a:buChar char="•"/>
            </a:pPr>
            <a:r>
              <a:rPr lang="en-US" sz="2800">
                <a:solidFill>
                  <a:schemeClr val="dk1"/>
                </a:solidFill>
                <a:latin typeface="Arial"/>
                <a:ea typeface="Arial"/>
                <a:cs typeface="Arial"/>
                <a:sym typeface="Arial"/>
              </a:rPr>
              <a:t>A graph is used to formulate routing problems.</a:t>
            </a:r>
            <a:endParaRPr sz="2800">
              <a:solidFill>
                <a:schemeClr val="dk1"/>
              </a:solidFill>
              <a:latin typeface="Arial"/>
              <a:ea typeface="Arial"/>
              <a:cs typeface="Arial"/>
              <a:sym typeface="Arial"/>
            </a:endParaRPr>
          </a:p>
          <a:p>
            <a:pPr indent="-228600" lvl="0" marL="241300" marR="177800" rtl="0" algn="l">
              <a:lnSpc>
                <a:spcPct val="107857"/>
              </a:lnSpc>
              <a:spcBef>
                <a:spcPts val="1045"/>
              </a:spcBef>
              <a:spcAft>
                <a:spcPts val="0"/>
              </a:spcAft>
              <a:buClr>
                <a:schemeClr val="dk1"/>
              </a:buClr>
              <a:buSzPts val="2800"/>
              <a:buFont typeface="Arial"/>
              <a:buChar char="•"/>
            </a:pPr>
            <a:r>
              <a:rPr lang="en-US" sz="2800">
                <a:solidFill>
                  <a:schemeClr val="dk1"/>
                </a:solidFill>
                <a:latin typeface="Arial"/>
                <a:ea typeface="Arial"/>
                <a:cs typeface="Arial"/>
                <a:sym typeface="Arial"/>
              </a:rPr>
              <a:t>Recall that a </a:t>
            </a:r>
            <a:r>
              <a:rPr b="1" lang="en-US" sz="2800">
                <a:solidFill>
                  <a:schemeClr val="dk1"/>
                </a:solidFill>
                <a:latin typeface="Arial"/>
                <a:ea typeface="Arial"/>
                <a:cs typeface="Arial"/>
                <a:sym typeface="Arial"/>
              </a:rPr>
              <a:t>graph </a:t>
            </a:r>
            <a:r>
              <a:rPr i="1" lang="en-US" sz="2800">
                <a:solidFill>
                  <a:schemeClr val="dk1"/>
                </a:solidFill>
                <a:latin typeface="Arial"/>
                <a:ea typeface="Arial"/>
                <a:cs typeface="Arial"/>
                <a:sym typeface="Arial"/>
              </a:rPr>
              <a:t>G = </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N,E</a:t>
            </a:r>
            <a:r>
              <a:rPr lang="en-US" sz="2800">
                <a:solidFill>
                  <a:schemeClr val="dk1"/>
                </a:solidFill>
                <a:latin typeface="Arial"/>
                <a:ea typeface="Arial"/>
                <a:cs typeface="Arial"/>
                <a:sym typeface="Arial"/>
              </a:rPr>
              <a:t>) is a set </a:t>
            </a:r>
            <a:r>
              <a:rPr i="1" lang="en-US" sz="2800">
                <a:solidFill>
                  <a:schemeClr val="dk1"/>
                </a:solidFill>
                <a:latin typeface="Arial"/>
                <a:ea typeface="Arial"/>
                <a:cs typeface="Arial"/>
                <a:sym typeface="Arial"/>
              </a:rPr>
              <a:t>N </a:t>
            </a:r>
            <a:r>
              <a:rPr lang="en-US" sz="2800">
                <a:solidFill>
                  <a:schemeClr val="dk1"/>
                </a:solidFill>
                <a:latin typeface="Arial"/>
                <a:ea typeface="Arial"/>
                <a:cs typeface="Arial"/>
                <a:sym typeface="Arial"/>
              </a:rPr>
              <a:t>of nodes and a collection </a:t>
            </a:r>
            <a:r>
              <a:rPr i="1" lang="en-US" sz="2800">
                <a:solidFill>
                  <a:schemeClr val="dk1"/>
                </a:solidFill>
                <a:latin typeface="Arial"/>
                <a:ea typeface="Arial"/>
                <a:cs typeface="Arial"/>
                <a:sym typeface="Arial"/>
              </a:rPr>
              <a:t>E </a:t>
            </a:r>
            <a:r>
              <a:rPr lang="en-US" sz="2800">
                <a:solidFill>
                  <a:schemeClr val="dk1"/>
                </a:solidFill>
                <a:latin typeface="Arial"/>
                <a:ea typeface="Arial"/>
                <a:cs typeface="Arial"/>
                <a:sym typeface="Arial"/>
              </a:rPr>
              <a:t>of  edges, where each edge is a pair of nodes from </a:t>
            </a:r>
            <a:r>
              <a:rPr i="1" lang="en-US" sz="2800">
                <a:solidFill>
                  <a:schemeClr val="dk1"/>
                </a:solidFill>
                <a:latin typeface="Arial"/>
                <a:ea typeface="Arial"/>
                <a:cs typeface="Arial"/>
                <a:sym typeface="Arial"/>
              </a:rPr>
              <a:t>N</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187325" rtl="0" algn="l">
              <a:lnSpc>
                <a:spcPct val="107857"/>
              </a:lnSpc>
              <a:spcBef>
                <a:spcPts val="1019"/>
              </a:spcBef>
              <a:spcAft>
                <a:spcPts val="0"/>
              </a:spcAft>
              <a:buClr>
                <a:schemeClr val="dk1"/>
              </a:buClr>
              <a:buSzPts val="2800"/>
              <a:buFont typeface="Arial"/>
              <a:buChar char="•"/>
            </a:pPr>
            <a:r>
              <a:rPr lang="en-US" sz="2800">
                <a:solidFill>
                  <a:schemeClr val="dk1"/>
                </a:solidFill>
                <a:latin typeface="Arial"/>
                <a:ea typeface="Arial"/>
                <a:cs typeface="Arial"/>
                <a:sym typeface="Arial"/>
              </a:rPr>
              <a:t>In the context of network-layer routing, the nodes in the graph  represent routers—the points at which packet-forwarding decisions  are made—and the edges connecting these nodes represent the  physical links between these routers.</a:t>
            </a:r>
            <a:endParaRPr sz="2800">
              <a:solidFill>
                <a:schemeClr val="dk1"/>
              </a:solidFill>
              <a:latin typeface="Arial"/>
              <a:ea typeface="Arial"/>
              <a:cs typeface="Arial"/>
              <a:sym typeface="Arial"/>
            </a:endParaRPr>
          </a:p>
          <a:p>
            <a:pPr indent="-228600" lvl="0" marL="241300" marR="0" rtl="0" algn="l">
              <a:lnSpc>
                <a:spcPct val="100000"/>
              </a:lnSpc>
              <a:spcBef>
                <a:spcPts val="630"/>
              </a:spcBef>
              <a:spcAft>
                <a:spcPts val="0"/>
              </a:spcAft>
              <a:buClr>
                <a:schemeClr val="dk1"/>
              </a:buClr>
              <a:buSzPts val="2800"/>
              <a:buFont typeface="Arial"/>
              <a:buChar char="•"/>
            </a:pPr>
            <a:r>
              <a:rPr lang="en-US" sz="2800">
                <a:solidFill>
                  <a:schemeClr val="dk1"/>
                </a:solidFill>
                <a:latin typeface="Arial"/>
                <a:ea typeface="Arial"/>
                <a:cs typeface="Arial"/>
                <a:sym typeface="Arial"/>
              </a:rPr>
              <a:t>Such a graph is an abstraction of a computer network.</a:t>
            </a:r>
            <a:endParaRPr sz="2800">
              <a:solidFill>
                <a:schemeClr val="dk1"/>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99"/>
          <p:cNvSpPr/>
          <p:nvPr/>
        </p:nvSpPr>
        <p:spPr>
          <a:xfrm>
            <a:off x="1463039" y="234685"/>
            <a:ext cx="9067796" cy="631394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00"/>
          <p:cNvSpPr txBox="1"/>
          <p:nvPr/>
        </p:nvSpPr>
        <p:spPr>
          <a:xfrm>
            <a:off x="916939" y="560412"/>
            <a:ext cx="10196195" cy="5457263"/>
          </a:xfrm>
          <a:prstGeom prst="rect">
            <a:avLst/>
          </a:prstGeom>
          <a:noFill/>
          <a:ln>
            <a:noFill/>
          </a:ln>
        </p:spPr>
        <p:txBody>
          <a:bodyPr anchorCtr="0" anchor="t" bIns="0" lIns="0" spcFirstLastPara="1" rIns="0" wrap="square" tIns="98425">
            <a:spAutoFit/>
          </a:bodyPr>
          <a:lstStyle/>
          <a:p>
            <a:pPr indent="-228600" lvl="0" marL="241300" marR="0" rtl="0" algn="l">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An edge also has a value representing its cost.</a:t>
            </a:r>
            <a:endParaRPr sz="2800">
              <a:solidFill>
                <a:schemeClr val="dk1"/>
              </a:solidFill>
              <a:latin typeface="Arial"/>
              <a:ea typeface="Arial"/>
              <a:cs typeface="Arial"/>
              <a:sym typeface="Arial"/>
            </a:endParaRPr>
          </a:p>
          <a:p>
            <a:pPr indent="-228600" lvl="0" marL="241300" marR="290195" rtl="0" algn="l">
              <a:lnSpc>
                <a:spcPct val="107857"/>
              </a:lnSpc>
              <a:spcBef>
                <a:spcPts val="106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Typically, an edge’s cost may reflect the physical length of the  corresponding link, the link speed, or the monetary cost associated  with a link.</a:t>
            </a:r>
            <a:endParaRPr sz="2800">
              <a:solidFill>
                <a:schemeClr val="dk1"/>
              </a:solidFill>
              <a:latin typeface="Arial"/>
              <a:ea typeface="Arial"/>
              <a:cs typeface="Arial"/>
              <a:sym typeface="Arial"/>
            </a:endParaRPr>
          </a:p>
          <a:p>
            <a:pPr indent="-228600" lvl="0" marL="241300" marR="895985" rtl="0" algn="l">
              <a:lnSpc>
                <a:spcPct val="108214"/>
              </a:lnSpc>
              <a:spcBef>
                <a:spcPts val="1000"/>
              </a:spcBef>
              <a:spcAft>
                <a:spcPts val="0"/>
              </a:spcAft>
              <a:buClr>
                <a:schemeClr val="dk1"/>
              </a:buClr>
              <a:buSzPts val="2800"/>
              <a:buFont typeface="Arial"/>
              <a:buChar char="•"/>
            </a:pPr>
            <a:r>
              <a:rPr lang="en-US" sz="2800">
                <a:solidFill>
                  <a:schemeClr val="dk1"/>
                </a:solidFill>
                <a:latin typeface="Arial"/>
                <a:ea typeface="Arial"/>
                <a:cs typeface="Arial"/>
                <a:sym typeface="Arial"/>
              </a:rPr>
              <a:t>For any edge (</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in </a:t>
            </a:r>
            <a:r>
              <a:rPr i="1" lang="en-US" sz="2800">
                <a:solidFill>
                  <a:schemeClr val="dk1"/>
                </a:solidFill>
                <a:latin typeface="Arial"/>
                <a:ea typeface="Arial"/>
                <a:cs typeface="Arial"/>
                <a:sym typeface="Arial"/>
              </a:rPr>
              <a:t>E</a:t>
            </a:r>
            <a:r>
              <a:rPr lang="en-US" sz="2800">
                <a:solidFill>
                  <a:schemeClr val="dk1"/>
                </a:solidFill>
                <a:latin typeface="Arial"/>
                <a:ea typeface="Arial"/>
                <a:cs typeface="Arial"/>
                <a:sym typeface="Arial"/>
              </a:rPr>
              <a:t>, we denote </a:t>
            </a:r>
            <a:r>
              <a:rPr i="1" lang="en-US" sz="2800">
                <a:solidFill>
                  <a:schemeClr val="dk1"/>
                </a:solidFill>
                <a:latin typeface="Arial"/>
                <a:ea typeface="Arial"/>
                <a:cs typeface="Arial"/>
                <a:sym typeface="Arial"/>
              </a:rPr>
              <a:t>c</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as the cost of the edge  between nodes </a:t>
            </a:r>
            <a:r>
              <a:rPr i="1" lang="en-US" sz="2800">
                <a:solidFill>
                  <a:schemeClr val="dk1"/>
                </a:solidFill>
                <a:latin typeface="Arial"/>
                <a:ea typeface="Arial"/>
                <a:cs typeface="Arial"/>
                <a:sym typeface="Arial"/>
              </a:rPr>
              <a:t>x </a:t>
            </a:r>
            <a:r>
              <a:rPr lang="en-US" sz="2800">
                <a:solidFill>
                  <a:schemeClr val="dk1"/>
                </a:solidFill>
                <a:latin typeface="Arial"/>
                <a:ea typeface="Arial"/>
                <a:cs typeface="Arial"/>
                <a:sym typeface="Arial"/>
              </a:rPr>
              <a:t>and </a:t>
            </a:r>
            <a:r>
              <a:rPr i="1" lang="en-US" sz="2800">
                <a:solidFill>
                  <a:schemeClr val="dk1"/>
                </a:solidFill>
                <a:latin typeface="Arial"/>
                <a:ea typeface="Arial"/>
                <a:cs typeface="Arial"/>
                <a:sym typeface="Arial"/>
              </a:rPr>
              <a:t>y.</a:t>
            </a:r>
            <a:endParaRPr sz="2800">
              <a:solidFill>
                <a:schemeClr val="dk1"/>
              </a:solidFill>
              <a:latin typeface="Arial"/>
              <a:ea typeface="Arial"/>
              <a:cs typeface="Arial"/>
              <a:sym typeface="Arial"/>
            </a:endParaRPr>
          </a:p>
          <a:p>
            <a:pPr indent="-228600" lvl="0" marL="241300" marR="5080" rtl="0" algn="l">
              <a:lnSpc>
                <a:spcPct val="107857"/>
              </a:lnSpc>
              <a:spcBef>
                <a:spcPts val="995"/>
              </a:spcBef>
              <a:spcAft>
                <a:spcPts val="0"/>
              </a:spcAft>
              <a:buClr>
                <a:schemeClr val="dk1"/>
              </a:buClr>
              <a:buSzPts val="2800"/>
              <a:buFont typeface="Arial"/>
              <a:buChar char="•"/>
            </a:pPr>
            <a:r>
              <a:rPr lang="en-US" sz="2800">
                <a:solidFill>
                  <a:schemeClr val="dk1"/>
                </a:solidFill>
                <a:latin typeface="Arial"/>
                <a:ea typeface="Arial"/>
                <a:cs typeface="Arial"/>
                <a:sym typeface="Arial"/>
              </a:rPr>
              <a:t>If the pair (</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does not belong to </a:t>
            </a:r>
            <a:r>
              <a:rPr i="1" lang="en-US" sz="2800">
                <a:solidFill>
                  <a:schemeClr val="dk1"/>
                </a:solidFill>
                <a:latin typeface="Arial"/>
                <a:ea typeface="Arial"/>
                <a:cs typeface="Arial"/>
                <a:sym typeface="Arial"/>
              </a:rPr>
              <a:t>E</a:t>
            </a:r>
            <a:r>
              <a:rPr lang="en-US" sz="2800">
                <a:solidFill>
                  <a:schemeClr val="dk1"/>
                </a:solidFill>
                <a:latin typeface="Arial"/>
                <a:ea typeface="Arial"/>
                <a:cs typeface="Arial"/>
                <a:sym typeface="Arial"/>
              </a:rPr>
              <a:t>, we set </a:t>
            </a:r>
            <a:r>
              <a:rPr i="1" lang="en-US" sz="2800">
                <a:solidFill>
                  <a:schemeClr val="dk1"/>
                </a:solidFill>
                <a:latin typeface="Arial"/>
                <a:ea typeface="Arial"/>
                <a:cs typeface="Arial"/>
                <a:sym typeface="Arial"/>
              </a:rPr>
              <a:t>c</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a:t>
            </a:r>
            <a:r>
              <a:rPr i="1" lang="en-US" sz="2800">
                <a:solidFill>
                  <a:schemeClr val="dk1"/>
                </a:solidFill>
                <a:latin typeface="Arial"/>
                <a:ea typeface="Arial"/>
                <a:cs typeface="Arial"/>
                <a:sym typeface="Arial"/>
              </a:rPr>
              <a:t>= </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5080" rtl="0" algn="l">
              <a:lnSpc>
                <a:spcPct val="107857"/>
              </a:lnSpc>
              <a:spcBef>
                <a:spcPts val="995"/>
              </a:spcBef>
              <a:spcAft>
                <a:spcPts val="0"/>
              </a:spcAft>
              <a:buClr>
                <a:schemeClr val="dk1"/>
              </a:buClr>
              <a:buSzPts val="2800"/>
              <a:buFont typeface="Arial"/>
              <a:buChar char="•"/>
            </a:pPr>
            <a:r>
              <a:rPr lang="en-US" sz="2800">
                <a:solidFill>
                  <a:schemeClr val="dk1"/>
                </a:solidFill>
                <a:latin typeface="Arial"/>
                <a:ea typeface="Arial"/>
                <a:cs typeface="Arial"/>
                <a:sym typeface="Arial"/>
              </a:rPr>
              <a:t>Consider only  undirected graphs (i.e., graphs whose edges do not have a direction),  so that edge (</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is the same as edge (</a:t>
            </a:r>
            <a:r>
              <a:rPr i="1" lang="en-US" sz="2800">
                <a:solidFill>
                  <a:schemeClr val="dk1"/>
                </a:solidFill>
                <a:latin typeface="Arial"/>
                <a:ea typeface="Arial"/>
                <a:cs typeface="Arial"/>
                <a:sym typeface="Arial"/>
              </a:rPr>
              <a:t>y,x</a:t>
            </a:r>
            <a:r>
              <a:rPr lang="en-US" sz="2800">
                <a:solidFill>
                  <a:schemeClr val="dk1"/>
                </a:solidFill>
                <a:latin typeface="Arial"/>
                <a:ea typeface="Arial"/>
                <a:cs typeface="Arial"/>
                <a:sym typeface="Arial"/>
              </a:rPr>
              <a:t>) and that </a:t>
            </a:r>
            <a:r>
              <a:rPr i="1" lang="en-US" sz="2800">
                <a:solidFill>
                  <a:schemeClr val="dk1"/>
                </a:solidFill>
                <a:latin typeface="Arial"/>
                <a:ea typeface="Arial"/>
                <a:cs typeface="Arial"/>
                <a:sym typeface="Arial"/>
              </a:rPr>
              <a:t>c</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a:t>
            </a:r>
            <a:r>
              <a:rPr i="1" lang="en-US" sz="2800">
                <a:solidFill>
                  <a:schemeClr val="dk1"/>
                </a:solidFill>
                <a:latin typeface="Arial"/>
                <a:ea typeface="Arial"/>
                <a:cs typeface="Arial"/>
                <a:sym typeface="Arial"/>
              </a:rPr>
              <a:t>= c</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y,x</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0" rtl="0" algn="l">
              <a:lnSpc>
                <a:spcPct val="100000"/>
              </a:lnSpc>
              <a:spcBef>
                <a:spcPts val="635"/>
              </a:spcBef>
              <a:spcAft>
                <a:spcPts val="0"/>
              </a:spcAft>
              <a:buClr>
                <a:schemeClr val="dk1"/>
              </a:buClr>
              <a:buSzPts val="2800"/>
              <a:buFont typeface="Arial"/>
              <a:buChar char="•"/>
            </a:pPr>
            <a:r>
              <a:rPr lang="en-US" sz="2800">
                <a:solidFill>
                  <a:schemeClr val="dk1"/>
                </a:solidFill>
                <a:latin typeface="Arial"/>
                <a:ea typeface="Arial"/>
                <a:cs typeface="Arial"/>
                <a:sym typeface="Arial"/>
              </a:rPr>
              <a:t>Also, a node </a:t>
            </a:r>
            <a:r>
              <a:rPr i="1" lang="en-US" sz="2800">
                <a:solidFill>
                  <a:schemeClr val="dk1"/>
                </a:solidFill>
                <a:latin typeface="Arial"/>
                <a:ea typeface="Arial"/>
                <a:cs typeface="Arial"/>
                <a:sym typeface="Arial"/>
              </a:rPr>
              <a:t>y </a:t>
            </a:r>
            <a:r>
              <a:rPr lang="en-US" sz="2800">
                <a:solidFill>
                  <a:schemeClr val="dk1"/>
                </a:solidFill>
                <a:latin typeface="Arial"/>
                <a:ea typeface="Arial"/>
                <a:cs typeface="Arial"/>
                <a:sym typeface="Arial"/>
              </a:rPr>
              <a:t>is said to be a </a:t>
            </a:r>
            <a:r>
              <a:rPr b="1" lang="en-US" sz="2800">
                <a:solidFill>
                  <a:schemeClr val="dk1"/>
                </a:solidFill>
                <a:latin typeface="Arial"/>
                <a:ea typeface="Arial"/>
                <a:cs typeface="Arial"/>
                <a:sym typeface="Arial"/>
              </a:rPr>
              <a:t>neighbor </a:t>
            </a:r>
            <a:r>
              <a:rPr lang="en-US" sz="2800">
                <a:solidFill>
                  <a:schemeClr val="dk1"/>
                </a:solidFill>
                <a:latin typeface="Arial"/>
                <a:ea typeface="Arial"/>
                <a:cs typeface="Arial"/>
                <a:sym typeface="Arial"/>
              </a:rPr>
              <a:t>of node </a:t>
            </a:r>
            <a:r>
              <a:rPr i="1" lang="en-US" sz="2800">
                <a:solidFill>
                  <a:schemeClr val="dk1"/>
                </a:solidFill>
                <a:latin typeface="Arial"/>
                <a:ea typeface="Arial"/>
                <a:cs typeface="Arial"/>
                <a:sym typeface="Arial"/>
              </a:rPr>
              <a:t>x </a:t>
            </a:r>
            <a:r>
              <a:rPr lang="en-US" sz="2800">
                <a:solidFill>
                  <a:schemeClr val="dk1"/>
                </a:solidFill>
                <a:latin typeface="Arial"/>
                <a:ea typeface="Arial"/>
                <a:cs typeface="Arial"/>
                <a:sym typeface="Arial"/>
              </a:rPr>
              <a:t>if (</a:t>
            </a:r>
            <a:r>
              <a:rPr i="1" lang="en-US" sz="2800">
                <a:solidFill>
                  <a:schemeClr val="dk1"/>
                </a:solidFill>
                <a:latin typeface="Arial"/>
                <a:ea typeface="Arial"/>
                <a:cs typeface="Arial"/>
                <a:sym typeface="Arial"/>
              </a:rPr>
              <a:t>x,y</a:t>
            </a:r>
            <a:r>
              <a:rPr lang="en-US" sz="2800">
                <a:solidFill>
                  <a:schemeClr val="dk1"/>
                </a:solidFill>
                <a:latin typeface="Arial"/>
                <a:ea typeface="Arial"/>
                <a:cs typeface="Arial"/>
                <a:sym typeface="Arial"/>
              </a:rPr>
              <a:t>) belongs to </a:t>
            </a:r>
            <a:r>
              <a:rPr i="1" lang="en-US" sz="2800">
                <a:solidFill>
                  <a:schemeClr val="dk1"/>
                </a:solidFill>
                <a:latin typeface="Arial"/>
                <a:ea typeface="Arial"/>
                <a:cs typeface="Arial"/>
                <a:sym typeface="Arial"/>
              </a:rPr>
              <a:t>E</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01"/>
          <p:cNvSpPr txBox="1"/>
          <p:nvPr/>
        </p:nvSpPr>
        <p:spPr>
          <a:xfrm>
            <a:off x="916939" y="162306"/>
            <a:ext cx="10356850" cy="5940425"/>
          </a:xfrm>
          <a:prstGeom prst="rect">
            <a:avLst/>
          </a:prstGeom>
          <a:noFill/>
          <a:ln>
            <a:noFill/>
          </a:ln>
        </p:spPr>
        <p:txBody>
          <a:bodyPr anchorCtr="0" anchor="t" bIns="0" lIns="0" spcFirstLastPara="1" rIns="0" wrap="square" tIns="92075">
            <a:spAutoFit/>
          </a:bodyPr>
          <a:lstStyle/>
          <a:p>
            <a:pPr indent="-228600" lvl="0" marL="241300" marR="611505" rtl="0" algn="l">
              <a:lnSpc>
                <a:spcPct val="80000"/>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A natural goal of a routing algorithm is to identify the least costly paths  between sources and destinations.</a:t>
            </a:r>
            <a:endParaRPr sz="2600">
              <a:solidFill>
                <a:schemeClr val="dk1"/>
              </a:solidFill>
              <a:latin typeface="Arial"/>
              <a:ea typeface="Arial"/>
              <a:cs typeface="Arial"/>
              <a:sym typeface="Arial"/>
            </a:endParaRPr>
          </a:p>
          <a:p>
            <a:pPr indent="-228600" lvl="0" marL="241300" marR="233679" rtl="0" algn="l">
              <a:lnSpc>
                <a:spcPct val="96153"/>
              </a:lnSpc>
              <a:spcBef>
                <a:spcPts val="97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600">
                <a:solidFill>
                  <a:schemeClr val="dk1"/>
                </a:solidFill>
                <a:latin typeface="Arial"/>
                <a:ea typeface="Arial"/>
                <a:cs typeface="Arial"/>
                <a:sym typeface="Arial"/>
              </a:rPr>
              <a:t>To make this problem more precise, recall that a </a:t>
            </a:r>
            <a:r>
              <a:rPr b="1" lang="en-US" sz="2600">
                <a:solidFill>
                  <a:schemeClr val="dk1"/>
                </a:solidFill>
                <a:latin typeface="Arial"/>
                <a:ea typeface="Arial"/>
                <a:cs typeface="Arial"/>
                <a:sym typeface="Arial"/>
              </a:rPr>
              <a:t>path </a:t>
            </a:r>
            <a:r>
              <a:rPr lang="en-US" sz="2600">
                <a:solidFill>
                  <a:schemeClr val="dk1"/>
                </a:solidFill>
                <a:latin typeface="Arial"/>
                <a:ea typeface="Arial"/>
                <a:cs typeface="Arial"/>
                <a:sym typeface="Arial"/>
              </a:rPr>
              <a:t>in a graph </a:t>
            </a:r>
            <a:r>
              <a:rPr i="1" lang="en-US" sz="2600">
                <a:solidFill>
                  <a:schemeClr val="dk1"/>
                </a:solidFill>
                <a:latin typeface="Arial"/>
                <a:ea typeface="Arial"/>
                <a:cs typeface="Arial"/>
                <a:sym typeface="Arial"/>
              </a:rPr>
              <a:t>G = </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N,E</a:t>
            </a:r>
            <a:r>
              <a:rPr lang="en-US" sz="2600">
                <a:solidFill>
                  <a:schemeClr val="dk1"/>
                </a:solidFill>
                <a:latin typeface="Arial"/>
                <a:ea typeface="Arial"/>
                <a:cs typeface="Arial"/>
                <a:sym typeface="Arial"/>
              </a:rPr>
              <a:t>)  is a sequence of nodes (</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1, </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 </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 such that each of the pairs  (</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1,</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a:t>
            </a:r>
            <a:r>
              <a:rPr i="1" lang="en-US" sz="2600">
                <a:solidFill>
                  <a:schemeClr val="dk1"/>
                </a:solidFill>
                <a:latin typeface="Arial"/>
                <a:ea typeface="Arial"/>
                <a:cs typeface="Arial"/>
                <a:sym typeface="Arial"/>
              </a:rPr>
              <a:t>,</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3)</a:t>
            </a:r>
            <a:r>
              <a:rPr i="1" lang="en-US" sz="2600">
                <a:solidFill>
                  <a:schemeClr val="dk1"/>
                </a:solidFill>
                <a:latin typeface="Arial"/>
                <a:ea typeface="Arial"/>
                <a:cs typeface="Arial"/>
                <a:sym typeface="Arial"/>
              </a:rPr>
              <a:t>,...,</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1,</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 are edges in </a:t>
            </a:r>
            <a:r>
              <a:rPr i="1" lang="en-US" sz="2600">
                <a:solidFill>
                  <a:schemeClr val="dk1"/>
                </a:solidFill>
                <a:latin typeface="Arial"/>
                <a:ea typeface="Arial"/>
                <a:cs typeface="Arial"/>
                <a:sym typeface="Arial"/>
              </a:rPr>
              <a:t>E</a:t>
            </a:r>
            <a:r>
              <a:rPr lang="en-US" sz="2600">
                <a:solidFill>
                  <a:schemeClr val="dk1"/>
                </a:solidFill>
                <a:latin typeface="Arial"/>
                <a:ea typeface="Arial"/>
                <a:cs typeface="Arial"/>
                <a:sym typeface="Arial"/>
              </a:rPr>
              <a:t>.</a:t>
            </a:r>
            <a:endParaRPr sz="2600">
              <a:solidFill>
                <a:schemeClr val="dk1"/>
              </a:solidFill>
              <a:latin typeface="Arial"/>
              <a:ea typeface="Arial"/>
              <a:cs typeface="Arial"/>
              <a:sym typeface="Arial"/>
            </a:endParaRPr>
          </a:p>
          <a:p>
            <a:pPr indent="-228600" lvl="0" marL="241300" marR="5080" rtl="0" algn="l">
              <a:lnSpc>
                <a:spcPct val="96153"/>
              </a:lnSpc>
              <a:spcBef>
                <a:spcPts val="994"/>
              </a:spcBef>
              <a:spcAft>
                <a:spcPts val="0"/>
              </a:spcAft>
              <a:buClr>
                <a:schemeClr val="dk1"/>
              </a:buClr>
              <a:buSzPts val="2600"/>
              <a:buFont typeface="Arial"/>
              <a:buChar char="•"/>
            </a:pPr>
            <a:r>
              <a:rPr lang="en-US" sz="2600">
                <a:solidFill>
                  <a:schemeClr val="dk1"/>
                </a:solidFill>
                <a:latin typeface="Arial"/>
                <a:ea typeface="Arial"/>
                <a:cs typeface="Arial"/>
                <a:sym typeface="Arial"/>
              </a:rPr>
              <a:t>The cost of a path (</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1,</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 </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 is simply the sum of all the edge costs along  the path, that is, </a:t>
            </a:r>
            <a:r>
              <a:rPr i="1" lang="en-US" sz="2600">
                <a:solidFill>
                  <a:schemeClr val="dk1"/>
                </a:solidFill>
                <a:latin typeface="Arial"/>
                <a:ea typeface="Arial"/>
                <a:cs typeface="Arial"/>
                <a:sym typeface="Arial"/>
              </a:rPr>
              <a:t>c</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1,</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 </a:t>
            </a:r>
            <a:r>
              <a:rPr i="1" lang="en-US" sz="2600">
                <a:solidFill>
                  <a:schemeClr val="dk1"/>
                </a:solidFill>
                <a:latin typeface="Arial"/>
                <a:ea typeface="Arial"/>
                <a:cs typeface="Arial"/>
                <a:sym typeface="Arial"/>
              </a:rPr>
              <a:t>+ c</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2,</a:t>
            </a:r>
            <a:r>
              <a:rPr i="1" lang="en-US" sz="2600">
                <a:solidFill>
                  <a:schemeClr val="dk1"/>
                </a:solidFill>
                <a:latin typeface="Arial"/>
                <a:ea typeface="Arial"/>
                <a:cs typeface="Arial"/>
                <a:sym typeface="Arial"/>
              </a:rPr>
              <a:t>x</a:t>
            </a:r>
            <a:r>
              <a:rPr lang="en-US" sz="2600">
                <a:solidFill>
                  <a:schemeClr val="dk1"/>
                </a:solidFill>
                <a:latin typeface="Arial"/>
                <a:ea typeface="Arial"/>
                <a:cs typeface="Arial"/>
                <a:sym typeface="Arial"/>
              </a:rPr>
              <a:t>3) </a:t>
            </a:r>
            <a:r>
              <a:rPr i="1" lang="en-US" sz="2600">
                <a:solidFill>
                  <a:schemeClr val="dk1"/>
                </a:solidFill>
                <a:latin typeface="Arial"/>
                <a:ea typeface="Arial"/>
                <a:cs typeface="Arial"/>
                <a:sym typeface="Arial"/>
              </a:rPr>
              <a:t>+ ...+ c</a:t>
            </a:r>
            <a:r>
              <a:rPr lang="en-US" sz="2600">
                <a:solidFill>
                  <a:schemeClr val="dk1"/>
                </a:solidFill>
                <a:latin typeface="Arial"/>
                <a:ea typeface="Arial"/>
                <a:cs typeface="Arial"/>
                <a:sym typeface="Arial"/>
              </a:rPr>
              <a:t>(</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1,</a:t>
            </a:r>
            <a:r>
              <a:rPr i="1" lang="en-US" sz="2600">
                <a:solidFill>
                  <a:schemeClr val="dk1"/>
                </a:solidFill>
                <a:latin typeface="Arial"/>
                <a:ea typeface="Arial"/>
                <a:cs typeface="Arial"/>
                <a:sym typeface="Arial"/>
              </a:rPr>
              <a:t>xp</a:t>
            </a:r>
            <a:r>
              <a:rPr lang="en-US" sz="2600">
                <a:solidFill>
                  <a:schemeClr val="dk1"/>
                </a:solidFill>
                <a:latin typeface="Arial"/>
                <a:ea typeface="Arial"/>
                <a:cs typeface="Arial"/>
                <a:sym typeface="Arial"/>
              </a:rPr>
              <a:t>).</a:t>
            </a:r>
            <a:endParaRPr sz="2600">
              <a:solidFill>
                <a:schemeClr val="dk1"/>
              </a:solidFill>
              <a:latin typeface="Arial"/>
              <a:ea typeface="Arial"/>
              <a:cs typeface="Arial"/>
              <a:sym typeface="Arial"/>
            </a:endParaRPr>
          </a:p>
          <a:p>
            <a:pPr indent="-228600" lvl="0" marL="241300" marR="311150" rtl="0" algn="just">
              <a:lnSpc>
                <a:spcPct val="96153"/>
              </a:lnSpc>
              <a:spcBef>
                <a:spcPts val="990"/>
              </a:spcBef>
              <a:spcAft>
                <a:spcPts val="0"/>
              </a:spcAft>
              <a:buClr>
                <a:schemeClr val="dk1"/>
              </a:buClr>
              <a:buSzPts val="2600"/>
              <a:buFont typeface="Arial"/>
              <a:buChar char="•"/>
            </a:pPr>
            <a:r>
              <a:rPr lang="en-US" sz="2600">
                <a:solidFill>
                  <a:schemeClr val="dk1"/>
                </a:solidFill>
                <a:latin typeface="Arial"/>
                <a:ea typeface="Arial"/>
                <a:cs typeface="Arial"/>
                <a:sym typeface="Arial"/>
              </a:rPr>
              <a:t>Given any two nodes </a:t>
            </a:r>
            <a:r>
              <a:rPr i="1" lang="en-US" sz="2600">
                <a:solidFill>
                  <a:schemeClr val="dk1"/>
                </a:solidFill>
                <a:latin typeface="Arial"/>
                <a:ea typeface="Arial"/>
                <a:cs typeface="Arial"/>
                <a:sym typeface="Arial"/>
              </a:rPr>
              <a:t>x </a:t>
            </a:r>
            <a:r>
              <a:rPr lang="en-US" sz="2600">
                <a:solidFill>
                  <a:schemeClr val="dk1"/>
                </a:solidFill>
                <a:latin typeface="Arial"/>
                <a:ea typeface="Arial"/>
                <a:cs typeface="Arial"/>
                <a:sym typeface="Arial"/>
              </a:rPr>
              <a:t>and </a:t>
            </a:r>
            <a:r>
              <a:rPr i="1" lang="en-US" sz="2600">
                <a:solidFill>
                  <a:schemeClr val="dk1"/>
                </a:solidFill>
                <a:latin typeface="Arial"/>
                <a:ea typeface="Arial"/>
                <a:cs typeface="Arial"/>
                <a:sym typeface="Arial"/>
              </a:rPr>
              <a:t>y</a:t>
            </a:r>
            <a:r>
              <a:rPr lang="en-US" sz="2600">
                <a:solidFill>
                  <a:schemeClr val="dk1"/>
                </a:solidFill>
                <a:latin typeface="Arial"/>
                <a:ea typeface="Arial"/>
                <a:cs typeface="Arial"/>
                <a:sym typeface="Arial"/>
              </a:rPr>
              <a:t>, there are typically many paths between the  two nodes, with each path having a cost. One or more of these paths is a  </a:t>
            </a:r>
            <a:r>
              <a:rPr b="1" lang="en-US" sz="2600">
                <a:solidFill>
                  <a:schemeClr val="dk1"/>
                </a:solidFill>
                <a:latin typeface="Arial"/>
                <a:ea typeface="Arial"/>
                <a:cs typeface="Arial"/>
                <a:sym typeface="Arial"/>
              </a:rPr>
              <a:t>least-cost path</a:t>
            </a:r>
            <a:r>
              <a:rPr lang="en-US" sz="2600">
                <a:solidFill>
                  <a:schemeClr val="dk1"/>
                </a:solidFill>
                <a:latin typeface="Arial"/>
                <a:ea typeface="Arial"/>
                <a:cs typeface="Arial"/>
                <a:sym typeface="Arial"/>
              </a:rPr>
              <a:t>.</a:t>
            </a:r>
            <a:endParaRPr sz="2600">
              <a:solidFill>
                <a:schemeClr val="dk1"/>
              </a:solidFill>
              <a:latin typeface="Arial"/>
              <a:ea typeface="Arial"/>
              <a:cs typeface="Arial"/>
              <a:sym typeface="Arial"/>
            </a:endParaRPr>
          </a:p>
          <a:p>
            <a:pPr indent="-228600" lvl="0" marL="241300" marR="292735" rtl="0" algn="just">
              <a:lnSpc>
                <a:spcPct val="96153"/>
              </a:lnSpc>
              <a:spcBef>
                <a:spcPts val="985"/>
              </a:spcBef>
              <a:spcAft>
                <a:spcPts val="0"/>
              </a:spcAft>
              <a:buClr>
                <a:schemeClr val="dk1"/>
              </a:buClr>
              <a:buSzPts val="2600"/>
              <a:buFont typeface="Arial"/>
              <a:buChar char="•"/>
            </a:pPr>
            <a:r>
              <a:rPr lang="en-US" sz="2600">
                <a:solidFill>
                  <a:schemeClr val="dk1"/>
                </a:solidFill>
                <a:latin typeface="Arial"/>
                <a:ea typeface="Arial"/>
                <a:cs typeface="Arial"/>
                <a:sym typeface="Arial"/>
              </a:rPr>
              <a:t>The least-cost problem is therefore clear: Find a path between the source  and destination that has least cost.</a:t>
            </a:r>
            <a:endParaRPr sz="2600">
              <a:solidFill>
                <a:schemeClr val="dk1"/>
              </a:solidFill>
              <a:latin typeface="Arial"/>
              <a:ea typeface="Arial"/>
              <a:cs typeface="Arial"/>
              <a:sym typeface="Arial"/>
            </a:endParaRPr>
          </a:p>
          <a:p>
            <a:pPr indent="-228600" lvl="0" marL="241300" marR="419734" rtl="0" algn="just">
              <a:lnSpc>
                <a:spcPct val="96153"/>
              </a:lnSpc>
              <a:spcBef>
                <a:spcPts val="1005"/>
              </a:spcBef>
              <a:spcAft>
                <a:spcPts val="0"/>
              </a:spcAft>
              <a:buClr>
                <a:schemeClr val="dk1"/>
              </a:buClr>
              <a:buSzPts val="2600"/>
              <a:buFont typeface="Arial"/>
              <a:buChar char="•"/>
            </a:pPr>
            <a:r>
              <a:rPr lang="en-US" sz="2600">
                <a:solidFill>
                  <a:schemeClr val="dk1"/>
                </a:solidFill>
                <a:latin typeface="Arial"/>
                <a:ea typeface="Arial"/>
                <a:cs typeface="Arial"/>
                <a:sym typeface="Arial"/>
              </a:rPr>
              <a:t>For example, the least-cost path between source node </a:t>
            </a:r>
            <a:r>
              <a:rPr i="1" lang="en-US" sz="2600">
                <a:solidFill>
                  <a:schemeClr val="dk1"/>
                </a:solidFill>
                <a:latin typeface="Arial"/>
                <a:ea typeface="Arial"/>
                <a:cs typeface="Arial"/>
                <a:sym typeface="Arial"/>
              </a:rPr>
              <a:t>u </a:t>
            </a:r>
            <a:r>
              <a:rPr lang="en-US" sz="2600">
                <a:solidFill>
                  <a:schemeClr val="dk1"/>
                </a:solidFill>
                <a:latin typeface="Arial"/>
                <a:ea typeface="Arial"/>
                <a:cs typeface="Arial"/>
                <a:sym typeface="Arial"/>
              </a:rPr>
              <a:t>and destination  node </a:t>
            </a:r>
            <a:r>
              <a:rPr i="1" lang="en-US" sz="2600">
                <a:solidFill>
                  <a:schemeClr val="dk1"/>
                </a:solidFill>
                <a:latin typeface="Arial"/>
                <a:ea typeface="Arial"/>
                <a:cs typeface="Arial"/>
                <a:sym typeface="Arial"/>
              </a:rPr>
              <a:t>w </a:t>
            </a:r>
            <a:r>
              <a:rPr lang="en-US" sz="2600">
                <a:solidFill>
                  <a:schemeClr val="dk1"/>
                </a:solidFill>
                <a:latin typeface="Arial"/>
                <a:ea typeface="Arial"/>
                <a:cs typeface="Arial"/>
                <a:sym typeface="Arial"/>
              </a:rPr>
              <a:t>is (</a:t>
            </a:r>
            <a:r>
              <a:rPr i="1" lang="en-US" sz="2600">
                <a:solidFill>
                  <a:schemeClr val="dk1"/>
                </a:solidFill>
                <a:latin typeface="Arial"/>
                <a:ea typeface="Arial"/>
                <a:cs typeface="Arial"/>
                <a:sym typeface="Arial"/>
              </a:rPr>
              <a:t>u, x, y, w</a:t>
            </a:r>
            <a:r>
              <a:rPr lang="en-US" sz="2600">
                <a:solidFill>
                  <a:schemeClr val="dk1"/>
                </a:solidFill>
                <a:latin typeface="Arial"/>
                <a:ea typeface="Arial"/>
                <a:cs typeface="Arial"/>
                <a:sym typeface="Arial"/>
              </a:rPr>
              <a:t>) with a path cost of 3.</a:t>
            </a:r>
            <a:endParaRPr sz="2600">
              <a:solidFill>
                <a:schemeClr val="dk1"/>
              </a:solidFill>
              <a:latin typeface="Arial"/>
              <a:ea typeface="Arial"/>
              <a:cs typeface="Arial"/>
              <a:sym typeface="Arial"/>
            </a:endParaRPr>
          </a:p>
          <a:p>
            <a:pPr indent="-228600" lvl="0" marL="241300" marR="64135" rtl="0" algn="just">
              <a:lnSpc>
                <a:spcPct val="80000"/>
              </a:lnSpc>
              <a:spcBef>
                <a:spcPts val="1010"/>
              </a:spcBef>
              <a:spcAft>
                <a:spcPts val="0"/>
              </a:spcAft>
              <a:buClr>
                <a:schemeClr val="dk1"/>
              </a:buClr>
              <a:buSzPts val="2600"/>
              <a:buFont typeface="Arial"/>
              <a:buChar char="•"/>
            </a:pPr>
            <a:r>
              <a:rPr lang="en-US" sz="2600">
                <a:solidFill>
                  <a:schemeClr val="dk1"/>
                </a:solidFill>
                <a:latin typeface="Arial"/>
                <a:ea typeface="Arial"/>
                <a:cs typeface="Arial"/>
                <a:sym typeface="Arial"/>
              </a:rPr>
              <a:t>Note that if all edges in the graph have the same cost, the least-cost path is  also the </a:t>
            </a:r>
            <a:r>
              <a:rPr b="1" lang="en-US" sz="2600">
                <a:solidFill>
                  <a:schemeClr val="dk1"/>
                </a:solidFill>
                <a:latin typeface="Arial"/>
                <a:ea typeface="Arial"/>
                <a:cs typeface="Arial"/>
                <a:sym typeface="Arial"/>
              </a:rPr>
              <a:t>shortest path.</a:t>
            </a:r>
            <a:endParaRPr sz="2600">
              <a:solidFill>
                <a:schemeClr val="dk1"/>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02"/>
          <p:cNvSpPr txBox="1"/>
          <p:nvPr>
            <p:ph type="title"/>
          </p:nvPr>
        </p:nvSpPr>
        <p:spPr>
          <a:xfrm>
            <a:off x="916939" y="609676"/>
            <a:ext cx="7938134"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Classification of Routing Algorithms</a:t>
            </a:r>
            <a:endParaRPr/>
          </a:p>
        </p:txBody>
      </p:sp>
      <p:sp>
        <p:nvSpPr>
          <p:cNvPr id="1081" name="Google Shape;1081;p102"/>
          <p:cNvSpPr txBox="1"/>
          <p:nvPr/>
        </p:nvSpPr>
        <p:spPr>
          <a:xfrm>
            <a:off x="916939" y="1707918"/>
            <a:ext cx="8877300" cy="1560195"/>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chemeClr val="dk1"/>
              </a:buClr>
              <a:buSzPts val="2800"/>
              <a:buFont typeface="Arial"/>
              <a:buChar char="•"/>
            </a:pPr>
            <a:r>
              <a:rPr b="1" lang="en-US" sz="2800">
                <a:solidFill>
                  <a:schemeClr val="dk1"/>
                </a:solidFill>
                <a:latin typeface="Arial"/>
                <a:ea typeface="Arial"/>
                <a:cs typeface="Arial"/>
                <a:sym typeface="Arial"/>
              </a:rPr>
              <a:t>global routing algorithm	/ decentralized routing algorithm</a:t>
            </a:r>
            <a:endParaRPr sz="2800">
              <a:solidFill>
                <a:schemeClr val="dk1"/>
              </a:solidFill>
              <a:latin typeface="Arial"/>
              <a:ea typeface="Arial"/>
              <a:cs typeface="Arial"/>
              <a:sym typeface="Arial"/>
            </a:endParaRPr>
          </a:p>
          <a:p>
            <a:pPr indent="-228600" lvl="0" marL="241300" marR="0" rtl="0" algn="l">
              <a:lnSpc>
                <a:spcPct val="100000"/>
              </a:lnSpc>
              <a:spcBef>
                <a:spcPts val="670"/>
              </a:spcBef>
              <a:spcAft>
                <a:spcPts val="0"/>
              </a:spcAft>
              <a:buClr>
                <a:schemeClr val="dk1"/>
              </a:buClr>
              <a:buSzPts val="2800"/>
              <a:buFont typeface="Arial"/>
              <a:buChar char="•"/>
            </a:pPr>
            <a:r>
              <a:rPr b="1" lang="en-US" sz="2800">
                <a:solidFill>
                  <a:schemeClr val="dk1"/>
                </a:solidFill>
                <a:latin typeface="Arial"/>
                <a:ea typeface="Arial"/>
                <a:cs typeface="Arial"/>
                <a:sym typeface="Arial"/>
              </a:rPr>
              <a:t>static routing algorithms / Dynamic routing algorithms</a:t>
            </a:r>
            <a:endParaRPr sz="2800">
              <a:solidFill>
                <a:schemeClr val="dk1"/>
              </a:solidFill>
              <a:latin typeface="Arial"/>
              <a:ea typeface="Arial"/>
              <a:cs typeface="Arial"/>
              <a:sym typeface="Arial"/>
            </a:endParaRPr>
          </a:p>
          <a:p>
            <a:pPr indent="-228600" lvl="0" marL="241300" marR="0" rtl="0" algn="l">
              <a:lnSpc>
                <a:spcPct val="100000"/>
              </a:lnSpc>
              <a:spcBef>
                <a:spcPts val="665"/>
              </a:spcBef>
              <a:spcAft>
                <a:spcPts val="0"/>
              </a:spcAft>
              <a:buClr>
                <a:schemeClr val="dk1"/>
              </a:buClr>
              <a:buSzPts val="2800"/>
              <a:buFont typeface="Arial"/>
              <a:buChar char="•"/>
            </a:pPr>
            <a:r>
              <a:rPr b="1" lang="en-US" sz="2800">
                <a:solidFill>
                  <a:schemeClr val="dk1"/>
                </a:solidFill>
                <a:latin typeface="Arial"/>
                <a:ea typeface="Arial"/>
                <a:cs typeface="Arial"/>
                <a:sym typeface="Arial"/>
              </a:rPr>
              <a:t>load-sensitive algorithm / load-insensitive algorithm</a:t>
            </a:r>
            <a:endParaRPr sz="2800">
              <a:solidFill>
                <a:schemeClr val="dk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03"/>
          <p:cNvSpPr txBox="1"/>
          <p:nvPr>
            <p:ph type="title"/>
          </p:nvPr>
        </p:nvSpPr>
        <p:spPr>
          <a:xfrm>
            <a:off x="916939" y="609676"/>
            <a:ext cx="533273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global routing algorithm</a:t>
            </a:r>
            <a:endParaRPr/>
          </a:p>
        </p:txBody>
      </p:sp>
      <p:sp>
        <p:nvSpPr>
          <p:cNvPr id="1087" name="Google Shape;1087;p103"/>
          <p:cNvSpPr txBox="1"/>
          <p:nvPr/>
        </p:nvSpPr>
        <p:spPr>
          <a:xfrm>
            <a:off x="916939" y="1798066"/>
            <a:ext cx="10293350" cy="4140200"/>
          </a:xfrm>
          <a:prstGeom prst="rect">
            <a:avLst/>
          </a:prstGeom>
          <a:noFill/>
          <a:ln>
            <a:noFill/>
          </a:ln>
        </p:spPr>
        <p:txBody>
          <a:bodyPr anchorCtr="0" anchor="t" bIns="0" lIns="0" spcFirstLastPara="1" rIns="0" wrap="square" tIns="57775">
            <a:spAutoFit/>
          </a:bodyPr>
          <a:lstStyle/>
          <a:p>
            <a:pPr indent="-228600" lvl="0" marL="241300" marR="37465" rtl="0" algn="l">
              <a:lnSpc>
                <a:spcPct val="108076"/>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A </a:t>
            </a:r>
            <a:r>
              <a:rPr b="1" lang="en-US" sz="2600">
                <a:solidFill>
                  <a:schemeClr val="dk1"/>
                </a:solidFill>
                <a:latin typeface="Arial"/>
                <a:ea typeface="Arial"/>
                <a:cs typeface="Arial"/>
                <a:sym typeface="Arial"/>
              </a:rPr>
              <a:t>global routing algorithm </a:t>
            </a:r>
            <a:r>
              <a:rPr lang="en-US" sz="2600">
                <a:solidFill>
                  <a:schemeClr val="dk1"/>
                </a:solidFill>
                <a:latin typeface="Arial"/>
                <a:ea typeface="Arial"/>
                <a:cs typeface="Arial"/>
                <a:sym typeface="Arial"/>
              </a:rPr>
              <a:t>computes the least-cost path between a source  and destination using complete, global knowledge about the network.</a:t>
            </a:r>
            <a:endParaRPr sz="2600">
              <a:solidFill>
                <a:schemeClr val="dk1"/>
              </a:solidFill>
              <a:latin typeface="Arial"/>
              <a:ea typeface="Arial"/>
              <a:cs typeface="Arial"/>
              <a:sym typeface="Arial"/>
            </a:endParaRPr>
          </a:p>
          <a:p>
            <a:pPr indent="-228600" lvl="0" marL="241300" marR="137795" rtl="0" algn="l">
              <a:lnSpc>
                <a:spcPct val="108076"/>
              </a:lnSpc>
              <a:spcBef>
                <a:spcPts val="994"/>
              </a:spcBef>
              <a:spcAft>
                <a:spcPts val="0"/>
              </a:spcAft>
              <a:buClr>
                <a:schemeClr val="dk1"/>
              </a:buClr>
              <a:buSzPts val="2600"/>
              <a:buFont typeface="Arial"/>
              <a:buChar char="•"/>
            </a:pPr>
            <a:r>
              <a:rPr lang="en-US" sz="2600">
                <a:solidFill>
                  <a:schemeClr val="dk1"/>
                </a:solidFill>
                <a:latin typeface="Arial"/>
                <a:ea typeface="Arial"/>
                <a:cs typeface="Arial"/>
                <a:sym typeface="Arial"/>
              </a:rPr>
              <a:t>That is, the algorithm takes the connectivity between all nodes and all link  costs as inputs.</a:t>
            </a:r>
            <a:endParaRPr sz="2600">
              <a:solidFill>
                <a:schemeClr val="dk1"/>
              </a:solidFill>
              <a:latin typeface="Arial"/>
              <a:ea typeface="Arial"/>
              <a:cs typeface="Arial"/>
              <a:sym typeface="Arial"/>
            </a:endParaRPr>
          </a:p>
          <a:p>
            <a:pPr indent="-228600" lvl="0" marL="241300" marR="549275" rtl="0" algn="l">
              <a:lnSpc>
                <a:spcPct val="108076"/>
              </a:lnSpc>
              <a:spcBef>
                <a:spcPts val="1005"/>
              </a:spcBef>
              <a:spcAft>
                <a:spcPts val="0"/>
              </a:spcAft>
              <a:buClr>
                <a:schemeClr val="dk1"/>
              </a:buClr>
              <a:buSzPts val="2600"/>
              <a:buFont typeface="Arial"/>
              <a:buChar char="•"/>
            </a:pPr>
            <a:r>
              <a:rPr lang="en-US" sz="2600">
                <a:solidFill>
                  <a:schemeClr val="dk1"/>
                </a:solidFill>
                <a:latin typeface="Arial"/>
                <a:ea typeface="Arial"/>
                <a:cs typeface="Arial"/>
                <a:sym typeface="Arial"/>
              </a:rPr>
              <a:t>This then requires that the algorithm somehow obtain this information  before actually performing the calculation.</a:t>
            </a:r>
            <a:endParaRPr sz="2600">
              <a:solidFill>
                <a:schemeClr val="dk1"/>
              </a:solidFill>
              <a:latin typeface="Arial"/>
              <a:ea typeface="Arial"/>
              <a:cs typeface="Arial"/>
              <a:sym typeface="Arial"/>
            </a:endParaRPr>
          </a:p>
          <a:p>
            <a:pPr indent="-228600" lvl="0" marL="241300" marR="0" rtl="0" algn="l">
              <a:lnSpc>
                <a:spcPct val="100000"/>
              </a:lnSpc>
              <a:spcBef>
                <a:spcPts val="640"/>
              </a:spcBef>
              <a:spcAft>
                <a:spcPts val="0"/>
              </a:spcAft>
              <a:buClr>
                <a:schemeClr val="dk1"/>
              </a:buClr>
              <a:buSzPts val="2600"/>
              <a:buFont typeface="Arial"/>
              <a:buChar char="•"/>
            </a:pPr>
            <a:r>
              <a:rPr lang="en-US" sz="2600">
                <a:solidFill>
                  <a:schemeClr val="dk1"/>
                </a:solidFill>
                <a:latin typeface="Arial"/>
                <a:ea typeface="Arial"/>
                <a:cs typeface="Arial"/>
                <a:sym typeface="Arial"/>
              </a:rPr>
              <a:t>The calculation itself can be run at one site.</a:t>
            </a:r>
            <a:endParaRPr sz="2600">
              <a:solidFill>
                <a:schemeClr val="dk1"/>
              </a:solidFill>
              <a:latin typeface="Arial"/>
              <a:ea typeface="Arial"/>
              <a:cs typeface="Arial"/>
              <a:sym typeface="Arial"/>
            </a:endParaRPr>
          </a:p>
          <a:p>
            <a:pPr indent="-228600" lvl="0" marL="241300" marR="5080" rtl="0" algn="l">
              <a:lnSpc>
                <a:spcPct val="108076"/>
              </a:lnSpc>
              <a:spcBef>
                <a:spcPts val="1035"/>
              </a:spcBef>
              <a:spcAft>
                <a:spcPts val="0"/>
              </a:spcAft>
              <a:buClr>
                <a:schemeClr val="dk1"/>
              </a:buClr>
              <a:buSzPts val="2600"/>
              <a:buFont typeface="Arial"/>
              <a:buChar char="•"/>
            </a:pPr>
            <a:r>
              <a:rPr lang="en-US" sz="2600">
                <a:solidFill>
                  <a:schemeClr val="dk1"/>
                </a:solidFill>
                <a:latin typeface="Arial"/>
                <a:ea typeface="Arial"/>
                <a:cs typeface="Arial"/>
                <a:sym typeface="Arial"/>
              </a:rPr>
              <a:t>In practice, algorithms with global state information are often referred to  as </a:t>
            </a:r>
            <a:r>
              <a:rPr b="1" lang="en-US" sz="2600">
                <a:solidFill>
                  <a:schemeClr val="dk1"/>
                </a:solidFill>
                <a:latin typeface="Arial"/>
                <a:ea typeface="Arial"/>
                <a:cs typeface="Arial"/>
                <a:sym typeface="Arial"/>
              </a:rPr>
              <a:t>link-state </a:t>
            </a:r>
            <a:r>
              <a:rPr lang="en-US" sz="2600">
                <a:solidFill>
                  <a:schemeClr val="dk1"/>
                </a:solidFill>
                <a:latin typeface="Arial"/>
                <a:ea typeface="Arial"/>
                <a:cs typeface="Arial"/>
                <a:sym typeface="Arial"/>
              </a:rPr>
              <a:t>(</a:t>
            </a:r>
            <a:r>
              <a:rPr b="1" lang="en-US" sz="2600">
                <a:solidFill>
                  <a:schemeClr val="dk1"/>
                </a:solidFill>
                <a:latin typeface="Arial"/>
                <a:ea typeface="Arial"/>
                <a:cs typeface="Arial"/>
                <a:sym typeface="Arial"/>
              </a:rPr>
              <a:t>LS</a:t>
            </a:r>
            <a:r>
              <a:rPr lang="en-US" sz="2600">
                <a:solidFill>
                  <a:schemeClr val="dk1"/>
                </a:solidFill>
                <a:latin typeface="Arial"/>
                <a:ea typeface="Arial"/>
                <a:cs typeface="Arial"/>
                <a:sym typeface="Arial"/>
              </a:rPr>
              <a:t>) </a:t>
            </a:r>
            <a:r>
              <a:rPr b="1" lang="en-US" sz="2600">
                <a:solidFill>
                  <a:schemeClr val="dk1"/>
                </a:solidFill>
                <a:latin typeface="Arial"/>
                <a:ea typeface="Arial"/>
                <a:cs typeface="Arial"/>
                <a:sym typeface="Arial"/>
              </a:rPr>
              <a:t>algorithms</a:t>
            </a:r>
            <a:r>
              <a:rPr lang="en-US" sz="2600">
                <a:solidFill>
                  <a:schemeClr val="dk1"/>
                </a:solidFill>
                <a:latin typeface="Arial"/>
                <a:ea typeface="Arial"/>
                <a:cs typeface="Arial"/>
                <a:sym typeface="Arial"/>
              </a:rPr>
              <a:t>, since the algorithm must be aware of the cost  of each link in the network.</a:t>
            </a:r>
            <a:endParaRPr sz="2600">
              <a:solidFill>
                <a:schemeClr val="dk1"/>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04"/>
          <p:cNvSpPr txBox="1"/>
          <p:nvPr>
            <p:ph type="title"/>
          </p:nvPr>
        </p:nvSpPr>
        <p:spPr>
          <a:xfrm>
            <a:off x="916939" y="609676"/>
            <a:ext cx="6960234"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decentralized routing algorithm</a:t>
            </a:r>
            <a:endParaRPr/>
          </a:p>
        </p:txBody>
      </p:sp>
      <p:sp>
        <p:nvSpPr>
          <p:cNvPr id="1093" name="Google Shape;1093;p104"/>
          <p:cNvSpPr txBox="1"/>
          <p:nvPr/>
        </p:nvSpPr>
        <p:spPr>
          <a:xfrm>
            <a:off x="916939" y="1481404"/>
            <a:ext cx="10257790" cy="4418330"/>
          </a:xfrm>
          <a:prstGeom prst="rect">
            <a:avLst/>
          </a:prstGeom>
          <a:noFill/>
          <a:ln>
            <a:noFill/>
          </a:ln>
        </p:spPr>
        <p:txBody>
          <a:bodyPr anchorCtr="0" anchor="t" bIns="0" lIns="0" spcFirstLastPara="1" rIns="0" wrap="square" tIns="89525">
            <a:spAutoFit/>
          </a:bodyPr>
          <a:lstStyle/>
          <a:p>
            <a:pPr indent="-228600" lvl="0" marL="241300" marR="66675" rtl="0" algn="l">
              <a:lnSpc>
                <a:spcPct val="96153"/>
              </a:lnSpc>
              <a:spcBef>
                <a:spcPts val="0"/>
              </a:spcBef>
              <a:spcAft>
                <a:spcPts val="0"/>
              </a:spcAft>
              <a:buClr>
                <a:schemeClr val="dk1"/>
              </a:buClr>
              <a:buSzPts val="2600"/>
              <a:buFont typeface="Arial"/>
              <a:buChar char="•"/>
            </a:pPr>
            <a:r>
              <a:rPr lang="en-US" sz="2600">
                <a:solidFill>
                  <a:schemeClr val="dk1"/>
                </a:solidFill>
                <a:latin typeface="Arial"/>
                <a:ea typeface="Arial"/>
                <a:cs typeface="Arial"/>
                <a:sym typeface="Arial"/>
              </a:rPr>
              <a:t>In a </a:t>
            </a:r>
            <a:r>
              <a:rPr b="1" lang="en-US" sz="2600">
                <a:solidFill>
                  <a:schemeClr val="dk1"/>
                </a:solidFill>
                <a:latin typeface="Arial"/>
                <a:ea typeface="Arial"/>
                <a:cs typeface="Arial"/>
                <a:sym typeface="Arial"/>
              </a:rPr>
              <a:t>decentralized routing algorithm</a:t>
            </a:r>
            <a:r>
              <a:rPr lang="en-US" sz="2600">
                <a:solidFill>
                  <a:schemeClr val="dk1"/>
                </a:solidFill>
                <a:latin typeface="Arial"/>
                <a:ea typeface="Arial"/>
                <a:cs typeface="Arial"/>
                <a:sym typeface="Arial"/>
              </a:rPr>
              <a:t>, the calculation of the least-cost path  is carried out in an iterative, distributed manner.</a:t>
            </a:r>
            <a:endParaRPr sz="2600">
              <a:solidFill>
                <a:schemeClr val="dk1"/>
              </a:solidFill>
              <a:latin typeface="Arial"/>
              <a:ea typeface="Arial"/>
              <a:cs typeface="Arial"/>
              <a:sym typeface="Arial"/>
            </a:endParaRPr>
          </a:p>
          <a:p>
            <a:pPr indent="-228600" lvl="0" marL="241300" marR="0" rtl="0" algn="l">
              <a:lnSpc>
                <a:spcPct val="100000"/>
              </a:lnSpc>
              <a:spcBef>
                <a:spcPts val="390"/>
              </a:spcBef>
              <a:spcAft>
                <a:spcPts val="0"/>
              </a:spcAft>
              <a:buClr>
                <a:schemeClr val="dk1"/>
              </a:buClr>
              <a:buSzPts val="2600"/>
              <a:buFont typeface="Arial"/>
              <a:buChar char="•"/>
            </a:pPr>
            <a:r>
              <a:rPr lang="en-US" sz="2600">
                <a:solidFill>
                  <a:schemeClr val="dk1"/>
                </a:solidFill>
                <a:latin typeface="Arial"/>
                <a:ea typeface="Arial"/>
                <a:cs typeface="Arial"/>
                <a:sym typeface="Arial"/>
              </a:rPr>
              <a:t>No node has complete information about the costs of all network links.</a:t>
            </a:r>
            <a:endParaRPr sz="2600">
              <a:solidFill>
                <a:schemeClr val="dk1"/>
              </a:solidFill>
              <a:latin typeface="Arial"/>
              <a:ea typeface="Arial"/>
              <a:cs typeface="Arial"/>
              <a:sym typeface="Arial"/>
            </a:endParaRPr>
          </a:p>
          <a:p>
            <a:pPr indent="-228600" lvl="0" marL="241300" marR="130175" rtl="0" algn="l">
              <a:lnSpc>
                <a:spcPct val="80000"/>
              </a:lnSpc>
              <a:spcBef>
                <a:spcPts val="1010"/>
              </a:spcBef>
              <a:spcAft>
                <a:spcPts val="0"/>
              </a:spcAft>
              <a:buClr>
                <a:schemeClr val="dk1"/>
              </a:buClr>
              <a:buSzPts val="2600"/>
              <a:buFont typeface="Arial"/>
              <a:buChar char="•"/>
            </a:pPr>
            <a:r>
              <a:rPr lang="en-US" sz="2600">
                <a:solidFill>
                  <a:schemeClr val="dk1"/>
                </a:solidFill>
                <a:latin typeface="Arial"/>
                <a:ea typeface="Arial"/>
                <a:cs typeface="Arial"/>
                <a:sym typeface="Arial"/>
              </a:rPr>
              <a:t>Instead, each node begins with only the knowledge of the costs of its own  directly attached links.</a:t>
            </a:r>
            <a:endParaRPr sz="2600">
              <a:solidFill>
                <a:schemeClr val="dk1"/>
              </a:solidFill>
              <a:latin typeface="Arial"/>
              <a:ea typeface="Arial"/>
              <a:cs typeface="Arial"/>
              <a:sym typeface="Arial"/>
            </a:endParaRPr>
          </a:p>
          <a:p>
            <a:pPr indent="-228600" lvl="0" marL="241300" marR="5080" rtl="0" algn="l">
              <a:lnSpc>
                <a:spcPct val="96153"/>
              </a:lnSpc>
              <a:spcBef>
                <a:spcPts val="975"/>
              </a:spcBef>
              <a:spcAft>
                <a:spcPts val="0"/>
              </a:spcAft>
              <a:buClr>
                <a:schemeClr val="dk1"/>
              </a:buClr>
              <a:buSzPts val="2600"/>
              <a:buFont typeface="Arial"/>
              <a:buChar char="•"/>
            </a:pPr>
            <a:r>
              <a:rPr lang="en-US" sz="2600">
                <a:solidFill>
                  <a:schemeClr val="dk1"/>
                </a:solidFill>
                <a:latin typeface="Arial"/>
                <a:ea typeface="Arial"/>
                <a:cs typeface="Arial"/>
                <a:sym typeface="Arial"/>
              </a:rPr>
              <a:t>Then, through an iterative process of calculation and exchange of  information with its neighboring nodes (that is, nodes that are at the other  end of links to which it itself is attached), a node gradually calculates the  least-cost path to a destination or set of destinations.</a:t>
            </a:r>
            <a:endParaRPr sz="2600">
              <a:solidFill>
                <a:schemeClr val="dk1"/>
              </a:solidFill>
              <a:latin typeface="Arial"/>
              <a:ea typeface="Arial"/>
              <a:cs typeface="Arial"/>
              <a:sym typeface="Arial"/>
            </a:endParaRPr>
          </a:p>
          <a:p>
            <a:pPr indent="-228600" lvl="0" marL="241300" marR="98425" rtl="0" algn="l">
              <a:lnSpc>
                <a:spcPct val="96153"/>
              </a:lnSpc>
              <a:spcBef>
                <a:spcPts val="980"/>
              </a:spcBef>
              <a:spcAft>
                <a:spcPts val="0"/>
              </a:spcAft>
              <a:buClr>
                <a:schemeClr val="dk1"/>
              </a:buClr>
              <a:buSzPts val="2600"/>
              <a:buFont typeface="Arial"/>
              <a:buChar char="•"/>
            </a:pPr>
            <a:r>
              <a:rPr lang="en-US" sz="2600">
                <a:solidFill>
                  <a:schemeClr val="dk1"/>
                </a:solidFill>
                <a:latin typeface="Arial"/>
                <a:ea typeface="Arial"/>
                <a:cs typeface="Arial"/>
                <a:sym typeface="Arial"/>
              </a:rPr>
              <a:t>The decentralized routing algorithm is called a </a:t>
            </a:r>
            <a:r>
              <a:rPr lang="en-US" sz="2600">
                <a:solidFill>
                  <a:srgbClr val="2D75B6"/>
                </a:solidFill>
                <a:latin typeface="Arial"/>
                <a:ea typeface="Arial"/>
                <a:cs typeface="Arial"/>
                <a:sym typeface="Arial"/>
              </a:rPr>
              <a:t>distance-vector </a:t>
            </a:r>
            <a:r>
              <a:rPr lang="en-US" sz="2600">
                <a:solidFill>
                  <a:schemeClr val="dk1"/>
                </a:solidFill>
                <a:latin typeface="Arial"/>
                <a:ea typeface="Arial"/>
                <a:cs typeface="Arial"/>
                <a:sym typeface="Arial"/>
              </a:rPr>
              <a:t>(DV)  algorithm, because each node maintains a vector of estimates of the costs  (distances) to all other nodes in the network.</a:t>
            </a:r>
            <a:endParaRPr sz="2600">
              <a:solidFill>
                <a:schemeClr val="dk1"/>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05"/>
          <p:cNvSpPr txBox="1"/>
          <p:nvPr/>
        </p:nvSpPr>
        <p:spPr>
          <a:xfrm>
            <a:off x="916939" y="568579"/>
            <a:ext cx="10229215" cy="4290060"/>
          </a:xfrm>
          <a:prstGeom prst="rect">
            <a:avLst/>
          </a:prstGeom>
          <a:noFill/>
          <a:ln>
            <a:noFill/>
          </a:ln>
        </p:spPr>
        <p:txBody>
          <a:bodyPr anchorCtr="0" anchor="t" bIns="0" lIns="0" spcFirstLastPara="1" rIns="0" wrap="square" tIns="54600">
            <a:spAutoFit/>
          </a:bodyPr>
          <a:lstStyle/>
          <a:p>
            <a:pPr indent="-228600" lvl="0" marL="241300" marR="570230" rtl="0" algn="l">
              <a:lnSpc>
                <a:spcPct val="9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a:t>
            </a:r>
            <a:r>
              <a:rPr b="1" lang="en-US" sz="2800">
                <a:solidFill>
                  <a:schemeClr val="dk1"/>
                </a:solidFill>
                <a:latin typeface="Arial"/>
                <a:ea typeface="Arial"/>
                <a:cs typeface="Arial"/>
                <a:sym typeface="Arial"/>
              </a:rPr>
              <a:t>static routing algorithms</a:t>
            </a:r>
            <a:r>
              <a:rPr lang="en-US" sz="2800">
                <a:solidFill>
                  <a:schemeClr val="dk1"/>
                </a:solidFill>
                <a:latin typeface="Arial"/>
                <a:ea typeface="Arial"/>
                <a:cs typeface="Arial"/>
                <a:sym typeface="Arial"/>
              </a:rPr>
              <a:t>, routes change very slowly over time,  often as a result of human intervention (for example, a human  manually editing a router’s forwarding table).</a:t>
            </a:r>
            <a:endParaRPr sz="2800">
              <a:solidFill>
                <a:schemeClr val="dk1"/>
              </a:solidFill>
              <a:latin typeface="Arial"/>
              <a:ea typeface="Arial"/>
              <a:cs typeface="Arial"/>
              <a:sym typeface="Arial"/>
            </a:endParaRPr>
          </a:p>
          <a:p>
            <a:pPr indent="-228600" lvl="0" marL="241300" marR="1159510" rtl="0" algn="l">
              <a:lnSpc>
                <a:spcPct val="107857"/>
              </a:lnSpc>
              <a:spcBef>
                <a:spcPts val="105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b="1" lang="en-US" sz="2800">
                <a:solidFill>
                  <a:schemeClr val="dk1"/>
                </a:solidFill>
                <a:latin typeface="Arial"/>
                <a:ea typeface="Arial"/>
                <a:cs typeface="Arial"/>
                <a:sym typeface="Arial"/>
              </a:rPr>
              <a:t>Dynamic routing algorithms </a:t>
            </a:r>
            <a:r>
              <a:rPr lang="en-US" sz="2800">
                <a:solidFill>
                  <a:schemeClr val="dk1"/>
                </a:solidFill>
                <a:latin typeface="Arial"/>
                <a:ea typeface="Arial"/>
                <a:cs typeface="Arial"/>
                <a:sym typeface="Arial"/>
              </a:rPr>
              <a:t>change the routing paths as the  network traffic loads or topology change.</a:t>
            </a:r>
            <a:endParaRPr sz="2800">
              <a:solidFill>
                <a:schemeClr val="dk1"/>
              </a:solidFill>
              <a:latin typeface="Arial"/>
              <a:ea typeface="Arial"/>
              <a:cs typeface="Arial"/>
              <a:sym typeface="Arial"/>
            </a:endParaRPr>
          </a:p>
          <a:p>
            <a:pPr indent="-228600" lvl="0" marL="241300" marR="960119" rtl="0" algn="l">
              <a:lnSpc>
                <a:spcPct val="108214"/>
              </a:lnSpc>
              <a:spcBef>
                <a:spcPts val="994"/>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A dynamic algorithm can be run either periodically or in direct  response to topology or link cost changes.</a:t>
            </a:r>
            <a:endParaRPr sz="2800">
              <a:solidFill>
                <a:schemeClr val="dk1"/>
              </a:solidFill>
              <a:latin typeface="Arial"/>
              <a:ea typeface="Arial"/>
              <a:cs typeface="Arial"/>
              <a:sym typeface="Arial"/>
            </a:endParaRPr>
          </a:p>
          <a:p>
            <a:pPr indent="-228600" lvl="0" marL="241300" marR="5080" rtl="0" algn="l">
              <a:lnSpc>
                <a:spcPct val="90000"/>
              </a:lnSpc>
              <a:spcBef>
                <a:spcPts val="950"/>
              </a:spcBef>
              <a:spcAft>
                <a:spcPts val="0"/>
              </a:spcAft>
              <a:buClr>
                <a:schemeClr val="dk1"/>
              </a:buClr>
              <a:buSzPts val="2800"/>
              <a:buFont typeface="Arial"/>
              <a:buChar char="•"/>
            </a:pPr>
            <a:r>
              <a:rPr lang="en-US" sz="2800">
                <a:solidFill>
                  <a:schemeClr val="dk1"/>
                </a:solidFill>
                <a:latin typeface="Arial"/>
                <a:ea typeface="Arial"/>
                <a:cs typeface="Arial"/>
                <a:sym typeface="Arial"/>
              </a:rPr>
              <a:t>While dynamic algorithms are more responsive to network changes,  they are also more susceptible to problems such as routing loops and  oscillation in routes.</a:t>
            </a:r>
            <a:endParaRPr sz="2800">
              <a:solidFill>
                <a:schemeClr val="dk1"/>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06"/>
          <p:cNvSpPr txBox="1"/>
          <p:nvPr/>
        </p:nvSpPr>
        <p:spPr>
          <a:xfrm>
            <a:off x="916939" y="660018"/>
            <a:ext cx="10281920" cy="3395345"/>
          </a:xfrm>
          <a:prstGeom prst="rect">
            <a:avLst/>
          </a:prstGeom>
          <a:noFill/>
          <a:ln>
            <a:noFill/>
          </a:ln>
        </p:spPr>
        <p:txBody>
          <a:bodyPr anchorCtr="0" anchor="t" bIns="0" lIns="0" spcFirstLastPara="1" rIns="0" wrap="square" tIns="60950">
            <a:spAutoFit/>
          </a:bodyPr>
          <a:lstStyle/>
          <a:p>
            <a:pPr indent="-228600" lvl="0" marL="241300" marR="490219"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a </a:t>
            </a:r>
            <a:r>
              <a:rPr b="1" lang="en-US" sz="2800">
                <a:solidFill>
                  <a:schemeClr val="dk1"/>
                </a:solidFill>
                <a:latin typeface="Arial"/>
                <a:ea typeface="Arial"/>
                <a:cs typeface="Arial"/>
                <a:sym typeface="Arial"/>
              </a:rPr>
              <a:t>load-sensitive algorithm</a:t>
            </a:r>
            <a:r>
              <a:rPr lang="en-US" sz="2800">
                <a:solidFill>
                  <a:schemeClr val="dk1"/>
                </a:solidFill>
                <a:latin typeface="Arial"/>
                <a:ea typeface="Arial"/>
                <a:cs typeface="Arial"/>
                <a:sym typeface="Arial"/>
              </a:rPr>
              <a:t>, link costs vary dynamically to reflect  the current level of congestion in the underlying link.</a:t>
            </a:r>
            <a:endParaRPr sz="2800">
              <a:solidFill>
                <a:schemeClr val="dk1"/>
              </a:solidFill>
              <a:latin typeface="Arial"/>
              <a:ea typeface="Arial"/>
              <a:cs typeface="Arial"/>
              <a:sym typeface="Arial"/>
            </a:endParaRPr>
          </a:p>
          <a:p>
            <a:pPr indent="-228600" lvl="0" marL="241300" marR="5080" rtl="0" algn="l">
              <a:lnSpc>
                <a:spcPct val="107857"/>
              </a:lnSpc>
              <a:spcBef>
                <a:spcPts val="1015"/>
              </a:spcBef>
              <a:spcAft>
                <a:spcPts val="0"/>
              </a:spcAft>
              <a:buClr>
                <a:schemeClr val="dk1"/>
              </a:buClr>
              <a:buSzPts val="2800"/>
              <a:buFont typeface="Arial"/>
              <a:buChar char="•"/>
            </a:pPr>
            <a:r>
              <a:rPr lang="en-US" sz="2800">
                <a:solidFill>
                  <a:schemeClr val="dk1"/>
                </a:solidFill>
                <a:latin typeface="Arial"/>
                <a:ea typeface="Arial"/>
                <a:cs typeface="Arial"/>
                <a:sym typeface="Arial"/>
              </a:rPr>
              <a:t>If a high cost is associated with a link that is currently congested, a  routing algorithm will tend to choose routes around such a congested  link.</a:t>
            </a:r>
            <a:endParaRPr sz="2800">
              <a:solidFill>
                <a:schemeClr val="dk1"/>
              </a:solidFill>
              <a:latin typeface="Arial"/>
              <a:ea typeface="Arial"/>
              <a:cs typeface="Arial"/>
              <a:sym typeface="Arial"/>
            </a:endParaRPr>
          </a:p>
          <a:p>
            <a:pPr indent="-228600" lvl="0" marL="241300" marR="247015" rtl="0" algn="just">
              <a:lnSpc>
                <a:spcPct val="107857"/>
              </a:lnSpc>
              <a:spcBef>
                <a:spcPts val="1015"/>
              </a:spcBef>
              <a:spcAft>
                <a:spcPts val="0"/>
              </a:spcAft>
              <a:buClr>
                <a:schemeClr val="dk1"/>
              </a:buClr>
              <a:buSzPts val="2800"/>
              <a:buFont typeface="Arial"/>
              <a:buChar char="•"/>
            </a:pPr>
            <a:r>
              <a:rPr lang="en-US" sz="2800">
                <a:solidFill>
                  <a:schemeClr val="dk1"/>
                </a:solidFill>
                <a:latin typeface="Arial"/>
                <a:ea typeface="Arial"/>
                <a:cs typeface="Arial"/>
                <a:sym typeface="Arial"/>
              </a:rPr>
              <a:t>Today’s Internet routing algorithms (such as RIP, OSPF, and BGP) are  </a:t>
            </a:r>
            <a:r>
              <a:rPr b="1" lang="en-US" sz="2800">
                <a:solidFill>
                  <a:schemeClr val="dk1"/>
                </a:solidFill>
                <a:latin typeface="Arial"/>
                <a:ea typeface="Arial"/>
                <a:cs typeface="Arial"/>
                <a:sym typeface="Arial"/>
              </a:rPr>
              <a:t>load-insensitive</a:t>
            </a:r>
            <a:r>
              <a:rPr lang="en-US" sz="2800">
                <a:solidFill>
                  <a:schemeClr val="dk1"/>
                </a:solidFill>
                <a:latin typeface="Arial"/>
                <a:ea typeface="Arial"/>
                <a:cs typeface="Arial"/>
                <a:sym typeface="Arial"/>
              </a:rPr>
              <a:t>, as a link’s cost does not explicitly reflect its current  (or recent past) level of congestion.</a:t>
            </a:r>
            <a:endParaRPr sz="2800">
              <a:solidFill>
                <a:schemeClr val="dk1"/>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07"/>
          <p:cNvSpPr txBox="1"/>
          <p:nvPr>
            <p:ph type="title"/>
          </p:nvPr>
        </p:nvSpPr>
        <p:spPr>
          <a:xfrm>
            <a:off x="916939" y="502665"/>
            <a:ext cx="9673590"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Distance-Vector (DV) Routing Algorithm</a:t>
            </a:r>
            <a:endParaRPr/>
          </a:p>
        </p:txBody>
      </p:sp>
      <p:sp>
        <p:nvSpPr>
          <p:cNvPr id="1109" name="Google Shape;1109;p107"/>
          <p:cNvSpPr txBox="1"/>
          <p:nvPr/>
        </p:nvSpPr>
        <p:spPr>
          <a:xfrm>
            <a:off x="916939" y="1793493"/>
            <a:ext cx="10321925" cy="3905885"/>
          </a:xfrm>
          <a:prstGeom prst="rect">
            <a:avLst/>
          </a:prstGeom>
          <a:noFill/>
          <a:ln>
            <a:noFill/>
          </a:ln>
        </p:spPr>
        <p:txBody>
          <a:bodyPr anchorCtr="0" anchor="t" bIns="0" lIns="0" spcFirstLastPara="1" rIns="0" wrap="square" tIns="60950">
            <a:spAutoFit/>
          </a:bodyPr>
          <a:lstStyle/>
          <a:p>
            <a:pPr indent="-228600" lvl="0" marL="241300" marR="640080" rtl="0" algn="just">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a:t>
            </a:r>
            <a:r>
              <a:rPr b="1" lang="en-US" sz="2800">
                <a:solidFill>
                  <a:schemeClr val="dk1"/>
                </a:solidFill>
                <a:latin typeface="Arial"/>
                <a:ea typeface="Arial"/>
                <a:cs typeface="Arial"/>
                <a:sym typeface="Arial"/>
              </a:rPr>
              <a:t>distancevector </a:t>
            </a:r>
            <a:r>
              <a:rPr lang="en-US" sz="2800">
                <a:solidFill>
                  <a:schemeClr val="dk1"/>
                </a:solidFill>
                <a:latin typeface="Arial"/>
                <a:ea typeface="Arial"/>
                <a:cs typeface="Arial"/>
                <a:sym typeface="Arial"/>
              </a:rPr>
              <a:t>(</a:t>
            </a:r>
            <a:r>
              <a:rPr b="1" lang="en-US" sz="2800">
                <a:solidFill>
                  <a:schemeClr val="dk1"/>
                </a:solidFill>
                <a:latin typeface="Arial"/>
                <a:ea typeface="Arial"/>
                <a:cs typeface="Arial"/>
                <a:sym typeface="Arial"/>
              </a:rPr>
              <a:t>DV</a:t>
            </a:r>
            <a:r>
              <a:rPr lang="en-US" sz="2800">
                <a:solidFill>
                  <a:schemeClr val="dk1"/>
                </a:solidFill>
                <a:latin typeface="Arial"/>
                <a:ea typeface="Arial"/>
                <a:cs typeface="Arial"/>
                <a:sym typeface="Arial"/>
              </a:rPr>
              <a:t>) algorithm is </a:t>
            </a:r>
            <a:r>
              <a:rPr lang="en-US" sz="2800">
                <a:solidFill>
                  <a:srgbClr val="5B9BD4"/>
                </a:solidFill>
                <a:latin typeface="Arial"/>
                <a:ea typeface="Arial"/>
                <a:cs typeface="Arial"/>
                <a:sym typeface="Arial"/>
              </a:rPr>
              <a:t>iterative, asynchronous, and  distributed.</a:t>
            </a:r>
            <a:endParaRPr sz="2800">
              <a:solidFill>
                <a:schemeClr val="dk1"/>
              </a:solidFill>
              <a:latin typeface="Arial"/>
              <a:ea typeface="Arial"/>
              <a:cs typeface="Arial"/>
              <a:sym typeface="Arial"/>
            </a:endParaRPr>
          </a:p>
          <a:p>
            <a:pPr indent="-228600" lvl="0" marL="241300" marR="5080" rtl="0" algn="just">
              <a:lnSpc>
                <a:spcPct val="107857"/>
              </a:lnSpc>
              <a:spcBef>
                <a:spcPts val="1015"/>
              </a:spcBef>
              <a:spcAft>
                <a:spcPts val="0"/>
              </a:spcAft>
              <a:buClr>
                <a:schemeClr val="dk1"/>
              </a:buClr>
              <a:buSzPts val="2800"/>
              <a:buFont typeface="Arial"/>
              <a:buChar char="•"/>
            </a:pPr>
            <a:r>
              <a:rPr lang="en-US" sz="2800">
                <a:solidFill>
                  <a:schemeClr val="dk1"/>
                </a:solidFill>
                <a:latin typeface="Arial"/>
                <a:ea typeface="Arial"/>
                <a:cs typeface="Arial"/>
                <a:sym typeface="Arial"/>
              </a:rPr>
              <a:t>It is </a:t>
            </a:r>
            <a:r>
              <a:rPr i="1" lang="en-US" sz="2800">
                <a:solidFill>
                  <a:schemeClr val="dk1"/>
                </a:solidFill>
                <a:latin typeface="Arial"/>
                <a:ea typeface="Arial"/>
                <a:cs typeface="Arial"/>
                <a:sym typeface="Arial"/>
              </a:rPr>
              <a:t>distributed </a:t>
            </a:r>
            <a:r>
              <a:rPr lang="en-US" sz="2800">
                <a:solidFill>
                  <a:schemeClr val="dk1"/>
                </a:solidFill>
                <a:latin typeface="Arial"/>
                <a:ea typeface="Arial"/>
                <a:cs typeface="Arial"/>
                <a:sym typeface="Arial"/>
              </a:rPr>
              <a:t>in that each node receives some information from one  or more of its </a:t>
            </a:r>
            <a:r>
              <a:rPr i="1" lang="en-US" sz="2800">
                <a:solidFill>
                  <a:schemeClr val="dk1"/>
                </a:solidFill>
                <a:latin typeface="Arial"/>
                <a:ea typeface="Arial"/>
                <a:cs typeface="Arial"/>
                <a:sym typeface="Arial"/>
              </a:rPr>
              <a:t>directly attached </a:t>
            </a:r>
            <a:r>
              <a:rPr lang="en-US" sz="2800">
                <a:solidFill>
                  <a:schemeClr val="dk1"/>
                </a:solidFill>
                <a:latin typeface="Arial"/>
                <a:ea typeface="Arial"/>
                <a:cs typeface="Arial"/>
                <a:sym typeface="Arial"/>
              </a:rPr>
              <a:t>neighbors, performs a calculation, and  then distributes the results of its calculation back to its neighbors.</a:t>
            </a:r>
            <a:endParaRPr sz="2800">
              <a:solidFill>
                <a:schemeClr val="dk1"/>
              </a:solidFill>
              <a:latin typeface="Arial"/>
              <a:ea typeface="Arial"/>
              <a:cs typeface="Arial"/>
              <a:sym typeface="Arial"/>
            </a:endParaRPr>
          </a:p>
          <a:p>
            <a:pPr indent="-228600" lvl="0" marL="241300" marR="1489075" rtl="0" algn="l">
              <a:lnSpc>
                <a:spcPct val="108214"/>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It is </a:t>
            </a:r>
            <a:r>
              <a:rPr i="1" lang="en-US" sz="2800">
                <a:solidFill>
                  <a:schemeClr val="dk1"/>
                </a:solidFill>
                <a:latin typeface="Arial"/>
                <a:ea typeface="Arial"/>
                <a:cs typeface="Arial"/>
                <a:sym typeface="Arial"/>
              </a:rPr>
              <a:t>iterative </a:t>
            </a:r>
            <a:r>
              <a:rPr lang="en-US" sz="2800">
                <a:solidFill>
                  <a:schemeClr val="dk1"/>
                </a:solidFill>
                <a:latin typeface="Arial"/>
                <a:ea typeface="Arial"/>
                <a:cs typeface="Arial"/>
                <a:sym typeface="Arial"/>
              </a:rPr>
              <a:t>in that this process continues on until no more  information is exchanged between neighbors.</a:t>
            </a:r>
            <a:endParaRPr sz="2800">
              <a:solidFill>
                <a:schemeClr val="dk1"/>
              </a:solidFill>
              <a:latin typeface="Arial"/>
              <a:ea typeface="Arial"/>
              <a:cs typeface="Arial"/>
              <a:sym typeface="Arial"/>
            </a:endParaRPr>
          </a:p>
          <a:p>
            <a:pPr indent="-228600" lvl="0" marL="241300" marR="568960" rtl="0" algn="l">
              <a:lnSpc>
                <a:spcPct val="107857"/>
              </a:lnSpc>
              <a:spcBef>
                <a:spcPts val="990"/>
              </a:spcBef>
              <a:spcAft>
                <a:spcPts val="0"/>
              </a:spcAft>
              <a:buClr>
                <a:schemeClr val="dk1"/>
              </a:buClr>
              <a:buSzPts val="2800"/>
              <a:buFont typeface="Arial"/>
              <a:buChar char="•"/>
            </a:pPr>
            <a:r>
              <a:rPr lang="en-US" sz="2800">
                <a:solidFill>
                  <a:schemeClr val="dk1"/>
                </a:solidFill>
                <a:latin typeface="Arial"/>
                <a:ea typeface="Arial"/>
                <a:cs typeface="Arial"/>
                <a:sym typeface="Arial"/>
              </a:rPr>
              <a:t>The algorithm is </a:t>
            </a:r>
            <a:r>
              <a:rPr i="1" lang="en-US" sz="2800">
                <a:solidFill>
                  <a:schemeClr val="dk1"/>
                </a:solidFill>
                <a:latin typeface="Arial"/>
                <a:ea typeface="Arial"/>
                <a:cs typeface="Arial"/>
                <a:sym typeface="Arial"/>
              </a:rPr>
              <a:t>asynchronous </a:t>
            </a:r>
            <a:r>
              <a:rPr lang="en-US" sz="2800">
                <a:solidFill>
                  <a:schemeClr val="dk1"/>
                </a:solidFill>
                <a:latin typeface="Arial"/>
                <a:ea typeface="Arial"/>
                <a:cs typeface="Arial"/>
                <a:sym typeface="Arial"/>
              </a:rPr>
              <a:t>in that it does not require all of the  nodes to operate.</a:t>
            </a:r>
            <a:endParaRPr sz="2800">
              <a:solidFill>
                <a:schemeClr val="dk1"/>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08"/>
          <p:cNvSpPr/>
          <p:nvPr/>
        </p:nvSpPr>
        <p:spPr>
          <a:xfrm>
            <a:off x="679703" y="260509"/>
            <a:ext cx="10307555" cy="642375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09"/>
          <p:cNvSpPr txBox="1"/>
          <p:nvPr/>
        </p:nvSpPr>
        <p:spPr>
          <a:xfrm>
            <a:off x="916939" y="528904"/>
            <a:ext cx="10064750" cy="5058410"/>
          </a:xfrm>
          <a:prstGeom prst="rect">
            <a:avLst/>
          </a:prstGeom>
          <a:noFill/>
          <a:ln>
            <a:noFill/>
          </a:ln>
        </p:spPr>
        <p:txBody>
          <a:bodyPr anchorCtr="0" anchor="t" bIns="0" lIns="0" spcFirstLastPara="1" rIns="0" wrap="square" tIns="55225">
            <a:spAutoFit/>
          </a:bodyPr>
          <a:lstStyle/>
          <a:p>
            <a:pPr indent="-228600" lvl="0" marL="241300" marR="27305" rtl="0" algn="l">
              <a:lnSpc>
                <a:spcPct val="9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the DV algorithm, a node </a:t>
            </a:r>
            <a:r>
              <a:rPr i="1" lang="en-US" sz="2800">
                <a:solidFill>
                  <a:schemeClr val="dk1"/>
                </a:solidFill>
                <a:latin typeface="Arial"/>
                <a:ea typeface="Arial"/>
                <a:cs typeface="Arial"/>
                <a:sym typeface="Arial"/>
              </a:rPr>
              <a:t>x </a:t>
            </a:r>
            <a:r>
              <a:rPr lang="en-US" sz="2800">
                <a:solidFill>
                  <a:schemeClr val="dk1"/>
                </a:solidFill>
                <a:latin typeface="Arial"/>
                <a:ea typeface="Arial"/>
                <a:cs typeface="Arial"/>
                <a:sym typeface="Arial"/>
              </a:rPr>
              <a:t>updates its distance-vector estimate  when it either sees </a:t>
            </a:r>
            <a:r>
              <a:rPr lang="en-US" sz="2800">
                <a:solidFill>
                  <a:srgbClr val="5B9BD4"/>
                </a:solidFill>
                <a:latin typeface="Arial"/>
                <a:ea typeface="Arial"/>
                <a:cs typeface="Arial"/>
                <a:sym typeface="Arial"/>
              </a:rPr>
              <a:t>a cost change </a:t>
            </a:r>
            <a:r>
              <a:rPr lang="en-US" sz="2800">
                <a:solidFill>
                  <a:schemeClr val="dk1"/>
                </a:solidFill>
                <a:latin typeface="Arial"/>
                <a:ea typeface="Arial"/>
                <a:cs typeface="Arial"/>
                <a:sym typeface="Arial"/>
              </a:rPr>
              <a:t>in one of its directly attached links  or </a:t>
            </a:r>
            <a:r>
              <a:rPr lang="en-US" sz="2800">
                <a:solidFill>
                  <a:srgbClr val="5B9BD4"/>
                </a:solidFill>
                <a:latin typeface="Arial"/>
                <a:ea typeface="Arial"/>
                <a:cs typeface="Arial"/>
                <a:sym typeface="Arial"/>
              </a:rPr>
              <a:t>receives a distancevector </a:t>
            </a:r>
            <a:r>
              <a:rPr lang="en-US" sz="2800">
                <a:solidFill>
                  <a:schemeClr val="dk1"/>
                </a:solidFill>
                <a:latin typeface="Arial"/>
                <a:ea typeface="Arial"/>
                <a:cs typeface="Arial"/>
                <a:sym typeface="Arial"/>
              </a:rPr>
              <a:t>update from some neighbor.</a:t>
            </a:r>
            <a:endParaRPr sz="2800">
              <a:solidFill>
                <a:schemeClr val="dk1"/>
              </a:solidFill>
              <a:latin typeface="Arial"/>
              <a:ea typeface="Arial"/>
              <a:cs typeface="Arial"/>
              <a:sym typeface="Arial"/>
            </a:endParaRPr>
          </a:p>
          <a:p>
            <a:pPr indent="-228600" lvl="0" marL="241300" marR="275590" rtl="0" algn="just">
              <a:lnSpc>
                <a:spcPct val="90000"/>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the only information a node will have is the costs of the links to its  directly attached neighbors and information it receives from these  neighbors.</a:t>
            </a:r>
            <a:endParaRPr sz="2800">
              <a:solidFill>
                <a:schemeClr val="dk1"/>
              </a:solidFill>
              <a:latin typeface="Arial"/>
              <a:ea typeface="Arial"/>
              <a:cs typeface="Arial"/>
              <a:sym typeface="Arial"/>
            </a:endParaRPr>
          </a:p>
          <a:p>
            <a:pPr indent="-228600" lvl="0" marL="241300" marR="5080" rtl="0" algn="l">
              <a:lnSpc>
                <a:spcPct val="90000"/>
              </a:lnSpc>
              <a:spcBef>
                <a:spcPts val="994"/>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Each node waits for an update from any neighbor calculates its new  distance vector when receiving an update and distributes its new  distance vector to its neighbors .</a:t>
            </a:r>
            <a:endParaRPr sz="2800">
              <a:solidFill>
                <a:schemeClr val="dk1"/>
              </a:solidFill>
              <a:latin typeface="Arial"/>
              <a:ea typeface="Arial"/>
              <a:cs typeface="Arial"/>
              <a:sym typeface="Arial"/>
            </a:endParaRPr>
          </a:p>
          <a:p>
            <a:pPr indent="-228600" lvl="0" marL="241300" marR="390525" rtl="0" algn="just">
              <a:lnSpc>
                <a:spcPct val="107857"/>
              </a:lnSpc>
              <a:spcBef>
                <a:spcPts val="1045"/>
              </a:spcBef>
              <a:spcAft>
                <a:spcPts val="0"/>
              </a:spcAft>
              <a:buClr>
                <a:schemeClr val="dk1"/>
              </a:buClr>
              <a:buSzPts val="2800"/>
              <a:buFont typeface="Arial"/>
              <a:buChar char="•"/>
            </a:pPr>
            <a:r>
              <a:rPr lang="en-US" sz="2800">
                <a:solidFill>
                  <a:schemeClr val="dk1"/>
                </a:solidFill>
                <a:latin typeface="Arial"/>
                <a:ea typeface="Arial"/>
                <a:cs typeface="Arial"/>
                <a:sym typeface="Arial"/>
              </a:rPr>
              <a:t>DV-like algorithms are used in many routing protocols in practice,  including the Internet’s RIP and BGP, ISO IDRP, Novell IPX</a:t>
            </a:r>
            <a:r>
              <a:rPr i="1" lang="en-US" sz="2800">
                <a:solidFill>
                  <a:schemeClr val="dk1"/>
                </a:solidFill>
                <a:latin typeface="Arial"/>
                <a:ea typeface="Arial"/>
                <a:cs typeface="Arial"/>
                <a:sym typeface="Arial"/>
              </a:rPr>
              <a:t>, </a:t>
            </a:r>
            <a:r>
              <a:rPr lang="en-US" sz="2800">
                <a:solidFill>
                  <a:schemeClr val="dk1"/>
                </a:solidFill>
                <a:latin typeface="Arial"/>
                <a:ea typeface="Arial"/>
                <a:cs typeface="Arial"/>
                <a:sym typeface="Arial"/>
              </a:rPr>
              <a:t>and the  original ARPAnet.</a:t>
            </a:r>
            <a:endParaRPr sz="2800">
              <a:solidFill>
                <a:schemeClr val="dk1"/>
              </a:solidFill>
              <a:latin typeface="Arial"/>
              <a:ea typeface="Arial"/>
              <a:cs typeface="Arial"/>
              <a:sym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10"/>
          <p:cNvSpPr/>
          <p:nvPr/>
        </p:nvSpPr>
        <p:spPr>
          <a:xfrm>
            <a:off x="2011679" y="38160"/>
            <a:ext cx="6801464" cy="661682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11"/>
          <p:cNvSpPr txBox="1"/>
          <p:nvPr>
            <p:ph type="title"/>
          </p:nvPr>
        </p:nvSpPr>
        <p:spPr>
          <a:xfrm>
            <a:off x="916939" y="609676"/>
            <a:ext cx="819658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Link-State (LS) Routing Algorithm</a:t>
            </a:r>
            <a:endParaRPr/>
          </a:p>
        </p:txBody>
      </p:sp>
      <p:sp>
        <p:nvSpPr>
          <p:cNvPr id="1130" name="Google Shape;1130;p111"/>
          <p:cNvSpPr txBox="1"/>
          <p:nvPr/>
        </p:nvSpPr>
        <p:spPr>
          <a:xfrm>
            <a:off x="916939" y="1793493"/>
            <a:ext cx="10022840" cy="3521710"/>
          </a:xfrm>
          <a:prstGeom prst="rect">
            <a:avLst/>
          </a:prstGeom>
          <a:noFill/>
          <a:ln>
            <a:noFill/>
          </a:ln>
        </p:spPr>
        <p:txBody>
          <a:bodyPr anchorCtr="0" anchor="t" bIns="0" lIns="0" spcFirstLastPara="1" rIns="0" wrap="square" tIns="60950">
            <a:spAutoFit/>
          </a:bodyPr>
          <a:lstStyle/>
          <a:p>
            <a:pPr indent="-228600" lvl="0" marL="241300" marR="76835" rtl="0" algn="just">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a link-state algorithm, the network topology and all link costs are  known, that is, available as input to the LS algorithm.</a:t>
            </a:r>
            <a:endParaRPr sz="2800">
              <a:solidFill>
                <a:schemeClr val="dk1"/>
              </a:solidFill>
              <a:latin typeface="Arial"/>
              <a:ea typeface="Arial"/>
              <a:cs typeface="Arial"/>
              <a:sym typeface="Arial"/>
            </a:endParaRPr>
          </a:p>
          <a:p>
            <a:pPr indent="-228600" lvl="0" marL="241300" marR="51435" rtl="0" algn="just">
              <a:lnSpc>
                <a:spcPct val="107857"/>
              </a:lnSpc>
              <a:spcBef>
                <a:spcPts val="1015"/>
              </a:spcBef>
              <a:spcAft>
                <a:spcPts val="0"/>
              </a:spcAft>
              <a:buClr>
                <a:schemeClr val="dk1"/>
              </a:buClr>
              <a:buSzPts val="2800"/>
              <a:buFont typeface="Arial"/>
              <a:buChar char="•"/>
            </a:pPr>
            <a:r>
              <a:rPr lang="en-US" sz="2800">
                <a:solidFill>
                  <a:schemeClr val="dk1"/>
                </a:solidFill>
                <a:latin typeface="Arial"/>
                <a:ea typeface="Arial"/>
                <a:cs typeface="Arial"/>
                <a:sym typeface="Arial"/>
              </a:rPr>
              <a:t>In practice this is accomplished by having each node broadcast link-  state packets to </a:t>
            </a:r>
            <a:r>
              <a:rPr i="1" lang="en-US" sz="2800">
                <a:solidFill>
                  <a:schemeClr val="dk1"/>
                </a:solidFill>
                <a:latin typeface="Arial"/>
                <a:ea typeface="Arial"/>
                <a:cs typeface="Arial"/>
                <a:sym typeface="Arial"/>
              </a:rPr>
              <a:t>all </a:t>
            </a:r>
            <a:r>
              <a:rPr lang="en-US" sz="2800">
                <a:solidFill>
                  <a:schemeClr val="dk1"/>
                </a:solidFill>
                <a:latin typeface="Arial"/>
                <a:ea typeface="Arial"/>
                <a:cs typeface="Arial"/>
                <a:sym typeface="Arial"/>
              </a:rPr>
              <a:t>other nodes in the network, with each link-state  packet containing the identities and costs of its attached links.</a:t>
            </a:r>
            <a:endParaRPr sz="2800">
              <a:solidFill>
                <a:schemeClr val="dk1"/>
              </a:solidFill>
              <a:latin typeface="Arial"/>
              <a:ea typeface="Arial"/>
              <a:cs typeface="Arial"/>
              <a:sym typeface="Arial"/>
            </a:endParaRPr>
          </a:p>
          <a:p>
            <a:pPr indent="-228600" lvl="0" marL="241300" marR="0" rtl="0" algn="just">
              <a:lnSpc>
                <a:spcPct val="100000"/>
              </a:lnSpc>
              <a:spcBef>
                <a:spcPts val="625"/>
              </a:spcBef>
              <a:spcAft>
                <a:spcPts val="0"/>
              </a:spcAft>
              <a:buClr>
                <a:schemeClr val="dk1"/>
              </a:buClr>
              <a:buSzPts val="2800"/>
              <a:buFont typeface="Arial"/>
              <a:buChar char="•"/>
            </a:pPr>
            <a:r>
              <a:rPr lang="en-US" sz="2800">
                <a:solidFill>
                  <a:schemeClr val="dk1"/>
                </a:solidFill>
                <a:latin typeface="Arial"/>
                <a:ea typeface="Arial"/>
                <a:cs typeface="Arial"/>
                <a:sym typeface="Arial"/>
              </a:rPr>
              <a:t>All nodes have an identical and complete view of the network.</a:t>
            </a:r>
            <a:endParaRPr sz="2800">
              <a:solidFill>
                <a:schemeClr val="dk1"/>
              </a:solidFill>
              <a:latin typeface="Arial"/>
              <a:ea typeface="Arial"/>
              <a:cs typeface="Arial"/>
              <a:sym typeface="Arial"/>
            </a:endParaRPr>
          </a:p>
          <a:p>
            <a:pPr indent="-228600" lvl="0" marL="241300" marR="5080" rtl="0" algn="just">
              <a:lnSpc>
                <a:spcPct val="107857"/>
              </a:lnSpc>
              <a:spcBef>
                <a:spcPts val="1050"/>
              </a:spcBef>
              <a:spcAft>
                <a:spcPts val="0"/>
              </a:spcAft>
              <a:buClr>
                <a:schemeClr val="dk1"/>
              </a:buClr>
              <a:buSzPts val="2800"/>
              <a:buFont typeface="Arial"/>
              <a:buChar char="•"/>
            </a:pPr>
            <a:r>
              <a:rPr lang="en-US" sz="2800">
                <a:solidFill>
                  <a:schemeClr val="dk1"/>
                </a:solidFill>
                <a:latin typeface="Arial"/>
                <a:ea typeface="Arial"/>
                <a:cs typeface="Arial"/>
                <a:sym typeface="Arial"/>
              </a:rPr>
              <a:t>Each node can then run the LS algorithm and compute the same set  of least-cost paths as every other node.</a:t>
            </a:r>
            <a:endParaRPr sz="2800">
              <a:solidFill>
                <a:schemeClr val="dk1"/>
              </a:solidFill>
              <a:latin typeface="Arial"/>
              <a:ea typeface="Arial"/>
              <a:cs typeface="Arial"/>
              <a:sym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12"/>
          <p:cNvSpPr txBox="1"/>
          <p:nvPr/>
        </p:nvSpPr>
        <p:spPr>
          <a:xfrm>
            <a:off x="916939" y="490219"/>
            <a:ext cx="10342245" cy="5055235"/>
          </a:xfrm>
          <a:prstGeom prst="rect">
            <a:avLst/>
          </a:prstGeom>
          <a:noFill/>
          <a:ln>
            <a:noFill/>
          </a:ln>
        </p:spPr>
        <p:txBody>
          <a:bodyPr anchorCtr="0" anchor="t" bIns="0" lIns="0" spcFirstLastPara="1" rIns="0" wrap="square" tIns="12050">
            <a:spAutoFit/>
          </a:bodyPr>
          <a:lstStyle/>
          <a:p>
            <a:pPr indent="-228600" lvl="0" marL="241300" marR="0" rtl="0" algn="l">
              <a:lnSpc>
                <a:spcPct val="113928"/>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link-state routing algorithm we present below is known as</a:t>
            </a:r>
            <a:endParaRPr sz="2800">
              <a:solidFill>
                <a:schemeClr val="dk1"/>
              </a:solidFill>
              <a:latin typeface="Arial"/>
              <a:ea typeface="Arial"/>
              <a:cs typeface="Arial"/>
              <a:sym typeface="Arial"/>
            </a:endParaRPr>
          </a:p>
          <a:p>
            <a:pPr indent="0" lvl="0" marL="241300" marR="0" rtl="0" algn="l">
              <a:lnSpc>
                <a:spcPct val="113928"/>
              </a:lnSpc>
              <a:spcBef>
                <a:spcPts val="0"/>
              </a:spcBef>
              <a:spcAft>
                <a:spcPts val="0"/>
              </a:spcAft>
              <a:buNone/>
            </a:pPr>
            <a:r>
              <a:rPr i="1" lang="en-US" sz="2800">
                <a:solidFill>
                  <a:schemeClr val="dk1"/>
                </a:solidFill>
                <a:latin typeface="Arial"/>
                <a:ea typeface="Arial"/>
                <a:cs typeface="Arial"/>
                <a:sym typeface="Arial"/>
              </a:rPr>
              <a:t>Dijkstra’s algorithm.</a:t>
            </a:r>
            <a:endParaRPr sz="2800">
              <a:solidFill>
                <a:schemeClr val="dk1"/>
              </a:solidFill>
              <a:latin typeface="Arial"/>
              <a:ea typeface="Arial"/>
              <a:cs typeface="Arial"/>
              <a:sym typeface="Arial"/>
            </a:endParaRPr>
          </a:p>
          <a:p>
            <a:pPr indent="-228600" lvl="0" marL="241300" marR="149860" rtl="0" algn="l">
              <a:lnSpc>
                <a:spcPct val="108214"/>
              </a:lnSpc>
              <a:spcBef>
                <a:spcPts val="1050"/>
              </a:spcBef>
              <a:spcAft>
                <a:spcPts val="0"/>
              </a:spcAft>
              <a:buClr>
                <a:schemeClr val="dk1"/>
              </a:buClr>
              <a:buSzPts val="2800"/>
              <a:buFont typeface="Arial"/>
              <a:buChar char="•"/>
            </a:pPr>
            <a:r>
              <a:rPr lang="en-US" sz="2800">
                <a:solidFill>
                  <a:schemeClr val="dk1"/>
                </a:solidFill>
                <a:latin typeface="Arial"/>
                <a:ea typeface="Arial"/>
                <a:cs typeface="Arial"/>
                <a:sym typeface="Arial"/>
              </a:rPr>
              <a:t>Dijkstra’s algorithm computes the least-cost path from one node (the  source, which we will refer to as </a:t>
            </a:r>
            <a:r>
              <a:rPr i="1" lang="en-US" sz="2800">
                <a:solidFill>
                  <a:schemeClr val="dk1"/>
                </a:solidFill>
                <a:latin typeface="Arial"/>
                <a:ea typeface="Arial"/>
                <a:cs typeface="Arial"/>
                <a:sym typeface="Arial"/>
              </a:rPr>
              <a:t>u</a:t>
            </a:r>
            <a:r>
              <a:rPr lang="en-US" sz="2800">
                <a:solidFill>
                  <a:schemeClr val="dk1"/>
                </a:solidFill>
                <a:latin typeface="Arial"/>
                <a:ea typeface="Arial"/>
                <a:cs typeface="Arial"/>
                <a:sym typeface="Arial"/>
              </a:rPr>
              <a:t>) to all other nodes in the network.</a:t>
            </a:r>
            <a:endParaRPr sz="2800">
              <a:solidFill>
                <a:schemeClr val="dk1"/>
              </a:solidFill>
              <a:latin typeface="Arial"/>
              <a:ea typeface="Arial"/>
              <a:cs typeface="Arial"/>
              <a:sym typeface="Arial"/>
            </a:endParaRPr>
          </a:p>
          <a:p>
            <a:pPr indent="-228600" lvl="0" marL="241300" marR="5080" rtl="0" algn="l">
              <a:lnSpc>
                <a:spcPct val="90000"/>
              </a:lnSpc>
              <a:spcBef>
                <a:spcPts val="94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Dijkstra’s algorithm is iterative and has the property that after the </a:t>
            </a:r>
            <a:r>
              <a:rPr i="1" lang="en-US" sz="2800">
                <a:solidFill>
                  <a:schemeClr val="dk1"/>
                </a:solidFill>
                <a:latin typeface="Arial"/>
                <a:ea typeface="Arial"/>
                <a:cs typeface="Arial"/>
                <a:sym typeface="Arial"/>
              </a:rPr>
              <a:t>k</a:t>
            </a:r>
            <a:r>
              <a:rPr lang="en-US" sz="2800">
                <a:solidFill>
                  <a:schemeClr val="dk1"/>
                </a:solidFill>
                <a:latin typeface="Arial"/>
                <a:ea typeface="Arial"/>
                <a:cs typeface="Arial"/>
                <a:sym typeface="Arial"/>
              </a:rPr>
              <a:t>th  iteration of the algorithm, the least-cost paths are known to </a:t>
            </a:r>
            <a:r>
              <a:rPr i="1" lang="en-US" sz="2800">
                <a:solidFill>
                  <a:schemeClr val="dk1"/>
                </a:solidFill>
                <a:latin typeface="Arial"/>
                <a:ea typeface="Arial"/>
                <a:cs typeface="Arial"/>
                <a:sym typeface="Arial"/>
              </a:rPr>
              <a:t>k  </a:t>
            </a:r>
            <a:r>
              <a:rPr lang="en-US" sz="2800">
                <a:solidFill>
                  <a:schemeClr val="dk1"/>
                </a:solidFill>
                <a:latin typeface="Arial"/>
                <a:ea typeface="Arial"/>
                <a:cs typeface="Arial"/>
                <a:sym typeface="Arial"/>
              </a:rPr>
              <a:t>destination nodes.</a:t>
            </a:r>
            <a:endParaRPr sz="2800">
              <a:solidFill>
                <a:schemeClr val="dk1"/>
              </a:solidFill>
              <a:latin typeface="Arial"/>
              <a:ea typeface="Arial"/>
              <a:cs typeface="Arial"/>
              <a:sym typeface="Arial"/>
            </a:endParaRPr>
          </a:p>
          <a:p>
            <a:pPr indent="-228600" lvl="0" marL="241300" marR="0" rtl="0" algn="l">
              <a:lnSpc>
                <a:spcPct val="100000"/>
              </a:lnSpc>
              <a:spcBef>
                <a:spcPts val="660"/>
              </a:spcBef>
              <a:spcAft>
                <a:spcPts val="0"/>
              </a:spcAft>
              <a:buClr>
                <a:schemeClr val="dk1"/>
              </a:buClr>
              <a:buSzPts val="2800"/>
              <a:buFont typeface="Arial"/>
              <a:buChar char="•"/>
            </a:pPr>
            <a:r>
              <a:rPr lang="en-US" sz="2800">
                <a:solidFill>
                  <a:schemeClr val="dk1"/>
                </a:solidFill>
                <a:latin typeface="Arial"/>
                <a:ea typeface="Arial"/>
                <a:cs typeface="Arial"/>
                <a:sym typeface="Arial"/>
              </a:rPr>
              <a:t>Notations used are :</a:t>
            </a:r>
            <a:endParaRPr sz="2800">
              <a:solidFill>
                <a:schemeClr val="dk1"/>
              </a:solidFill>
              <a:latin typeface="Arial"/>
              <a:ea typeface="Arial"/>
              <a:cs typeface="Arial"/>
              <a:sym typeface="Arial"/>
            </a:endParaRPr>
          </a:p>
          <a:p>
            <a:pPr indent="-228600" lvl="0" marL="241300" marR="0" rtl="0" algn="l">
              <a:lnSpc>
                <a:spcPct val="100000"/>
              </a:lnSpc>
              <a:spcBef>
                <a:spcPts val="670"/>
              </a:spcBef>
              <a:spcAft>
                <a:spcPts val="0"/>
              </a:spcAft>
              <a:buClr>
                <a:schemeClr val="dk1"/>
              </a:buClr>
              <a:buSzPts val="2800"/>
              <a:buFont typeface="Arial"/>
              <a:buChar char="•"/>
            </a:pPr>
            <a:r>
              <a:rPr i="1" lang="en-US" sz="2800">
                <a:solidFill>
                  <a:schemeClr val="dk1"/>
                </a:solidFill>
                <a:latin typeface="Arial"/>
                <a:ea typeface="Arial"/>
                <a:cs typeface="Arial"/>
                <a:sym typeface="Arial"/>
              </a:rPr>
              <a:t>D</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v</a:t>
            </a:r>
            <a:r>
              <a:rPr lang="en-US" sz="2800">
                <a:solidFill>
                  <a:schemeClr val="dk1"/>
                </a:solidFill>
                <a:latin typeface="Arial"/>
                <a:ea typeface="Arial"/>
                <a:cs typeface="Arial"/>
                <a:sym typeface="Arial"/>
              </a:rPr>
              <a:t>): cost of the least-cost path from the source node to destination </a:t>
            </a:r>
            <a:r>
              <a:rPr i="1" lang="en-US" sz="2800">
                <a:solidFill>
                  <a:schemeClr val="dk1"/>
                </a:solidFill>
                <a:latin typeface="Arial"/>
                <a:ea typeface="Arial"/>
                <a:cs typeface="Arial"/>
                <a:sym typeface="Arial"/>
              </a:rPr>
              <a:t>v</a:t>
            </a:r>
            <a:endParaRPr sz="2800">
              <a:solidFill>
                <a:schemeClr val="dk1"/>
              </a:solidFill>
              <a:latin typeface="Arial"/>
              <a:ea typeface="Arial"/>
              <a:cs typeface="Arial"/>
              <a:sym typeface="Arial"/>
            </a:endParaRPr>
          </a:p>
          <a:p>
            <a:pPr indent="-228600" lvl="0" marL="241300" marR="0" rtl="0" algn="l">
              <a:lnSpc>
                <a:spcPct val="100000"/>
              </a:lnSpc>
              <a:spcBef>
                <a:spcPts val="665"/>
              </a:spcBef>
              <a:spcAft>
                <a:spcPts val="0"/>
              </a:spcAft>
              <a:buClr>
                <a:schemeClr val="dk1"/>
              </a:buClr>
              <a:buSzPts val="2800"/>
              <a:buFont typeface="Arial"/>
              <a:buChar char="•"/>
            </a:pPr>
            <a:r>
              <a:rPr i="1" lang="en-US" sz="2800">
                <a:solidFill>
                  <a:schemeClr val="dk1"/>
                </a:solidFill>
                <a:latin typeface="Arial"/>
                <a:ea typeface="Arial"/>
                <a:cs typeface="Arial"/>
                <a:sym typeface="Arial"/>
              </a:rPr>
              <a:t>p</a:t>
            </a:r>
            <a:r>
              <a:rPr lang="en-US" sz="2800">
                <a:solidFill>
                  <a:schemeClr val="dk1"/>
                </a:solidFill>
                <a:latin typeface="Arial"/>
                <a:ea typeface="Arial"/>
                <a:cs typeface="Arial"/>
                <a:sym typeface="Arial"/>
              </a:rPr>
              <a:t>(</a:t>
            </a:r>
            <a:r>
              <a:rPr i="1" lang="en-US" sz="2800">
                <a:solidFill>
                  <a:schemeClr val="dk1"/>
                </a:solidFill>
                <a:latin typeface="Arial"/>
                <a:ea typeface="Arial"/>
                <a:cs typeface="Arial"/>
                <a:sym typeface="Arial"/>
              </a:rPr>
              <a:t>v</a:t>
            </a:r>
            <a:r>
              <a:rPr lang="en-US" sz="2800">
                <a:solidFill>
                  <a:schemeClr val="dk1"/>
                </a:solidFill>
                <a:latin typeface="Arial"/>
                <a:ea typeface="Arial"/>
                <a:cs typeface="Arial"/>
                <a:sym typeface="Arial"/>
              </a:rPr>
              <a:t>): previous node (neighbor of </a:t>
            </a:r>
            <a:r>
              <a:rPr i="1" lang="en-US" sz="2800">
                <a:solidFill>
                  <a:schemeClr val="dk1"/>
                </a:solidFill>
                <a:latin typeface="Arial"/>
                <a:ea typeface="Arial"/>
                <a:cs typeface="Arial"/>
                <a:sym typeface="Arial"/>
              </a:rPr>
              <a:t>v</a:t>
            </a:r>
            <a:r>
              <a:rPr lang="en-US" sz="2800">
                <a:solidFill>
                  <a:schemeClr val="dk1"/>
                </a:solidFill>
                <a:latin typeface="Arial"/>
                <a:ea typeface="Arial"/>
                <a:cs typeface="Arial"/>
                <a:sym typeface="Arial"/>
              </a:rPr>
              <a:t>) along the current least-cost path.</a:t>
            </a:r>
            <a:endParaRPr sz="2800">
              <a:solidFill>
                <a:schemeClr val="dk1"/>
              </a:solidFill>
              <a:latin typeface="Arial"/>
              <a:ea typeface="Arial"/>
              <a:cs typeface="Arial"/>
              <a:sym typeface="Arial"/>
            </a:endParaRPr>
          </a:p>
          <a:p>
            <a:pPr indent="-228600" lvl="0" marL="241300" marR="0" rtl="0" algn="l">
              <a:lnSpc>
                <a:spcPct val="100000"/>
              </a:lnSpc>
              <a:spcBef>
                <a:spcPts val="660"/>
              </a:spcBef>
              <a:spcAft>
                <a:spcPts val="0"/>
              </a:spcAft>
              <a:buClr>
                <a:schemeClr val="dk1"/>
              </a:buClr>
              <a:buSzPts val="2800"/>
              <a:buFont typeface="Arial"/>
              <a:buChar char="•"/>
            </a:pPr>
            <a:r>
              <a:rPr i="1" lang="en-US" sz="2800">
                <a:solidFill>
                  <a:schemeClr val="dk1"/>
                </a:solidFill>
                <a:latin typeface="Arial"/>
                <a:ea typeface="Arial"/>
                <a:cs typeface="Arial"/>
                <a:sym typeface="Arial"/>
              </a:rPr>
              <a:t>N</a:t>
            </a:r>
            <a:r>
              <a:rPr lang="en-US" sz="2800">
                <a:solidFill>
                  <a:schemeClr val="dk1"/>
                </a:solidFill>
                <a:latin typeface="Arial"/>
                <a:ea typeface="Arial"/>
                <a:cs typeface="Arial"/>
                <a:sym typeface="Arial"/>
              </a:rPr>
              <a:t>’: subset of nodes.</a:t>
            </a:r>
            <a:endParaRPr sz="2800">
              <a:solidFill>
                <a:schemeClr val="dk1"/>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13"/>
          <p:cNvSpPr txBox="1"/>
          <p:nvPr/>
        </p:nvSpPr>
        <p:spPr>
          <a:xfrm>
            <a:off x="916939" y="1793493"/>
            <a:ext cx="10257790" cy="2626995"/>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global routing algorithm consists of an initialization step followed  by a loop.</a:t>
            </a:r>
            <a:endParaRPr sz="2800">
              <a:solidFill>
                <a:schemeClr val="dk1"/>
              </a:solidFill>
              <a:latin typeface="Arial"/>
              <a:ea typeface="Arial"/>
              <a:cs typeface="Arial"/>
              <a:sym typeface="Arial"/>
            </a:endParaRPr>
          </a:p>
          <a:p>
            <a:pPr indent="-228600" lvl="0" marL="241300" marR="182880" rtl="0" algn="l">
              <a:lnSpc>
                <a:spcPct val="107857"/>
              </a:lnSpc>
              <a:spcBef>
                <a:spcPts val="1015"/>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The number of times the loop is executed is equal to the number of  nodes in the network.</a:t>
            </a:r>
            <a:endParaRPr sz="2800">
              <a:solidFill>
                <a:schemeClr val="dk1"/>
              </a:solidFill>
              <a:latin typeface="Arial"/>
              <a:ea typeface="Arial"/>
              <a:cs typeface="Arial"/>
              <a:sym typeface="Arial"/>
            </a:endParaRPr>
          </a:p>
          <a:p>
            <a:pPr indent="-228600" lvl="0" marL="241300" marR="502919" rtl="0" algn="l">
              <a:lnSpc>
                <a:spcPct val="107857"/>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Upon termination, the algorithm will have calculated the shortest  paths from the source node </a:t>
            </a:r>
            <a:r>
              <a:rPr i="1" lang="en-US" sz="2800">
                <a:solidFill>
                  <a:schemeClr val="dk1"/>
                </a:solidFill>
                <a:latin typeface="Arial"/>
                <a:ea typeface="Arial"/>
                <a:cs typeface="Arial"/>
                <a:sym typeface="Arial"/>
              </a:rPr>
              <a:t>u </a:t>
            </a:r>
            <a:r>
              <a:rPr lang="en-US" sz="2800">
                <a:solidFill>
                  <a:schemeClr val="dk1"/>
                </a:solidFill>
                <a:latin typeface="Arial"/>
                <a:ea typeface="Arial"/>
                <a:cs typeface="Arial"/>
                <a:sym typeface="Arial"/>
              </a:rPr>
              <a:t>to every other node in the network.</a:t>
            </a:r>
            <a:endParaRPr sz="2800">
              <a:solidFill>
                <a:schemeClr val="dk1"/>
              </a:solidFill>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14"/>
          <p:cNvSpPr txBox="1"/>
          <p:nvPr>
            <p:ph type="title"/>
          </p:nvPr>
        </p:nvSpPr>
        <p:spPr>
          <a:xfrm>
            <a:off x="916939" y="424433"/>
            <a:ext cx="9519920" cy="69659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Link-State (LS) Algorithm for Source Node </a:t>
            </a:r>
            <a:r>
              <a:rPr i="1" lang="en-US">
                <a:latin typeface="Arial"/>
                <a:ea typeface="Arial"/>
                <a:cs typeface="Arial"/>
                <a:sym typeface="Arial"/>
              </a:rPr>
              <a:t>u</a:t>
            </a:r>
            <a:endParaRPr/>
          </a:p>
        </p:txBody>
      </p:sp>
      <p:sp>
        <p:nvSpPr>
          <p:cNvPr id="1146" name="Google Shape;1146;p114"/>
          <p:cNvSpPr/>
          <p:nvPr/>
        </p:nvSpPr>
        <p:spPr>
          <a:xfrm>
            <a:off x="979931" y="1296989"/>
            <a:ext cx="9864783" cy="537203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15"/>
          <p:cNvSpPr txBox="1"/>
          <p:nvPr>
            <p:ph type="title"/>
          </p:nvPr>
        </p:nvSpPr>
        <p:spPr>
          <a:xfrm>
            <a:off x="916939" y="609676"/>
            <a:ext cx="192087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Example</a:t>
            </a:r>
            <a:endParaRPr/>
          </a:p>
        </p:txBody>
      </p:sp>
      <p:sp>
        <p:nvSpPr>
          <p:cNvPr id="1152" name="Google Shape;1152;p115"/>
          <p:cNvSpPr/>
          <p:nvPr/>
        </p:nvSpPr>
        <p:spPr>
          <a:xfrm>
            <a:off x="3226307" y="2001083"/>
            <a:ext cx="5825785" cy="408850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16"/>
          <p:cNvSpPr/>
          <p:nvPr/>
        </p:nvSpPr>
        <p:spPr>
          <a:xfrm>
            <a:off x="731553" y="1909348"/>
            <a:ext cx="11188565" cy="418374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17"/>
          <p:cNvSpPr txBox="1"/>
          <p:nvPr>
            <p:ph type="title"/>
          </p:nvPr>
        </p:nvSpPr>
        <p:spPr>
          <a:xfrm>
            <a:off x="916939" y="609676"/>
            <a:ext cx="1032954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A Comparison of LS and DV Routing Algorithms</a:t>
            </a:r>
            <a:endParaRPr/>
          </a:p>
        </p:txBody>
      </p:sp>
      <p:sp>
        <p:nvSpPr>
          <p:cNvPr id="1163" name="Google Shape;1163;p117"/>
          <p:cNvSpPr txBox="1"/>
          <p:nvPr/>
        </p:nvSpPr>
        <p:spPr>
          <a:xfrm>
            <a:off x="916939" y="1793493"/>
            <a:ext cx="10315575" cy="2500630"/>
          </a:xfrm>
          <a:prstGeom prst="rect">
            <a:avLst/>
          </a:prstGeom>
          <a:noFill/>
          <a:ln>
            <a:noFill/>
          </a:ln>
        </p:spPr>
        <p:txBody>
          <a:bodyPr anchorCtr="0" anchor="t" bIns="0" lIns="0" spcFirstLastPara="1" rIns="0" wrap="square" tIns="60950">
            <a:spAutoFit/>
          </a:bodyPr>
          <a:lstStyle/>
          <a:p>
            <a:pPr indent="-228600" lvl="0" marL="241300" marR="459105"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the LS algorithm, each node talks with </a:t>
            </a:r>
            <a:r>
              <a:rPr i="1" lang="en-US" sz="2800">
                <a:solidFill>
                  <a:schemeClr val="dk1"/>
                </a:solidFill>
                <a:latin typeface="Arial"/>
                <a:ea typeface="Arial"/>
                <a:cs typeface="Arial"/>
                <a:sym typeface="Arial"/>
              </a:rPr>
              <a:t>all </a:t>
            </a:r>
            <a:r>
              <a:rPr lang="en-US" sz="2800">
                <a:solidFill>
                  <a:schemeClr val="dk1"/>
                </a:solidFill>
                <a:latin typeface="Arial"/>
                <a:ea typeface="Arial"/>
                <a:cs typeface="Arial"/>
                <a:sym typeface="Arial"/>
              </a:rPr>
              <a:t>other nodes (via  broadcast), but it tells them </a:t>
            </a:r>
            <a:r>
              <a:rPr i="1" lang="en-US" sz="2800">
                <a:solidFill>
                  <a:schemeClr val="dk1"/>
                </a:solidFill>
                <a:latin typeface="Arial"/>
                <a:ea typeface="Arial"/>
                <a:cs typeface="Arial"/>
                <a:sym typeface="Arial"/>
              </a:rPr>
              <a:t>only </a:t>
            </a:r>
            <a:r>
              <a:rPr lang="en-US" sz="2800">
                <a:solidFill>
                  <a:schemeClr val="dk1"/>
                </a:solidFill>
                <a:latin typeface="Arial"/>
                <a:ea typeface="Arial"/>
                <a:cs typeface="Arial"/>
                <a:sym typeface="Arial"/>
              </a:rPr>
              <a:t>the costs of its directly connected  links.</a:t>
            </a:r>
            <a:endParaRPr sz="2800">
              <a:solidFill>
                <a:schemeClr val="dk1"/>
              </a:solidFill>
              <a:latin typeface="Arial"/>
              <a:ea typeface="Arial"/>
              <a:cs typeface="Arial"/>
              <a:sym typeface="Arial"/>
            </a:endParaRPr>
          </a:p>
          <a:p>
            <a:pPr indent="-228600" lvl="0" marL="241300" marR="5080" rtl="0" algn="l">
              <a:lnSpc>
                <a:spcPct val="107857"/>
              </a:lnSpc>
              <a:spcBef>
                <a:spcPts val="1019"/>
              </a:spcBef>
              <a:spcAft>
                <a:spcPts val="0"/>
              </a:spcAft>
              <a:buClr>
                <a:schemeClr val="dk1"/>
              </a:buClr>
              <a:buSzPts val="2800"/>
              <a:buFont typeface="Arial"/>
              <a:buChar char="•"/>
            </a:pPr>
            <a:r>
              <a:rPr lang="en-US" sz="2800">
                <a:solidFill>
                  <a:schemeClr val="dk1"/>
                </a:solidFill>
                <a:latin typeface="Arial"/>
                <a:ea typeface="Arial"/>
                <a:cs typeface="Arial"/>
                <a:sym typeface="Arial"/>
              </a:rPr>
              <a:t>In the DV algorithm, each node talks to </a:t>
            </a:r>
            <a:r>
              <a:rPr i="1" lang="en-US" sz="2800">
                <a:solidFill>
                  <a:schemeClr val="dk1"/>
                </a:solidFill>
                <a:latin typeface="Arial"/>
                <a:ea typeface="Arial"/>
                <a:cs typeface="Arial"/>
                <a:sym typeface="Arial"/>
              </a:rPr>
              <a:t>only </a:t>
            </a:r>
            <a:r>
              <a:rPr lang="en-US" sz="2800">
                <a:solidFill>
                  <a:schemeClr val="dk1"/>
                </a:solidFill>
                <a:latin typeface="Arial"/>
                <a:ea typeface="Arial"/>
                <a:cs typeface="Arial"/>
                <a:sym typeface="Arial"/>
              </a:rPr>
              <a:t>its directly connected  neighbors, but it provides its neighbors with least-cost estimates from  itself to </a:t>
            </a:r>
            <a:r>
              <a:rPr i="1" lang="en-US" sz="2800">
                <a:solidFill>
                  <a:schemeClr val="dk1"/>
                </a:solidFill>
                <a:latin typeface="Arial"/>
                <a:ea typeface="Arial"/>
                <a:cs typeface="Arial"/>
                <a:sym typeface="Arial"/>
              </a:rPr>
              <a:t>all </a:t>
            </a:r>
            <a:r>
              <a:rPr lang="en-US" sz="2800">
                <a:solidFill>
                  <a:schemeClr val="dk1"/>
                </a:solidFill>
                <a:latin typeface="Arial"/>
                <a:ea typeface="Arial"/>
                <a:cs typeface="Arial"/>
                <a:sym typeface="Arial"/>
              </a:rPr>
              <a:t>the nodes (that it knows about) in the network.</a:t>
            </a:r>
            <a:endParaRPr sz="2800">
              <a:solidFill>
                <a:schemeClr val="dk1"/>
              </a:solidFill>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18"/>
          <p:cNvSpPr txBox="1"/>
          <p:nvPr/>
        </p:nvSpPr>
        <p:spPr>
          <a:xfrm>
            <a:off x="891539" y="649223"/>
            <a:ext cx="9999345" cy="5480685"/>
          </a:xfrm>
          <a:prstGeom prst="rect">
            <a:avLst/>
          </a:prstGeom>
          <a:noFill/>
          <a:ln>
            <a:noFill/>
          </a:ln>
        </p:spPr>
        <p:txBody>
          <a:bodyPr anchorCtr="0" anchor="t" bIns="0" lIns="0" spcFirstLastPara="1" rIns="0" wrap="square" tIns="54600">
            <a:spAutoFit/>
          </a:bodyPr>
          <a:lstStyle/>
          <a:p>
            <a:pPr indent="-228600" lvl="0" marL="266700" marR="0" rtl="0" algn="l">
              <a:lnSpc>
                <a:spcPct val="100000"/>
              </a:lnSpc>
              <a:spcBef>
                <a:spcPts val="0"/>
              </a:spcBef>
              <a:spcAft>
                <a:spcPts val="0"/>
              </a:spcAft>
              <a:buClr>
                <a:srgbClr val="5B9BD4"/>
              </a:buClr>
              <a:buSzPts val="2800"/>
              <a:buFont typeface="Arial"/>
              <a:buChar char="•"/>
            </a:pPr>
            <a:r>
              <a:rPr i="1" lang="en-US" sz="2800">
                <a:solidFill>
                  <a:srgbClr val="5B9BD4"/>
                </a:solidFill>
                <a:latin typeface="Arial"/>
                <a:ea typeface="Arial"/>
                <a:cs typeface="Arial"/>
                <a:sym typeface="Arial"/>
              </a:rPr>
              <a:t>Message complexity.</a:t>
            </a:r>
            <a:endParaRPr sz="2800">
              <a:solidFill>
                <a:schemeClr val="dk1"/>
              </a:solidFill>
              <a:latin typeface="Arial"/>
              <a:ea typeface="Arial"/>
              <a:cs typeface="Arial"/>
              <a:sym typeface="Arial"/>
            </a:endParaRPr>
          </a:p>
          <a:p>
            <a:pPr indent="-228600" lvl="0" marL="266700" marR="52069" rtl="0" algn="l">
              <a:lnSpc>
                <a:spcPct val="96071"/>
              </a:lnSpc>
              <a:spcBef>
                <a:spcPts val="975"/>
              </a:spcBef>
              <a:spcAft>
                <a:spcPts val="0"/>
              </a:spcAft>
              <a:buClr>
                <a:schemeClr val="dk1"/>
              </a:buClr>
              <a:buSzPts val="2800"/>
              <a:buFont typeface="Arial"/>
              <a:buChar char="•"/>
            </a:pPr>
            <a:r>
              <a:rPr lang="en-US" sz="2800">
                <a:solidFill>
                  <a:schemeClr val="dk1"/>
                </a:solidFill>
                <a:latin typeface="Arial"/>
                <a:ea typeface="Arial"/>
                <a:cs typeface="Arial"/>
                <a:sym typeface="Arial"/>
              </a:rPr>
              <a:t>LS requires each node to know the cost of each link in the network.  This requires O(|N| |E|) messages to be sent.</a:t>
            </a:r>
            <a:endParaRPr sz="2800">
              <a:solidFill>
                <a:schemeClr val="dk1"/>
              </a:solidFill>
              <a:latin typeface="Arial"/>
              <a:ea typeface="Arial"/>
              <a:cs typeface="Arial"/>
              <a:sym typeface="Arial"/>
            </a:endParaRPr>
          </a:p>
          <a:p>
            <a:pPr indent="-228600" lvl="0" marL="266700" marR="533400" rtl="0" algn="l">
              <a:lnSpc>
                <a:spcPct val="96071"/>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The DV algorithm requires message exchanges between directly  connected neighbors at each iteration.</a:t>
            </a:r>
            <a:endParaRPr sz="2800">
              <a:solidFill>
                <a:schemeClr val="dk1"/>
              </a:solidFill>
              <a:latin typeface="Arial"/>
              <a:ea typeface="Arial"/>
              <a:cs typeface="Arial"/>
              <a:sym typeface="Arial"/>
            </a:endParaRPr>
          </a:p>
          <a:p>
            <a:pPr indent="-228600" lvl="0" marL="266700" marR="0" rtl="0" algn="l">
              <a:lnSpc>
                <a:spcPct val="100000"/>
              </a:lnSpc>
              <a:spcBef>
                <a:spcPts val="345"/>
              </a:spcBef>
              <a:spcAft>
                <a:spcPts val="0"/>
              </a:spcAft>
              <a:buClr>
                <a:srgbClr val="5B9BD4"/>
              </a:buClr>
              <a:buSzPts val="2800"/>
              <a:buFont typeface="Arial"/>
              <a:buChar char="•"/>
            </a:pPr>
            <a:r>
              <a:rPr i="1" lang="en-US" sz="2800">
                <a:solidFill>
                  <a:srgbClr val="5B9BD4"/>
                </a:solidFill>
                <a:latin typeface="Arial"/>
                <a:ea typeface="Arial"/>
                <a:cs typeface="Arial"/>
                <a:sym typeface="Arial"/>
              </a:rPr>
              <a:t>Speed of convergence.</a:t>
            </a:r>
            <a:endParaRPr sz="2800">
              <a:solidFill>
                <a:schemeClr val="dk1"/>
              </a:solidFill>
              <a:latin typeface="Arial"/>
              <a:ea typeface="Arial"/>
              <a:cs typeface="Arial"/>
              <a:sym typeface="Arial"/>
            </a:endParaRPr>
          </a:p>
          <a:p>
            <a:pPr indent="-228600" lvl="0" marL="266700" marR="141605" rtl="0" algn="l">
              <a:lnSpc>
                <a:spcPct val="80000"/>
              </a:lnSpc>
              <a:spcBef>
                <a:spcPts val="994"/>
              </a:spcBef>
              <a:spcAft>
                <a:spcPts val="0"/>
              </a:spcAft>
              <a:buClr>
                <a:schemeClr val="dk1"/>
              </a:buClr>
              <a:buSzPts val="2800"/>
              <a:buFont typeface="Arial"/>
              <a:buChar char="•"/>
            </a:pPr>
            <a:r>
              <a:rPr lang="en-US" sz="2800">
                <a:solidFill>
                  <a:schemeClr val="dk1"/>
                </a:solidFill>
                <a:latin typeface="Arial"/>
                <a:ea typeface="Arial"/>
                <a:cs typeface="Arial"/>
                <a:sym typeface="Arial"/>
              </a:rPr>
              <a:t>LS is an O(|N|</a:t>
            </a:r>
            <a:r>
              <a:rPr baseline="30000" lang="en-US" sz="2775">
                <a:solidFill>
                  <a:schemeClr val="dk1"/>
                </a:solidFill>
                <a:latin typeface="Arial"/>
                <a:ea typeface="Arial"/>
                <a:cs typeface="Arial"/>
                <a:sym typeface="Arial"/>
              </a:rPr>
              <a:t>2</a:t>
            </a:r>
            <a:r>
              <a:rPr lang="en-US" sz="2800">
                <a:solidFill>
                  <a:schemeClr val="dk1"/>
                </a:solidFill>
                <a:latin typeface="Arial"/>
                <a:ea typeface="Arial"/>
                <a:cs typeface="Arial"/>
                <a:sym typeface="Arial"/>
              </a:rPr>
              <a:t>) algorithm requiring O(|N| |E|)) messages. The DV  algorithm can converge slowly and can have routing loops.</a:t>
            </a:r>
            <a:endParaRPr sz="2800">
              <a:solidFill>
                <a:schemeClr val="dk1"/>
              </a:solidFill>
              <a:latin typeface="Arial"/>
              <a:ea typeface="Arial"/>
              <a:cs typeface="Arial"/>
              <a:sym typeface="Arial"/>
            </a:endParaRPr>
          </a:p>
          <a:p>
            <a:pPr indent="-228600" lvl="0" marL="266700" marR="0" rtl="0" algn="l">
              <a:lnSpc>
                <a:spcPct val="100000"/>
              </a:lnSpc>
              <a:spcBef>
                <a:spcPts val="340"/>
              </a:spcBef>
              <a:spcAft>
                <a:spcPts val="0"/>
              </a:spcAft>
              <a:buClr>
                <a:srgbClr val="5B9BD4"/>
              </a:buClr>
              <a:buSzPts val="2800"/>
              <a:buFont typeface="Arial"/>
              <a:buChar char="•"/>
            </a:pPr>
            <a:r>
              <a:rPr i="1" lang="en-US" sz="2800">
                <a:solidFill>
                  <a:srgbClr val="5B9BD4"/>
                </a:solidFill>
                <a:latin typeface="Arial"/>
                <a:ea typeface="Arial"/>
                <a:cs typeface="Arial"/>
                <a:sym typeface="Arial"/>
              </a:rPr>
              <a:t>Robustness.</a:t>
            </a:r>
            <a:endParaRPr sz="2800">
              <a:solidFill>
                <a:schemeClr val="dk1"/>
              </a:solidFill>
              <a:latin typeface="Arial"/>
              <a:ea typeface="Arial"/>
              <a:cs typeface="Arial"/>
              <a:sym typeface="Arial"/>
            </a:endParaRPr>
          </a:p>
          <a:p>
            <a:pPr indent="-228600" lvl="0" marL="266700" marR="326390" rtl="0" algn="l">
              <a:lnSpc>
                <a:spcPct val="96071"/>
              </a:lnSpc>
              <a:spcBef>
                <a:spcPts val="969"/>
              </a:spcBef>
              <a:spcAft>
                <a:spcPts val="0"/>
              </a:spcAft>
              <a:buClr>
                <a:schemeClr val="dk1"/>
              </a:buClr>
              <a:buSzPts val="2800"/>
              <a:buFont typeface="Arial"/>
              <a:buChar char="•"/>
            </a:pPr>
            <a:r>
              <a:rPr lang="en-US" sz="2800">
                <a:solidFill>
                  <a:schemeClr val="dk1"/>
                </a:solidFill>
                <a:latin typeface="Arial"/>
                <a:ea typeface="Arial"/>
                <a:cs typeface="Arial"/>
                <a:sym typeface="Arial"/>
              </a:rPr>
              <a:t>Route calculations are somewhat separated under LS, providing a  degree of robustness.</a:t>
            </a:r>
            <a:endParaRPr sz="2800">
              <a:solidFill>
                <a:schemeClr val="dk1"/>
              </a:solidFill>
              <a:latin typeface="Arial"/>
              <a:ea typeface="Arial"/>
              <a:cs typeface="Arial"/>
              <a:sym typeface="Arial"/>
            </a:endParaRPr>
          </a:p>
          <a:p>
            <a:pPr indent="-228600" lvl="0" marL="266700" marR="30480" rtl="0" algn="l">
              <a:lnSpc>
                <a:spcPct val="96071"/>
              </a:lnSpc>
              <a:spcBef>
                <a:spcPts val="99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Under DV, a node can advertise incorrect least-cost paths to any or  all destinations.</a:t>
            </a:r>
            <a:endParaRPr sz="2800">
              <a:solidFill>
                <a:schemeClr val="dk1"/>
              </a:solidFill>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19"/>
          <p:cNvSpPr txBox="1"/>
          <p:nvPr>
            <p:ph type="title"/>
          </p:nvPr>
        </p:nvSpPr>
        <p:spPr>
          <a:xfrm>
            <a:off x="916939" y="397840"/>
            <a:ext cx="6082665"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Autonomous systems (ASs)</a:t>
            </a:r>
            <a:endParaRPr/>
          </a:p>
        </p:txBody>
      </p:sp>
      <p:sp>
        <p:nvSpPr>
          <p:cNvPr id="1174" name="Google Shape;1174;p119"/>
          <p:cNvSpPr txBox="1"/>
          <p:nvPr/>
        </p:nvSpPr>
        <p:spPr>
          <a:xfrm>
            <a:off x="916939" y="1201292"/>
            <a:ext cx="10247630" cy="4715510"/>
          </a:xfrm>
          <a:prstGeom prst="rect">
            <a:avLst/>
          </a:prstGeom>
          <a:noFill/>
          <a:ln>
            <a:noFill/>
          </a:ln>
        </p:spPr>
        <p:txBody>
          <a:bodyPr anchorCtr="0" anchor="t" bIns="0" lIns="0" spcFirstLastPara="1" rIns="0" wrap="square" tIns="97150">
            <a:spAutoFit/>
          </a:bodyPr>
          <a:lstStyle/>
          <a:p>
            <a:pPr indent="-228600" lvl="0" marL="241300" marR="144780" rtl="0" algn="just">
              <a:lnSpc>
                <a:spcPct val="8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The problems of scaling and administration of large group of routers  can be solved by organizing routers into </a:t>
            </a:r>
            <a:r>
              <a:rPr b="1" lang="en-US" sz="2800">
                <a:solidFill>
                  <a:schemeClr val="dk1"/>
                </a:solidFill>
                <a:latin typeface="Arial"/>
                <a:ea typeface="Arial"/>
                <a:cs typeface="Arial"/>
                <a:sym typeface="Arial"/>
              </a:rPr>
              <a:t>autonomous systems </a:t>
            </a:r>
            <a:r>
              <a:rPr lang="en-US" sz="2800">
                <a:solidFill>
                  <a:schemeClr val="dk1"/>
                </a:solidFill>
                <a:latin typeface="Arial"/>
                <a:ea typeface="Arial"/>
                <a:cs typeface="Arial"/>
                <a:sym typeface="Arial"/>
              </a:rPr>
              <a:t>(</a:t>
            </a:r>
            <a:r>
              <a:rPr b="1" lang="en-US" sz="2800">
                <a:solidFill>
                  <a:schemeClr val="dk1"/>
                </a:solidFill>
                <a:latin typeface="Arial"/>
                <a:ea typeface="Arial"/>
                <a:cs typeface="Arial"/>
                <a:sym typeface="Arial"/>
              </a:rPr>
              <a:t>ASs</a:t>
            </a:r>
            <a:r>
              <a:rPr lang="en-US" sz="2800">
                <a:solidFill>
                  <a:schemeClr val="dk1"/>
                </a:solidFill>
                <a:latin typeface="Arial"/>
                <a:ea typeface="Arial"/>
                <a:cs typeface="Arial"/>
                <a:sym typeface="Arial"/>
              </a:rPr>
              <a:t>),  with each AS consisting of a group of routers that are typically under  the same administrative control.</a:t>
            </a:r>
            <a:endParaRPr sz="2800">
              <a:solidFill>
                <a:schemeClr val="dk1"/>
              </a:solidFill>
              <a:latin typeface="Arial"/>
              <a:ea typeface="Arial"/>
              <a:cs typeface="Arial"/>
              <a:sym typeface="Arial"/>
            </a:endParaRPr>
          </a:p>
          <a:p>
            <a:pPr indent="-228600" lvl="0" marL="241300" marR="340360" rtl="0" algn="l">
              <a:lnSpc>
                <a:spcPct val="96071"/>
              </a:lnSpc>
              <a:spcBef>
                <a:spcPts val="975"/>
              </a:spcBef>
              <a:spcAft>
                <a:spcPts val="0"/>
              </a:spcAft>
              <a:buClr>
                <a:schemeClr val="dk1"/>
              </a:buClr>
              <a:buSzPts val="2800"/>
              <a:buFont typeface="Arial"/>
              <a:buChar char="•"/>
            </a:pPr>
            <a:r>
              <a:rPr lang="en-US" sz="2800">
                <a:solidFill>
                  <a:schemeClr val="dk1"/>
                </a:solidFill>
                <a:latin typeface="Arial"/>
                <a:ea typeface="Arial"/>
                <a:cs typeface="Arial"/>
                <a:sym typeface="Arial"/>
              </a:rPr>
              <a:t>Routers within the same AS all run the same routing algorithm (for  example, an LS or DV algorithm) and have information about each .</a:t>
            </a:r>
            <a:endParaRPr sz="2800">
              <a:solidFill>
                <a:schemeClr val="dk1"/>
              </a:solidFill>
              <a:latin typeface="Arial"/>
              <a:ea typeface="Arial"/>
              <a:cs typeface="Arial"/>
              <a:sym typeface="Arial"/>
            </a:endParaRPr>
          </a:p>
          <a:p>
            <a:pPr indent="-228600" lvl="0" marL="241300" marR="5080" rtl="0" algn="l">
              <a:lnSpc>
                <a:spcPct val="96071"/>
              </a:lnSpc>
              <a:spcBef>
                <a:spcPts val="1005"/>
              </a:spcBef>
              <a:spcAft>
                <a:spcPts val="0"/>
              </a:spcAft>
              <a:buClr>
                <a:schemeClr val="dk1"/>
              </a:buClr>
              <a:buSzPts val="2800"/>
              <a:buFont typeface="Arial"/>
              <a:buChar char="•"/>
            </a:pPr>
            <a:r>
              <a:rPr lang="en-US" sz="2800">
                <a:solidFill>
                  <a:schemeClr val="dk1"/>
                </a:solidFill>
                <a:latin typeface="Arial"/>
                <a:ea typeface="Arial"/>
                <a:cs typeface="Arial"/>
                <a:sym typeface="Arial"/>
              </a:rPr>
              <a:t>The routing algorithm running within an autonomous system is called  an </a:t>
            </a:r>
            <a:r>
              <a:rPr b="1" lang="en-US" sz="2800">
                <a:solidFill>
                  <a:schemeClr val="dk1"/>
                </a:solidFill>
                <a:latin typeface="Arial"/>
                <a:ea typeface="Arial"/>
                <a:cs typeface="Arial"/>
                <a:sym typeface="Arial"/>
              </a:rPr>
              <a:t>intra-autonomous system routing protocol</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64135" rtl="0" algn="just">
              <a:lnSpc>
                <a:spcPct val="96071"/>
              </a:lnSpc>
              <a:spcBef>
                <a:spcPts val="990"/>
              </a:spcBef>
              <a:spcAft>
                <a:spcPts val="0"/>
              </a:spcAft>
              <a:buClr>
                <a:schemeClr val="dk1"/>
              </a:buClr>
              <a:buSzPts val="2800"/>
              <a:buFont typeface="Arial"/>
              <a:buChar char="•"/>
            </a:pPr>
            <a:r>
              <a:rPr lang="en-US" sz="2800">
                <a:solidFill>
                  <a:schemeClr val="dk1"/>
                </a:solidFill>
                <a:latin typeface="Arial"/>
                <a:ea typeface="Arial"/>
                <a:cs typeface="Arial"/>
                <a:sym typeface="Arial"/>
              </a:rPr>
              <a:t>It will be necessary, of course, to connect ASs to each other, and thus  one or more of the routers in an AS will have the added task of being  responsible for forwarding packets to destinations outside the AS;</a:t>
            </a:r>
            <a:endParaRPr sz="2800">
              <a:solidFill>
                <a:schemeClr val="dk1"/>
              </a:solidFill>
              <a:latin typeface="Arial"/>
              <a:ea typeface="Arial"/>
              <a:cs typeface="Arial"/>
              <a:sym typeface="Arial"/>
            </a:endParaRPr>
          </a:p>
          <a:p>
            <a:pPr indent="-228600" lvl="0" marL="241300" marR="0" rtl="0" algn="just">
              <a:lnSpc>
                <a:spcPct val="100000"/>
              </a:lnSpc>
              <a:spcBef>
                <a:spcPts val="345"/>
              </a:spcBef>
              <a:spcAft>
                <a:spcPts val="0"/>
              </a:spcAft>
              <a:buClr>
                <a:schemeClr val="dk1"/>
              </a:buClr>
              <a:buSzPts val="2800"/>
              <a:buFont typeface="Arial"/>
              <a:buChar char="•"/>
            </a:pPr>
            <a:r>
              <a:rPr lang="en-US" sz="2800">
                <a:solidFill>
                  <a:schemeClr val="dk1"/>
                </a:solidFill>
                <a:latin typeface="Arial"/>
                <a:ea typeface="Arial"/>
                <a:cs typeface="Arial"/>
                <a:sym typeface="Arial"/>
              </a:rPr>
              <a:t>these routers are called </a:t>
            </a:r>
            <a:r>
              <a:rPr b="1" lang="en-US" sz="2800">
                <a:solidFill>
                  <a:schemeClr val="dk1"/>
                </a:solidFill>
                <a:latin typeface="Arial"/>
                <a:ea typeface="Arial"/>
                <a:cs typeface="Arial"/>
                <a:sym typeface="Arial"/>
              </a:rPr>
              <a:t>gateway routers</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20"/>
          <p:cNvSpPr/>
          <p:nvPr/>
        </p:nvSpPr>
        <p:spPr>
          <a:xfrm>
            <a:off x="234695" y="1463090"/>
            <a:ext cx="11217747" cy="377489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21"/>
          <p:cNvSpPr txBox="1"/>
          <p:nvPr/>
        </p:nvSpPr>
        <p:spPr>
          <a:xfrm>
            <a:off x="916939" y="1793493"/>
            <a:ext cx="10162540" cy="3905885"/>
          </a:xfrm>
          <a:prstGeom prst="rect">
            <a:avLst/>
          </a:prstGeom>
          <a:noFill/>
          <a:ln>
            <a:noFill/>
          </a:ln>
        </p:spPr>
        <p:txBody>
          <a:bodyPr anchorCtr="0" anchor="t" bIns="0" lIns="0" spcFirstLastPara="1" rIns="0" wrap="square" tIns="60950">
            <a:spAutoFit/>
          </a:bodyPr>
          <a:lstStyle/>
          <a:p>
            <a:pPr indent="-228600" lvl="0" marL="241300" marR="5080" rtl="0" algn="l">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Obtaining reachability information from neighboring ASs and  propagating the reachability information to all routers internal to the  AS—</a:t>
            </a:r>
            <a:endParaRPr sz="2800">
              <a:solidFill>
                <a:schemeClr val="dk1"/>
              </a:solidFill>
              <a:latin typeface="Arial"/>
              <a:ea typeface="Arial"/>
              <a:cs typeface="Arial"/>
              <a:sym typeface="Arial"/>
            </a:endParaRPr>
          </a:p>
          <a:p>
            <a:pPr indent="-228600" lvl="0" marL="241300" marR="0" rtl="0" algn="l">
              <a:lnSpc>
                <a:spcPct val="100000"/>
              </a:lnSpc>
              <a:spcBef>
                <a:spcPts val="640"/>
              </a:spcBef>
              <a:spcAft>
                <a:spcPts val="0"/>
              </a:spcAft>
              <a:buClr>
                <a:schemeClr val="dk1"/>
              </a:buClr>
              <a:buSzPts val="2800"/>
              <a:buFont typeface="Arial"/>
              <a:buChar char="•"/>
            </a:pPr>
            <a:r>
              <a:rPr lang="en-US" sz="2800">
                <a:solidFill>
                  <a:schemeClr val="dk1"/>
                </a:solidFill>
                <a:latin typeface="Arial"/>
                <a:ea typeface="Arial"/>
                <a:cs typeface="Arial"/>
                <a:sym typeface="Arial"/>
              </a:rPr>
              <a:t>are handled by the </a:t>
            </a:r>
            <a:r>
              <a:rPr b="1" lang="en-US" sz="2800">
                <a:solidFill>
                  <a:schemeClr val="dk1"/>
                </a:solidFill>
                <a:latin typeface="Arial"/>
                <a:ea typeface="Arial"/>
                <a:cs typeface="Arial"/>
                <a:sym typeface="Arial"/>
              </a:rPr>
              <a:t>inter-AS routing protocol</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5715" rtl="0" algn="l">
              <a:lnSpc>
                <a:spcPct val="90000"/>
              </a:lnSpc>
              <a:spcBef>
                <a:spcPts val="994"/>
              </a:spcBef>
              <a:spcAft>
                <a:spcPts val="0"/>
              </a:spcAft>
              <a:buClr>
                <a:schemeClr val="dk1"/>
              </a:buClr>
              <a:buSzPts val="2800"/>
              <a:buFont typeface="Arial"/>
              <a:buChar char="•"/>
            </a:pPr>
            <a:r>
              <a:rPr lang="en-US" sz="2800">
                <a:solidFill>
                  <a:schemeClr val="dk1"/>
                </a:solidFill>
                <a:latin typeface="Arial"/>
                <a:ea typeface="Arial"/>
                <a:cs typeface="Arial"/>
                <a:sym typeface="Arial"/>
              </a:rPr>
              <a:t>Since the inter-AS routing protocol involves communication between  two ASs, the two communicating ASs must run the same inter-AS  routing protocol.</a:t>
            </a:r>
            <a:endParaRPr sz="2800">
              <a:solidFill>
                <a:schemeClr val="dk1"/>
              </a:solidFill>
              <a:latin typeface="Arial"/>
              <a:ea typeface="Arial"/>
              <a:cs typeface="Arial"/>
              <a:sym typeface="Arial"/>
            </a:endParaRPr>
          </a:p>
          <a:p>
            <a:pPr indent="-228600" lvl="0" marL="241300" marR="17145" rtl="0" algn="l">
              <a:lnSpc>
                <a:spcPct val="107857"/>
              </a:lnSpc>
              <a:spcBef>
                <a:spcPts val="1045"/>
              </a:spcBef>
              <a:spcAft>
                <a:spcPts val="0"/>
              </a:spcAft>
              <a:buClr>
                <a:schemeClr val="dk1"/>
              </a:buClr>
              <a:buSzPts val="2800"/>
              <a:buFont typeface="Arial"/>
              <a:buChar char="•"/>
            </a:pPr>
            <a:r>
              <a:rPr lang="en-US" sz="2800">
                <a:solidFill>
                  <a:schemeClr val="dk1"/>
                </a:solidFill>
                <a:latin typeface="Arial"/>
                <a:ea typeface="Arial"/>
                <a:cs typeface="Arial"/>
                <a:sym typeface="Arial"/>
              </a:rPr>
              <a:t>In fact, in the Internet all ASs run the same inter-AS routing protocol,  called BGP4. </a:t>
            </a:r>
            <a:r>
              <a:rPr b="1" lang="en-US" sz="2800">
                <a:solidFill>
                  <a:schemeClr val="dk1"/>
                </a:solidFill>
                <a:latin typeface="Arial"/>
                <a:ea typeface="Arial"/>
                <a:cs typeface="Arial"/>
                <a:sym typeface="Arial"/>
              </a:rPr>
              <a:t>Border Gateway Protocol</a:t>
            </a:r>
            <a:endParaRPr sz="2800">
              <a:solidFill>
                <a:schemeClr val="dk1"/>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22"/>
          <p:cNvSpPr txBox="1"/>
          <p:nvPr>
            <p:ph type="title"/>
          </p:nvPr>
        </p:nvSpPr>
        <p:spPr>
          <a:xfrm>
            <a:off x="916939" y="609676"/>
            <a:ext cx="4258310" cy="6972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hot-potato routing.</a:t>
            </a:r>
            <a:endParaRPr/>
          </a:p>
        </p:txBody>
      </p:sp>
      <p:sp>
        <p:nvSpPr>
          <p:cNvPr id="1190" name="Google Shape;1190;p122"/>
          <p:cNvSpPr txBox="1"/>
          <p:nvPr/>
        </p:nvSpPr>
        <p:spPr>
          <a:xfrm>
            <a:off x="916939" y="1793493"/>
            <a:ext cx="10311765" cy="3395345"/>
          </a:xfrm>
          <a:prstGeom prst="rect">
            <a:avLst/>
          </a:prstGeom>
          <a:noFill/>
          <a:ln>
            <a:noFill/>
          </a:ln>
        </p:spPr>
        <p:txBody>
          <a:bodyPr anchorCtr="0" anchor="t" bIns="0" lIns="0" spcFirstLastPara="1" rIns="0" wrap="square" tIns="60950">
            <a:spAutoFit/>
          </a:bodyPr>
          <a:lstStyle/>
          <a:p>
            <a:pPr indent="-228600" lvl="0" marL="241300" marR="5080" rtl="0" algn="just">
              <a:lnSpc>
                <a:spcPct val="107857"/>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hot-potato routing, the AS gets rid of the packet (the hot potato) as  quickly as possible (more precisely, as inexpensively as possible).</a:t>
            </a:r>
            <a:endParaRPr sz="2800">
              <a:solidFill>
                <a:schemeClr val="dk1"/>
              </a:solidFill>
              <a:latin typeface="Arial"/>
              <a:ea typeface="Arial"/>
              <a:cs typeface="Arial"/>
              <a:sym typeface="Arial"/>
            </a:endParaRPr>
          </a:p>
          <a:p>
            <a:pPr indent="-228600" lvl="0" marL="241300" marR="69850" rtl="0" algn="just">
              <a:lnSpc>
                <a:spcPct val="107857"/>
              </a:lnSpc>
              <a:spcBef>
                <a:spcPts val="1015"/>
              </a:spcBef>
              <a:spcAft>
                <a:spcPts val="0"/>
              </a:spcAft>
              <a:buClr>
                <a:schemeClr val="dk1"/>
              </a:buClr>
              <a:buSzPts val="2800"/>
              <a:buFont typeface="Arial"/>
              <a:buChar char="•"/>
            </a:pPr>
            <a:r>
              <a:rPr lang="en-US" sz="2800">
                <a:solidFill>
                  <a:schemeClr val="dk1"/>
                </a:solidFill>
                <a:latin typeface="Arial"/>
                <a:ea typeface="Arial"/>
                <a:cs typeface="Arial"/>
                <a:sym typeface="Arial"/>
              </a:rPr>
              <a:t>This is done by having a router send the packet to the gateway router  that has the smallest router-to-gateway cost among all gateways with  a path to the destination.</a:t>
            </a:r>
            <a:endParaRPr sz="2800">
              <a:solidFill>
                <a:schemeClr val="dk1"/>
              </a:solidFill>
              <a:latin typeface="Arial"/>
              <a:ea typeface="Arial"/>
              <a:cs typeface="Arial"/>
              <a:sym typeface="Arial"/>
            </a:endParaRPr>
          </a:p>
          <a:p>
            <a:pPr indent="-228600" lvl="0" marL="241300" marR="157480" rtl="0" algn="just">
              <a:lnSpc>
                <a:spcPct val="90000"/>
              </a:lnSpc>
              <a:spcBef>
                <a:spcPts val="965"/>
              </a:spcBef>
              <a:spcAft>
                <a:spcPts val="0"/>
              </a:spcAft>
              <a:buClr>
                <a:schemeClr val="dk1"/>
              </a:buClr>
              <a:buSzPts val="2800"/>
              <a:buFont typeface="Arial"/>
              <a:buChar char="•"/>
            </a:pPr>
            <a:r>
              <a:rPr lang="en-US" sz="2800">
                <a:solidFill>
                  <a:schemeClr val="dk1"/>
                </a:solidFill>
                <a:latin typeface="Arial"/>
                <a:ea typeface="Arial"/>
                <a:cs typeface="Arial"/>
                <a:sym typeface="Arial"/>
              </a:rPr>
              <a:t>hot-potato routing, would use information from the intra-AS routing  protocol to determine the path costs, and then choose the path with  the least cost.</a:t>
            </a:r>
            <a:endParaRPr sz="2800">
              <a:solidFill>
                <a:schemeClr val="dk1"/>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23"/>
          <p:cNvSpPr txBox="1"/>
          <p:nvPr>
            <p:ph type="title"/>
          </p:nvPr>
        </p:nvSpPr>
        <p:spPr>
          <a:xfrm>
            <a:off x="916939" y="308228"/>
            <a:ext cx="10358120" cy="1300480"/>
          </a:xfrm>
          <a:prstGeom prst="rect">
            <a:avLst/>
          </a:prstGeom>
          <a:noFill/>
          <a:ln>
            <a:noFill/>
          </a:ln>
        </p:spPr>
        <p:txBody>
          <a:bodyPr anchorCtr="0" anchor="t" bIns="0" lIns="0" spcFirstLastPara="1" rIns="0" wrap="square" tIns="88900">
            <a:spAutoFit/>
          </a:bodyPr>
          <a:lstStyle/>
          <a:p>
            <a:pPr indent="0" lvl="0" marL="12700" marR="5080" rtl="0" algn="l">
              <a:lnSpc>
                <a:spcPct val="107954"/>
              </a:lnSpc>
              <a:spcBef>
                <a:spcPts val="0"/>
              </a:spcBef>
              <a:spcAft>
                <a:spcPts val="0"/>
              </a:spcAft>
              <a:buNone/>
            </a:pPr>
            <a:r>
              <a:rPr lang="en-US"/>
              <a:t>Steps in adding an outside-AS destination in a  router’s forwarding table</a:t>
            </a:r>
            <a:endParaRPr/>
          </a:p>
        </p:txBody>
      </p:sp>
      <p:sp>
        <p:nvSpPr>
          <p:cNvPr id="1196" name="Google Shape;1196;p123"/>
          <p:cNvSpPr/>
          <p:nvPr/>
        </p:nvSpPr>
        <p:spPr>
          <a:xfrm>
            <a:off x="74675" y="2063521"/>
            <a:ext cx="12063414" cy="276899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24"/>
          <p:cNvSpPr txBox="1"/>
          <p:nvPr/>
        </p:nvSpPr>
        <p:spPr>
          <a:xfrm>
            <a:off x="916939" y="724865"/>
            <a:ext cx="10185400" cy="4545330"/>
          </a:xfrm>
          <a:prstGeom prst="rect">
            <a:avLst/>
          </a:prstGeom>
          <a:noFill/>
          <a:ln>
            <a:noFill/>
          </a:ln>
        </p:spPr>
        <p:txBody>
          <a:bodyPr anchorCtr="0" anchor="t" bIns="0" lIns="0" spcFirstLastPara="1" rIns="0" wrap="square" tIns="60325">
            <a:spAutoFit/>
          </a:bodyPr>
          <a:lstStyle/>
          <a:p>
            <a:pPr indent="-228600" lvl="0" marL="241300" marR="245109" rtl="0" algn="l">
              <a:lnSpc>
                <a:spcPct val="108214"/>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 summary, the problems of scale and administrative authority are  solved by defining autonomous systems.</a:t>
            </a:r>
            <a:endParaRPr sz="2800">
              <a:solidFill>
                <a:schemeClr val="dk1"/>
              </a:solidFill>
              <a:latin typeface="Arial"/>
              <a:ea typeface="Arial"/>
              <a:cs typeface="Arial"/>
              <a:sym typeface="Arial"/>
            </a:endParaRPr>
          </a:p>
          <a:p>
            <a:pPr indent="-228600" lvl="0" marL="241300" marR="0" rtl="0" algn="l">
              <a:lnSpc>
                <a:spcPct val="100000"/>
              </a:lnSpc>
              <a:spcBef>
                <a:spcPts val="620"/>
              </a:spcBef>
              <a:spcAft>
                <a:spcPts val="0"/>
              </a:spcAft>
              <a:buClr>
                <a:schemeClr val="dk1"/>
              </a:buClr>
              <a:buSzPts val="2800"/>
              <a:buFont typeface="Arial"/>
              <a:buChar char="•"/>
            </a:pPr>
            <a:r>
              <a:rPr lang="en-US" sz="2800">
                <a:solidFill>
                  <a:schemeClr val="dk1"/>
                </a:solidFill>
                <a:latin typeface="Arial"/>
                <a:ea typeface="Arial"/>
                <a:cs typeface="Arial"/>
                <a:sym typeface="Arial"/>
              </a:rPr>
              <a:t>Within an AS, all routers run the same intra-AS routing protocol.</a:t>
            </a:r>
            <a:endParaRPr sz="2800">
              <a:solidFill>
                <a:schemeClr val="dk1"/>
              </a:solidFill>
              <a:latin typeface="Arial"/>
              <a:ea typeface="Arial"/>
              <a:cs typeface="Arial"/>
              <a:sym typeface="Arial"/>
            </a:endParaRPr>
          </a:p>
          <a:p>
            <a:pPr indent="-228600" lvl="0" marL="241300" marR="0" rtl="0" algn="l">
              <a:lnSpc>
                <a:spcPct val="100000"/>
              </a:lnSpc>
              <a:spcBef>
                <a:spcPts val="660"/>
              </a:spcBef>
              <a:spcAft>
                <a:spcPts val="0"/>
              </a:spcAft>
              <a:buClr>
                <a:schemeClr val="dk1"/>
              </a:buClr>
              <a:buSzPts val="2800"/>
              <a:buFont typeface="Arial"/>
              <a:buChar char="•"/>
            </a:pPr>
            <a:r>
              <a:rPr lang="en-US" sz="2800">
                <a:solidFill>
                  <a:schemeClr val="dk1"/>
                </a:solidFill>
                <a:latin typeface="Arial"/>
                <a:ea typeface="Arial"/>
                <a:cs typeface="Arial"/>
                <a:sym typeface="Arial"/>
              </a:rPr>
              <a:t>Among themselves, the ASs run the same inter-AS routing protocol.</a:t>
            </a:r>
            <a:endParaRPr sz="2800">
              <a:solidFill>
                <a:schemeClr val="dk1"/>
              </a:solidFill>
              <a:latin typeface="Arial"/>
              <a:ea typeface="Arial"/>
              <a:cs typeface="Arial"/>
              <a:sym typeface="Arial"/>
            </a:endParaRPr>
          </a:p>
          <a:p>
            <a:pPr indent="-228600" lvl="0" marL="241300" marR="186055" rtl="0" algn="l">
              <a:lnSpc>
                <a:spcPct val="107857"/>
              </a:lnSpc>
              <a:spcBef>
                <a:spcPts val="1045"/>
              </a:spcBef>
              <a:spcAft>
                <a:spcPts val="0"/>
              </a:spcAft>
              <a:buClr>
                <a:schemeClr val="dk1"/>
              </a:buClr>
              <a:buSzPts val="2800"/>
              <a:buFont typeface="Arial"/>
              <a:buChar char="•"/>
            </a:pPr>
            <a:r>
              <a:rPr lang="en-US" sz="2800">
                <a:solidFill>
                  <a:schemeClr val="dk1"/>
                </a:solidFill>
                <a:latin typeface="Arial"/>
                <a:ea typeface="Arial"/>
                <a:cs typeface="Arial"/>
                <a:sym typeface="Arial"/>
              </a:rPr>
              <a:t>The problem of </a:t>
            </a:r>
            <a:r>
              <a:rPr lang="en-US" sz="2800">
                <a:solidFill>
                  <a:srgbClr val="5B9BD4"/>
                </a:solidFill>
                <a:latin typeface="Arial"/>
                <a:ea typeface="Arial"/>
                <a:cs typeface="Arial"/>
                <a:sym typeface="Arial"/>
              </a:rPr>
              <a:t>scale </a:t>
            </a:r>
            <a:r>
              <a:rPr lang="en-US" sz="2800">
                <a:solidFill>
                  <a:schemeClr val="dk1"/>
                </a:solidFill>
                <a:latin typeface="Arial"/>
                <a:ea typeface="Arial"/>
                <a:cs typeface="Arial"/>
                <a:sym typeface="Arial"/>
              </a:rPr>
              <a:t>is solved because an intra-AS router need only  know about routers within its AS.</a:t>
            </a:r>
            <a:endParaRPr sz="2800">
              <a:solidFill>
                <a:schemeClr val="dk1"/>
              </a:solidFill>
              <a:latin typeface="Arial"/>
              <a:ea typeface="Arial"/>
              <a:cs typeface="Arial"/>
              <a:sym typeface="Arial"/>
            </a:endParaRPr>
          </a:p>
          <a:p>
            <a:pPr indent="-228600" lvl="0" marL="241300" marR="279400" rtl="0" algn="l">
              <a:lnSpc>
                <a:spcPct val="108214"/>
              </a:lnSpc>
              <a:spcBef>
                <a:spcPts val="1010"/>
              </a:spcBef>
              <a:spcAft>
                <a:spcPts val="0"/>
              </a:spcAft>
              <a:buClr>
                <a:schemeClr val="dk1"/>
              </a:buClr>
              <a:buSzPts val="2800"/>
              <a:buFont typeface="Arial"/>
              <a:buChar char="•"/>
            </a:pPr>
            <a:r>
              <a:rPr lang="en-US" sz="2800">
                <a:solidFill>
                  <a:schemeClr val="dk1"/>
                </a:solidFill>
                <a:latin typeface="Arial"/>
                <a:ea typeface="Arial"/>
                <a:cs typeface="Arial"/>
                <a:sym typeface="Arial"/>
              </a:rPr>
              <a:t>The problem of </a:t>
            </a:r>
            <a:r>
              <a:rPr lang="en-US" sz="2800">
                <a:solidFill>
                  <a:srgbClr val="5B9BD4"/>
                </a:solidFill>
                <a:latin typeface="Arial"/>
                <a:ea typeface="Arial"/>
                <a:cs typeface="Arial"/>
                <a:sym typeface="Arial"/>
              </a:rPr>
              <a:t>administrative authority </a:t>
            </a:r>
            <a:r>
              <a:rPr lang="en-US" sz="2800">
                <a:solidFill>
                  <a:schemeClr val="dk1"/>
                </a:solidFill>
                <a:latin typeface="Arial"/>
                <a:ea typeface="Arial"/>
                <a:cs typeface="Arial"/>
                <a:sym typeface="Arial"/>
              </a:rPr>
              <a:t>is solved since an  organization can run whatever intra-AS routing protocol it chooses;</a:t>
            </a:r>
            <a:endParaRPr sz="2800">
              <a:solidFill>
                <a:schemeClr val="dk1"/>
              </a:solidFill>
              <a:latin typeface="Arial"/>
              <a:ea typeface="Arial"/>
              <a:cs typeface="Arial"/>
              <a:sym typeface="Arial"/>
            </a:endParaRPr>
          </a:p>
          <a:p>
            <a:pPr indent="-228600" lvl="0" marL="241300" marR="5080" rtl="0" algn="l">
              <a:lnSpc>
                <a:spcPct val="107857"/>
              </a:lnSpc>
              <a:spcBef>
                <a:spcPts val="994"/>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800">
                <a:solidFill>
                  <a:schemeClr val="dk1"/>
                </a:solidFill>
                <a:latin typeface="Arial"/>
                <a:ea typeface="Arial"/>
                <a:cs typeface="Arial"/>
                <a:sym typeface="Arial"/>
              </a:rPr>
              <a:t>however, each pair of connected ASs needs to run the same inter-AS  routing protocol to exchange reachability information.</a:t>
            </a:r>
            <a:endParaRPr sz="2800">
              <a:solidFill>
                <a:schemeClr val="dk1"/>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25"/>
          <p:cNvSpPr txBox="1"/>
          <p:nvPr/>
        </p:nvSpPr>
        <p:spPr>
          <a:xfrm>
            <a:off x="916939" y="1707918"/>
            <a:ext cx="9010015" cy="1560195"/>
          </a:xfrm>
          <a:prstGeom prst="rect">
            <a:avLst/>
          </a:prstGeom>
          <a:noFill/>
          <a:ln>
            <a:noFill/>
          </a:ln>
        </p:spPr>
        <p:txBody>
          <a:bodyPr anchorCtr="0" anchor="t" bIns="0" lIns="0" spcFirstLastPara="1" rIns="0" wrap="square" tIns="97775">
            <a:spAutoFit/>
          </a:bodyPr>
          <a:lstStyle/>
          <a:p>
            <a:pPr indent="-228600" lvl="0" marL="241300" marR="0" rtl="0" algn="l">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Two intra-AS routing protocols are </a:t>
            </a:r>
            <a:r>
              <a:rPr b="1" lang="en-US" sz="2800">
                <a:solidFill>
                  <a:schemeClr val="dk1"/>
                </a:solidFill>
                <a:latin typeface="Arial"/>
                <a:ea typeface="Arial"/>
                <a:cs typeface="Arial"/>
                <a:sym typeface="Arial"/>
              </a:rPr>
              <a:t>Routing Information</a:t>
            </a:r>
            <a:endParaRPr sz="2800">
              <a:solidFill>
                <a:schemeClr val="dk1"/>
              </a:solidFill>
              <a:latin typeface="Arial"/>
              <a:ea typeface="Arial"/>
              <a:cs typeface="Arial"/>
              <a:sym typeface="Arial"/>
            </a:endParaRPr>
          </a:p>
          <a:p>
            <a:pPr indent="-228600" lvl="0" marL="241300" marR="0" rtl="0" algn="l">
              <a:lnSpc>
                <a:spcPct val="100000"/>
              </a:lnSpc>
              <a:spcBef>
                <a:spcPts val="670"/>
              </a:spcBef>
              <a:spcAft>
                <a:spcPts val="0"/>
              </a:spcAft>
              <a:buClr>
                <a:schemeClr val="dk1"/>
              </a:buClr>
              <a:buSzPts val="2800"/>
              <a:buFont typeface="Arial"/>
              <a:buChar char="•"/>
            </a:pPr>
            <a:r>
              <a:rPr b="1" lang="en-US" sz="2800">
                <a:solidFill>
                  <a:schemeClr val="dk1"/>
                </a:solidFill>
                <a:latin typeface="Arial"/>
                <a:ea typeface="Arial"/>
                <a:cs typeface="Arial"/>
                <a:sym typeface="Arial"/>
              </a:rPr>
              <a:t>Protocol (RIP) </a:t>
            </a:r>
            <a:r>
              <a:rPr lang="en-US" sz="2800">
                <a:solidFill>
                  <a:schemeClr val="dk1"/>
                </a:solidFill>
                <a:latin typeface="Arial"/>
                <a:ea typeface="Arial"/>
                <a:cs typeface="Arial"/>
                <a:sym typeface="Arial"/>
              </a:rPr>
              <a:t>and </a:t>
            </a:r>
            <a:r>
              <a:rPr b="1" lang="en-US" sz="2800">
                <a:solidFill>
                  <a:schemeClr val="dk1"/>
                </a:solidFill>
                <a:latin typeface="Arial"/>
                <a:ea typeface="Arial"/>
                <a:cs typeface="Arial"/>
                <a:sym typeface="Arial"/>
              </a:rPr>
              <a:t>Open Shortest Path First (OSPF)</a:t>
            </a: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a:p>
            <a:pPr indent="-228600" lvl="0" marL="241300" marR="0" rtl="0" algn="l">
              <a:lnSpc>
                <a:spcPct val="100000"/>
              </a:lnSpc>
              <a:spcBef>
                <a:spcPts val="665"/>
              </a:spcBef>
              <a:spcAft>
                <a:spcPts val="0"/>
              </a:spcAft>
              <a:buClr>
                <a:schemeClr val="dk1"/>
              </a:buClr>
              <a:buSzPts val="2800"/>
              <a:buFont typeface="Arial"/>
              <a:buChar char="•"/>
            </a:pPr>
            <a:r>
              <a:rPr lang="en-US" sz="2800">
                <a:solidFill>
                  <a:schemeClr val="dk1"/>
                </a:solidFill>
                <a:latin typeface="Arial"/>
                <a:ea typeface="Arial"/>
                <a:cs typeface="Arial"/>
                <a:sym typeface="Arial"/>
              </a:rPr>
              <a:t>The inter-AS routing protocol is BGP used in today’s Internet.</a:t>
            </a:r>
            <a:endParaRPr sz="2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2021-06-09T06:00:20Z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Creator">
    <vt:lpwstr>Microsoft® PowerPoint® 2016</vt:lpwstr>
  </property>
  <property fmtid="{D5CDD505-2E9C-101B-9397-08002B2CF9AE}" pid="4" name="LastSaved">
    <vt:filetime>2021-06-09T00:00:00Z</vt:filetime>
  </property>
</Properties>
</file>
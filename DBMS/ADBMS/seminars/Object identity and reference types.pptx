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18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1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5/8/2025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8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4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85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3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108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53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4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6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91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5/8/2025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1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66CC-55A5-6380-11C2-83CB38DAA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662" y="1424926"/>
            <a:ext cx="7060135" cy="3285207"/>
          </a:xfrm>
        </p:spPr>
        <p:txBody>
          <a:bodyPr/>
          <a:lstStyle/>
          <a:p>
            <a:r>
              <a:rPr lang="en-US" b="1" dirty="0"/>
              <a:t>Object Identity &amp; Reference Types in SQL</a:t>
            </a:r>
          </a:p>
        </p:txBody>
      </p:sp>
    </p:spTree>
    <p:extLst>
      <p:ext uri="{BB962C8B-B14F-4D97-AF65-F5344CB8AC3E}">
        <p14:creationId xmlns:p14="http://schemas.microsoft.com/office/powerpoint/2010/main" val="201057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CF71-EAFC-420A-05C3-F4921EE2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FF623-BD3D-20EB-740E-59085F147C38}"/>
              </a:ext>
            </a:extLst>
          </p:cNvPr>
          <p:cNvSpPr txBox="1"/>
          <p:nvPr/>
        </p:nvSpPr>
        <p:spPr>
          <a:xfrm>
            <a:off x="825910" y="1170038"/>
            <a:ext cx="1029437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What is Object Identity?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4B578-8CAC-3455-03F9-66C9248D64F6}"/>
              </a:ext>
            </a:extLst>
          </p:cNvPr>
          <p:cNvSpPr txBox="1"/>
          <p:nvPr/>
        </p:nvSpPr>
        <p:spPr>
          <a:xfrm>
            <a:off x="825910" y="2333235"/>
            <a:ext cx="9517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Two things can have the same information, but still be different because they were created separately.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r>
              <a:rPr lang="en-US" dirty="0"/>
              <a:t> Two employees named “John Smith” with the same job title and salary — but they are </a:t>
            </a:r>
            <a:r>
              <a:rPr lang="en-US" b="1" dirty="0"/>
              <a:t>not the same person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b="1" dirty="0"/>
              <a:t>SQL Insight:</a:t>
            </a:r>
            <a:r>
              <a:rPr lang="en-US" dirty="0"/>
              <a:t> Even if object data is identical, SQL treats each object as unique if created separately.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74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C6BB-E2BF-3157-5E21-80291FCD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3CB54-FDC3-B2FC-F5AE-4DAB37388811}"/>
              </a:ext>
            </a:extLst>
          </p:cNvPr>
          <p:cNvSpPr txBox="1"/>
          <p:nvPr/>
        </p:nvSpPr>
        <p:spPr>
          <a:xfrm>
            <a:off x="855407" y="438940"/>
            <a:ext cx="1029437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SQL Example – Object Identity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34106-4A5F-A145-05FB-A29EBAFA0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7" y="1239159"/>
            <a:ext cx="6551943" cy="3854676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63B61B31-2CB9-D98B-33C4-91B48A0BE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07" y="5438450"/>
            <a:ext cx="106385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though both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the same data, they’re different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Like two job applications from different people with the same name. </a:t>
            </a:r>
          </a:p>
        </p:txBody>
      </p:sp>
    </p:spTree>
    <p:extLst>
      <p:ext uri="{BB962C8B-B14F-4D97-AF65-F5344CB8AC3E}">
        <p14:creationId xmlns:p14="http://schemas.microsoft.com/office/powerpoint/2010/main" val="141802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899B-62F1-9BEB-D7E1-13ECFB4C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8FD15-8145-85D9-9DA8-20583168B73F}"/>
              </a:ext>
            </a:extLst>
          </p:cNvPr>
          <p:cNvSpPr txBox="1"/>
          <p:nvPr/>
        </p:nvSpPr>
        <p:spPr>
          <a:xfrm>
            <a:off x="825910" y="678425"/>
            <a:ext cx="1029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What are Reference Types?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BE0DB-753A-8515-697A-889ADF2F2A3F}"/>
              </a:ext>
            </a:extLst>
          </p:cNvPr>
          <p:cNvSpPr txBox="1"/>
          <p:nvPr/>
        </p:nvSpPr>
        <p:spPr>
          <a:xfrm>
            <a:off x="825910" y="1615480"/>
            <a:ext cx="95176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A reference is a way to </a:t>
            </a:r>
            <a:r>
              <a:rPr lang="en-US" b="1" dirty="0"/>
              <a:t>point to</a:t>
            </a:r>
            <a:r>
              <a:rPr lang="en-US" dirty="0"/>
              <a:t> an object stored elsewhere in the database, instead of copying all its data again.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Real-World Example: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Imagine a company where: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Employee details are stored in one main table.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Offices store just a </a:t>
            </a:r>
            <a:r>
              <a:rPr lang="en-US" b="1" dirty="0"/>
              <a:t>reference</a:t>
            </a:r>
            <a:r>
              <a:rPr lang="en-US" dirty="0"/>
              <a:t> to the employee assigned to them.</a:t>
            </a:r>
          </a:p>
          <a:p>
            <a:endParaRPr lang="en-US" dirty="0"/>
          </a:p>
          <a:p>
            <a:r>
              <a:rPr lang="en-US" dirty="0"/>
              <a:t>Instead of storing name, job, and contact info everywhere, we store a </a:t>
            </a:r>
            <a:r>
              <a:rPr lang="en-US" b="1" dirty="0"/>
              <a:t>pointer</a:t>
            </a:r>
            <a:r>
              <a:rPr lang="en-US" dirty="0"/>
              <a:t> — like an Employee ID.</a:t>
            </a:r>
          </a:p>
          <a:p>
            <a:endParaRPr lang="en-US" dirty="0"/>
          </a:p>
          <a:p>
            <a:r>
              <a:rPr lang="en-US" b="1" dirty="0"/>
              <a:t>SQL Insight: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REF</a:t>
            </a:r>
            <a:r>
              <a:rPr lang="en-US" dirty="0"/>
              <a:t> points to an object in a table. You don’t duplicate the object — you just </a:t>
            </a:r>
            <a:r>
              <a:rPr lang="en-US" b="1" dirty="0"/>
              <a:t>reference it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91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22A7-CBD1-2599-8482-72506737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934C4-6215-DB0C-92D5-7AE92E0F3D6F}"/>
              </a:ext>
            </a:extLst>
          </p:cNvPr>
          <p:cNvSpPr txBox="1"/>
          <p:nvPr/>
        </p:nvSpPr>
        <p:spPr>
          <a:xfrm>
            <a:off x="855407" y="291380"/>
            <a:ext cx="1029437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SQL Example – Reference Types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AD0ED-60CE-E2B5-379D-4E4EF8B29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7" y="1091599"/>
            <a:ext cx="8392696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293A-CC90-F2FD-D9F7-1BA709E3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1876EA-F40A-2CA7-74FE-72408491611E}"/>
              </a:ext>
            </a:extLst>
          </p:cNvPr>
          <p:cNvSpPr txBox="1"/>
          <p:nvPr/>
        </p:nvSpPr>
        <p:spPr>
          <a:xfrm>
            <a:off x="835742" y="360204"/>
            <a:ext cx="1029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Types Of Reference Types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22720-85F1-7581-5512-A0339AC2F39D}"/>
              </a:ext>
            </a:extLst>
          </p:cNvPr>
          <p:cNvSpPr txBox="1"/>
          <p:nvPr/>
        </p:nvSpPr>
        <p:spPr>
          <a:xfrm>
            <a:off x="835742" y="1076831"/>
            <a:ext cx="9517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Scoped Reference</a:t>
            </a:r>
          </a:p>
          <a:p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Tells SQL: “This reference will always point to objects in </a:t>
            </a:r>
            <a:r>
              <a:rPr lang="en-US" b="1" dirty="0"/>
              <a:t>this specific table</a:t>
            </a:r>
            <a:r>
              <a:rPr lang="en-US" dirty="0"/>
              <a:t>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Enforces safety and improves performance.</a:t>
            </a:r>
          </a:p>
          <a:p>
            <a:pPr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34DB0-CD59-98E5-2578-7CB1F70E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43" y="2397737"/>
            <a:ext cx="4867954" cy="1038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58EBE7-955B-0B85-5864-44B176448EE9}"/>
              </a:ext>
            </a:extLst>
          </p:cNvPr>
          <p:cNvSpPr txBox="1"/>
          <p:nvPr/>
        </p:nvSpPr>
        <p:spPr>
          <a:xfrm>
            <a:off x="835742" y="3637935"/>
            <a:ext cx="9370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2. Unscoped Reference</a:t>
            </a:r>
          </a:p>
          <a:p>
            <a:pPr>
              <a:buNone/>
            </a:pP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More flexible, but </a:t>
            </a:r>
            <a:r>
              <a:rPr lang="en-US" b="1" dirty="0"/>
              <a:t>less safe</a:t>
            </a:r>
            <a:r>
              <a:rPr lang="en-US" dirty="0"/>
              <a:t> — it can point to any object of the correct type from </a:t>
            </a:r>
            <a:r>
              <a:rPr lang="en-US" b="1" dirty="0"/>
              <a:t>any table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58B500-7BD0-9D22-3FA5-028687DB2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53" y="5014529"/>
            <a:ext cx="4880644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2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0180-DFB8-7245-7F98-F25CE89B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308723-B26F-98F4-0187-E1A886945B4C}"/>
              </a:ext>
            </a:extLst>
          </p:cNvPr>
          <p:cNvSpPr txBox="1"/>
          <p:nvPr/>
        </p:nvSpPr>
        <p:spPr>
          <a:xfrm>
            <a:off x="825910" y="924232"/>
            <a:ext cx="1029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Dereferencing</a:t>
            </a:r>
            <a:endParaRPr lang="en-I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8F3224-A8EA-BF96-481A-039C3CE6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10" y="1873604"/>
            <a:ext cx="89911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Dereferencing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means Accessing the actual object that 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(reference) points 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It is used to access the data of the object that is referred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007D82-E48A-5773-D861-FF4403F08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9" y="3103796"/>
            <a:ext cx="5639587" cy="895475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C4EB4DE-161B-08B9-923E-22F43BAC0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69" y="4583132"/>
            <a:ext cx="58227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DEREF(occupant)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returns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object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can then access attributes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job_title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1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003D0-1696-CFAB-6209-D065587F5DB4}"/>
              </a:ext>
            </a:extLst>
          </p:cNvPr>
          <p:cNvSpPr txBox="1"/>
          <p:nvPr/>
        </p:nvSpPr>
        <p:spPr>
          <a:xfrm>
            <a:off x="1238865" y="2605549"/>
            <a:ext cx="92521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832586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Sketchlines</Template>
  <TotalTime>54</TotalTime>
  <Words>329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Meiryo</vt:lpstr>
      <vt:lpstr>Arial</vt:lpstr>
      <vt:lpstr>Arial Unicode MS</vt:lpstr>
      <vt:lpstr>Corbel</vt:lpstr>
      <vt:lpstr>SketchLinesVTI</vt:lpstr>
      <vt:lpstr>Object Identity &amp; Reference Types in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Paul</dc:creator>
  <cp:lastModifiedBy>Basil Paul</cp:lastModifiedBy>
  <cp:revision>3</cp:revision>
  <dcterms:created xsi:type="dcterms:W3CDTF">2025-03-09T12:46:03Z</dcterms:created>
  <dcterms:modified xsi:type="dcterms:W3CDTF">2025-05-07T18:57:10Z</dcterms:modified>
</cp:coreProperties>
</file>
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C4A7CC-8747-4485-B23F-AD968CF038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F861F6-9C22-4953-B732-72C6559927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D5D75A-7F7E-4549-B859-699F1E3AC6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3FBFAC-1A23-421F-AD10-5486C0D88E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13AFCB-1E5A-4B8B-8131-EA6453377E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3A7926-4254-4288-9156-93B1A05192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178F0F-7990-4A4F-9182-9304169E31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9E45A6-C0F4-4919-9DBD-106314F285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331B37-A516-4F12-8D06-73DDA2228A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384766-552D-4FD9-9ECA-A76316F582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3ADB8E-F150-45B6-ABF8-CCC4CEE8ECA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865838-61F5-46F9-919E-B615061EEC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78920" cy="566892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"/>
          <p:cNvSpPr/>
          <p:nvPr/>
        </p:nvSpPr>
        <p:spPr>
          <a:xfrm>
            <a:off x="0" y="0"/>
            <a:ext cx="10078920" cy="377892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20000" y="5400000"/>
            <a:ext cx="3238920" cy="26892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1" lang="en-IN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ffffff"/>
                </a:solidFill>
                <a:latin typeface="Noto Sans"/>
              </a:rPr>
              <a:t>&lt;footer&gt;</a:t>
            </a:r>
            <a:endParaRPr b="0" lang="en-IN" sz="18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9180000" y="5130000"/>
            <a:ext cx="718920" cy="53892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lang="en-IN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F75DDDEC-EA07-4290-9EEE-82B889947183}" type="slidenum">
              <a:rPr b="1" lang="en-IN" sz="1800" spc="-1" strike="noStrike">
                <a:solidFill>
                  <a:srgbClr val="ffffff"/>
                </a:solidFill>
                <a:latin typeface="Noto Sans"/>
              </a:rPr>
              <a:t>&lt;number&gt;</a:t>
            </a:fld>
            <a:endParaRPr b="0" lang="en-IN" sz="18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360000" y="5400000"/>
            <a:ext cx="2878920" cy="26892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5400000"/>
            <a:ext cx="10078920" cy="26892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"/>
          <p:cNvSpPr/>
          <p:nvPr/>
        </p:nvSpPr>
        <p:spPr>
          <a:xfrm>
            <a:off x="0" y="0"/>
            <a:ext cx="10078920" cy="121392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"/>
          <p:cNvSpPr/>
          <p:nvPr/>
        </p:nvSpPr>
        <p:spPr>
          <a:xfrm>
            <a:off x="9315000" y="5175000"/>
            <a:ext cx="448920" cy="44892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"/>
          <p:cNvSpPr/>
          <p:nvPr/>
        </p:nvSpPr>
        <p:spPr>
          <a:xfrm>
            <a:off x="9180000" y="5130000"/>
            <a:ext cx="718920" cy="538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fld id="{81DD4B99-6CC0-4FA5-955B-7F37F4FD20DC}" type="slidenum">
              <a:rPr b="1" lang="en-IN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&lt;number&gt;</a:t>
            </a:fld>
            <a:endParaRPr b="0" lang="en-IN" sz="1800" spc="-1" strike="noStrike"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ftr" idx="4"/>
          </p:nvPr>
        </p:nvSpPr>
        <p:spPr>
          <a:xfrm>
            <a:off x="3420000" y="5400000"/>
            <a:ext cx="3238920" cy="26892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1" lang="en-IN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ffffff"/>
                </a:solidFill>
                <a:latin typeface="Noto Sans"/>
              </a:rPr>
              <a:t>&lt;footer&gt;</a:t>
            </a:r>
            <a:endParaRPr b="0" lang="en-IN" sz="1800" spc="-1" strike="noStrike"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5"/>
          </p:nvPr>
        </p:nvSpPr>
        <p:spPr>
          <a:xfrm>
            <a:off x="360000" y="5400000"/>
            <a:ext cx="2878920" cy="26892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5400000"/>
            <a:ext cx="10078920" cy="26892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"/>
          <p:cNvSpPr/>
          <p:nvPr/>
        </p:nvSpPr>
        <p:spPr>
          <a:xfrm>
            <a:off x="0" y="0"/>
            <a:ext cx="10078920" cy="121392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"/>
          <p:cNvSpPr/>
          <p:nvPr/>
        </p:nvSpPr>
        <p:spPr>
          <a:xfrm>
            <a:off x="9315000" y="5175000"/>
            <a:ext cx="448920" cy="44892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"/>
          <p:cNvSpPr/>
          <p:nvPr/>
        </p:nvSpPr>
        <p:spPr>
          <a:xfrm>
            <a:off x="9180000" y="5130000"/>
            <a:ext cx="718920" cy="53892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fld id="{07B4EB98-EEA7-4BD7-9DC6-A719057F7009}" type="slidenum">
              <a:rPr b="1" lang="en-IN" sz="1800" spc="-1" strike="noStrike">
                <a:solidFill>
                  <a:srgbClr val="ffffff"/>
                </a:solidFill>
                <a:latin typeface="Noto Sans"/>
                <a:ea typeface="DejaVu Sans"/>
              </a:rPr>
              <a:t>&lt;number&gt;</a:t>
            </a:fld>
            <a:endParaRPr b="0" lang="en-IN" sz="1800" spc="-1" strike="noStrike"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ftr" idx="6"/>
          </p:nvPr>
        </p:nvSpPr>
        <p:spPr>
          <a:xfrm>
            <a:off x="3420000" y="5400000"/>
            <a:ext cx="3238920" cy="26892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1" lang="en-IN" sz="1800" spc="-1" strike="noStrike">
                <a:solidFill>
                  <a:srgbClr val="ffffff"/>
                </a:solidFill>
                <a:latin typeface="Noto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1" lang="en-IN" sz="1800" spc="-1" strike="noStrike">
                <a:solidFill>
                  <a:srgbClr val="ffffff"/>
                </a:solidFill>
                <a:latin typeface="Noto Sans"/>
              </a:rPr>
              <a:t>&lt;footer&gt;</a:t>
            </a:r>
            <a:endParaRPr b="0" lang="en-IN" sz="1800" spc="-1" strike="noStrike"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78920" cy="26892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20000" y="1801080"/>
            <a:ext cx="9358920" cy="71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lnSpc>
                <a:spcPct val="15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MONGODB -SHARDING AND REPLICATION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360000" y="3915000"/>
            <a:ext cx="9358920" cy="148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                        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Done By: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      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Thahira Shajahan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     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Roll no:55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MONGODB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8920" cy="3778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MongoDB is an open-source document database and leading NoSQL database.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MongoDB works on concept of collection and document.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Rather than using the tables and fixed schemas of a relational database management system(RDBMS), MongoDB uses key-value storage in the collection of documents. 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It also supports a number of options for horizontal scaling in large, production environments.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MONGODB SHARDING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8920" cy="3778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MongoDB supports sharding to provide scale-out capabilities and replication for high availability.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SHARDING is the process of writing data across different servers to distribute the read and write load and data storage requirements.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As the size of the data increases, a single machine may not be sufficient to store the data nor provide an acceptable read and write throughput.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Sharding solves the problem with horizontal scaling.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MONGODB SHARDING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8920" cy="3778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MongoDB sharding works by creating a cluster of MongoDB instances consisting of at least three servers. 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That means sharded clusters consist of three main components: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The Shard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Mongos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Config servers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SHARD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8920" cy="3778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A Shard is a single MongoDB instance that holds a subset of the sharded data.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The combination of multiple shards creates a complete data set. 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For example, a 2 TB data set can be broken down into four shards, each containing 500 GB of data from the original data set.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MONGOS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200520" y="1362240"/>
            <a:ext cx="9358920" cy="3778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Mongos act as the query router providing a stable interface between the application and the sharded cluster. 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This MongoDB instance is responsible for routing the client requests to the correct shard.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CONFIG SERVERS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180000" y="1485000"/>
            <a:ext cx="9358920" cy="3778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Configuration servers store the metadata and the configuration settings for the whole cluster.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SHARDING</a:t>
            </a:r>
            <a:endParaRPr b="0" lang="en-IN" sz="2700" spc="-1" strike="noStrike"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160000" y="1260000"/>
            <a:ext cx="5321880" cy="377892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MONGODB REPLICATION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80000" y="1485000"/>
            <a:ext cx="9358920" cy="3778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0" rIns="0" tIns="0" bIns="0" anchor="t">
            <a:normAutofit fontScale="93000"/>
          </a:bodyPr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In MongoDB, data can be replicated across machines by the means of replica sets.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A replica set consists of a primary node together with two or more secondary nodes. 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The primary node accepts all write requests,which are propagated asynchronously to the secondary nodes.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To be eligible to become primary, a node must be able to contact more than half of the replica set. This ensures that if a network partitions a replica set in two, only one of the partitions will attempt to establish a primary.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MONGODB REPLICATION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221040" y="1577160"/>
            <a:ext cx="9358920" cy="3778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The successful primary will be elected based on the number of nodes to which it is in contact, together with a priority value that may be assigned by the system administrator. 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Setting a priority of 0 to an instance prevents it from ever being elected as primary. In the event of a tie, the server with the most recent optime the timestamp of the last operation—will be selected..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892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MONGODB REPLICATION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6840" y="1433520"/>
            <a:ext cx="9358920" cy="37789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0"/>
          </a:gra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The primary stores information about document changes in a collection within its local database, called the oplog. The primary will continuously attempt to apply these changes to secondary instances.</a:t>
            </a:r>
            <a:endParaRPr b="0" lang="en-IN" sz="24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2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2c3e50"/>
                </a:solidFill>
                <a:latin typeface="aakar"/>
              </a:rPr>
              <a:t>Members within a replica set communicate frequently via heartbeat messages. If a primary finds it is unable to receive heartbeat messages from more than half of the secondaries, then it will renounce its primary status and a new election will be called.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MONGODB REPLICATION</a:t>
            </a:r>
            <a:endParaRPr b="0" lang="en-IN" sz="2700" spc="-1" strike="noStrike"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456840" y="1548720"/>
            <a:ext cx="9358920" cy="3548160"/>
          </a:xfrm>
          <a:prstGeom prst="rect">
            <a:avLst/>
          </a:prstGeom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40000" y="1980000"/>
            <a:ext cx="9180000" cy="8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>
              <a:lnSpc>
                <a:spcPct val="150000"/>
              </a:lnSpc>
              <a:buNone/>
            </a:pPr>
            <a:r>
              <a:rPr b="1" lang="en-IN" sz="2700" spc="-1" strike="noStrike">
                <a:solidFill>
                  <a:srgbClr val="ffffff"/>
                </a:solidFill>
                <a:latin typeface="Noto Sans"/>
              </a:rPr>
              <a:t>THANK YOU 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360000" y="3915000"/>
            <a:ext cx="9358920" cy="148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	</a:t>
            </a:r>
            <a:r>
              <a:rPr b="0" lang="en-IN" sz="2200" spc="-1" strike="noStrike">
                <a:solidFill>
                  <a:srgbClr val="ffffff"/>
                </a:solidFill>
                <a:latin typeface="Noto Sans"/>
              </a:rPr>
              <a:t>                       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Midnightblue</Template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2025-04-25T19:52:41Z</dcterms:created>
  <dc:creator/>
  <dc:description/>
  <dc:language>en-IN</dc:language>
  <cp:lastModifiedBy/>
  <dcterms:modified xsi:type="dcterms:W3CDTF">2025-04-25T22:46:08Z</dcterms:modified>
  <cp:revision>7</cp:revision>
  <dc:subject/>
  <dc:title>Midnightblue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